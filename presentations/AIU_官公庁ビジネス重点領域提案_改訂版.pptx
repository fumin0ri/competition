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c55e85bf3b49f0" /><Relationship Type="http://schemas.openxmlformats.org/officeDocument/2006/relationships/extended-properties" Target="/docProps/app.xml" Id="R2e7b431ab9fb40f9" /><Relationship Type="http://schemas.openxmlformats.org/officeDocument/2006/relationships/officeDocument" Target="/ppt/presentation.xml" Id="R2a1546bac6fd45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b772ab6b9b4fe5"/>
  </p:sldMasterIdLst>
  <p:notesMasterIdLst>
    <p:notesMasterId xmlns:r="http://schemas.openxmlformats.org/officeDocument/2006/relationships" r:id="Rf2c1699036e2426d"/>
  </p:notesMasterIdLst>
  <p:sldIdLst>
    <p:sldId xmlns:r="http://schemas.openxmlformats.org/officeDocument/2006/relationships" id="256" r:id="Ra5147919050d42fc"/>
    <p:sldId xmlns:r="http://schemas.openxmlformats.org/officeDocument/2006/relationships" id="257" r:id="R03f5a597fd244f35"/>
    <p:sldId xmlns:r="http://schemas.openxmlformats.org/officeDocument/2006/relationships" id="258" r:id="R02d3272d2fc24d75"/>
    <p:sldId xmlns:r="http://schemas.openxmlformats.org/officeDocument/2006/relationships" id="259" r:id="R1d4c3ce8983a4164"/>
    <p:sldId xmlns:r="http://schemas.openxmlformats.org/officeDocument/2006/relationships" id="260" r:id="R221bca7527d54d47"/>
    <p:sldId xmlns:r="http://schemas.openxmlformats.org/officeDocument/2006/relationships" id="261" r:id="Rdbda13f3e26340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b4ff8a91e54f58" /><Relationship Type="http://schemas.openxmlformats.org/officeDocument/2006/relationships/slideMaster" Target="/ppt/slideMasters/slideMaster1.xml" Id="Rd9b772ab6b9b4fe5" /><Relationship Type="http://schemas.openxmlformats.org/officeDocument/2006/relationships/notesMaster" Target="/ppt/notesMasters/notesMaster1.xml" Id="Rf2c1699036e2426d" /><Relationship Type="http://schemas.openxmlformats.org/officeDocument/2006/relationships/presProps" Target="/ppt/presProps.xml" Id="R5644e8dc558f4d0c" /><Relationship Type="http://schemas.openxmlformats.org/officeDocument/2006/relationships/tableStyles" Target="/ppt/tableStyles.xml" Id="R263281bd69bf4abd" /><Relationship Type="http://schemas.openxmlformats.org/officeDocument/2006/relationships/slide" Target="/ppt/slides/slide1.xml" Id="Ra5147919050d42fc" /><Relationship Type="http://schemas.openxmlformats.org/officeDocument/2006/relationships/slide" Target="/ppt/slides/slide2.xml" Id="R03f5a597fd244f35" /><Relationship Type="http://schemas.openxmlformats.org/officeDocument/2006/relationships/slide" Target="/ppt/slides/slide3.xml" Id="R02d3272d2fc24d75" /><Relationship Type="http://schemas.openxmlformats.org/officeDocument/2006/relationships/slide" Target="/ppt/slides/slide4.xml" Id="R1d4c3ce8983a4164" /><Relationship Type="http://schemas.openxmlformats.org/officeDocument/2006/relationships/slide" Target="/ppt/slides/slide5.xml" Id="R221bca7527d54d47" /><Relationship Type="http://schemas.openxmlformats.org/officeDocument/2006/relationships/slide" Target="/ppt/slides/slide6.xml" Id="Rdbda13f3e26340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43a75535a640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f962b3fa304077" /><Relationship Type="http://schemas.openxmlformats.org/officeDocument/2006/relationships/notesMaster" Target="/ppt/notesMasters/notesMaster1.xml" Id="R69733f3d7e1744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2121fc45834626" /><Relationship Type="http://schemas.openxmlformats.org/officeDocument/2006/relationships/notesMaster" Target="/ppt/notesMasters/notesMaster1.xml" Id="Rbd6e2e7c17f444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cea1a719cd404f" /><Relationship Type="http://schemas.openxmlformats.org/officeDocument/2006/relationships/notesMaster" Target="/ppt/notesMasters/notesMaster1.xml" Id="R03b05f7aaeb14a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f9f70be427467f" /><Relationship Type="http://schemas.openxmlformats.org/officeDocument/2006/relationships/notesMaster" Target="/ppt/notesMasters/notesMaster1.xml" Id="Rd4c02e52ea794d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f26de553f149c1" /><Relationship Type="http://schemas.openxmlformats.org/officeDocument/2006/relationships/notesMaster" Target="/ppt/notesMasters/notesMaster1.xml" Id="R45806f4aa44a49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0ee92df6c947a2" /><Relationship Type="http://schemas.openxmlformats.org/officeDocument/2006/relationships/notesMaster" Target="/ppt/notesMasters/notesMaster1.xml" Id="Refa1f87c368643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論から申し上げます。AIUが重点化すべき領域は、『調査・分析業務における予測・将来推計を起点とした政策意思決定支援』です。そして、その第一の攻略市場として、厚生労働省・地域医療領域を提案します。AIモデルを作ること自体ではなく、AIによる予測を行政の意思決定につなげることが、提案の中心です。この結論に至ったプロセスを5段階で説明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revised presentation script, 2026-08-28.</a:t>
            </a:r>
          </a:p>
          <a:p xmlns:a="http://schemas.openxmlformats.org/drawingml/2006/main">
            <a:r>
              <a:t>- Hero visual generated with OpenAI image generation for the source deck, 2026-08-28.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まず、課題①で扱った行政事業レビューをLLMで分析し、各事業を政策領域、行政業務、AIユースケースの3軸で構造化しました。さらに、各事業について一般的なAI適用可能性を評価しました。ポイントは、最初からAIUが得意なところを探すのではなく、行政側に実際にどのようなAI活用機会が存在するのかをデータから探索したことです。市場選定にはAIU Fitを使っていません。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revised presentation script, 2026-08-28.</a:t>
            </a:r>
          </a:p>
          <a:p xmlns:a="http://schemas.openxmlformats.org/drawingml/2006/main">
            <a:r>
              <a:t>- competition repository: llm_features.py taxonomy and AI applicability logic.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析結果を可視化すると、A01『調査・情報収集・分析』とA13『研究開発・実証・社会実装』が特に強く出ました。A13も有望ですが、個別技術の開発や実証など、案件ごとの個別性が高い傾向があります。一方A01は、各府省に恒常的に存在する業務であり、継続受注やサービスの横展開がしやすいと考え、重点候補としました。さらにA01ではU01『検索・RAG』、U02『要約・情報抽出』、U06『予測・将来推計』が強く出ました。AI適用密度、継続性、共通業務の実在性で比較した結果、A01×U06を最も有望な領域と判断し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revised presentation script and analysis results, 2026-08-28.</a:t>
            </a:r>
          </a:p>
          <a:p xmlns:a="http://schemas.openxmlformats.org/drawingml/2006/main">
            <a:r>
              <a:t>- No precise comparative scores were supplied; this slide presents the stated qualitative decision criteria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次にA01×U06を政策領域別に見ると、D05『医療・健康』が約3割で最大でした。省庁別では厚生労働省が最多、国土交通省が次点で、この2省で約半数を占めています。そこで、A01×U06を横断的な重点領域とした上で、第一の攻略市場を厚生労働省・地域医療とします。目指すのは医療専用AIではありません。『予測・将来推計を政策判断につなげる』サービスモデルを、まず需要の厚い医療領域で確立するという考え方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revised presentation script and administrative business review analysis, 2026-08-28.</a:t>
            </a:r>
          </a:p>
          <a:p xmlns:a="http://schemas.openxmlformats.org/drawingml/2006/main">
            <a:r>
              <a:t>- The charts intentionally show only the supplied approximate values: D05 about 30%; MHLW and MLIT together about half.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こまでの分析は過去の行政事業データに基づいているため、今後も需要が続くのかを厚生労働省の一次情報で確認しました。2040年に向けた地域医療構想では、地域ごとの将来医療需要と必要病床数の推計が求められています。データ収集・分析には4.4億円の概算要求が示され、都道府県のデータ分析・政策立案支援事業では外部委託も可能とされています。さらに検討会資料では、診療実績データと人口推計を用いた将来医療需要の推計が示されています。つまり、データがある、予測業務がある、政策判断に使う必要がある、そして外部支援が入る余地もある。A01×U06は今後も継続する政策需要と整合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厚生労働省『2040年に向けた地域医療構想』 https://www.mhlw.go.jp/stf/seisakunitsuite/bunya/0000080850_00014.html (accessed 2026-08-28).</a:t>
            </a:r>
          </a:p>
          <a:p xmlns:a="http://schemas.openxmlformats.org/drawingml/2006/main">
            <a:r>
              <a:t>- [2] 厚生労働省『入院・外来機能の分化・連携推進等に向けたデータ収集・分析事業（令和7年度予算概算要求）』 https://www.mhlw.go.jp/content/12602000/001713088.pdf (accessed 2026-08-28).</a:t>
            </a:r>
          </a:p>
          <a:p xmlns:a="http://schemas.openxmlformats.org/drawingml/2006/main">
            <a:r>
              <a:t>- [3] 厚生労働省『地域医療提供体制データ分析チーム構築支援事業 実施要綱』 https://www.mhlw.go.jp/content/10800000/001621897.pdf (accessed 2026-08-28).</a:t>
            </a:r>
          </a:p>
          <a:p xmlns:a="http://schemas.openxmlformats.org/drawingml/2006/main">
            <a:r>
              <a:t>- [4] 厚生労働省『地域医療構想・医療計画等に関する検討会資料』 https://www.mhlw.go.jp/content/10800000/001664433.pdf (2026-01-16; accessed 2026-08-28).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具体サービスとして、『地域医療需要の将来予測・政策シナリオ分析支援』を提案します。患者数、人口、病床、医療人材などを統合して現状を分析し、2030年・2040年の医療需要を予測します。さらに、その予測を使って複数の政策シナリオを比較し、政策担当者の意思決定まで支援します。単に予測モデルを作って終わるのではなく、予測を実際の政策判断につなげることがサービスの価値です。これはAIUの政策・施策立案支援とデータ分析の組み合わせで実現でき、インテリジェンス基盤を活用することでさらに差別化できます。地域医療で方法論を確立した後は、国土交通省の交通需要やインフラ需要など、同じ構造を持つ行政分野へ横展開します。AIモデルを作ること自体ではなく、AIによる予測を行政の意思決定につなげる。これをAIUの官公庁ビジネスにおける重点領域と考え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revised presentation script, 2026-08-28.</a:t>
            </a:r>
          </a:p>
          <a:p xmlns:a="http://schemas.openxmlformats.org/drawingml/2006/main">
            <a:r>
              <a:t>- AIU intelligence-platform applicability is presented as a potential differentiator, not as evidence used for market selection.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92be17574447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f2eaf23def4b06" /><Relationship Type="http://schemas.openxmlformats.org/officeDocument/2006/relationships/slideLayout" Target="/ppt/slideLayouts/slideLayout1.xml" Id="R2476ede7fc9e45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76ede7fc9e45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65717d7aa4b8d" /><Relationship Type="http://schemas.openxmlformats.org/officeDocument/2006/relationships/image" Target="/ppt/media/image.png" Id="Re5c7afdc4c454a8d" /><Relationship Type="http://schemas.openxmlformats.org/officeDocument/2006/relationships/notesSlide" Target="/ppt/notesSlides/notesSlide1.xml" Id="Rf91ba8e1277347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46f89373449d5" /><Relationship Type="http://schemas.openxmlformats.org/officeDocument/2006/relationships/notesSlide" Target="/ppt/notesSlides/notesSlide2.xml" Id="R5bdb4499bfd94a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c1664212e4629" /><Relationship Type="http://schemas.openxmlformats.org/officeDocument/2006/relationships/notesSlide" Target="/ppt/notesSlides/notesSlide3.xml" Id="R222d5cf6cf3845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b6e299e4b4d2a" /><Relationship Type="http://schemas.openxmlformats.org/officeDocument/2006/relationships/chart" Target="/ppt/slides/charts/chart1.xml" Id="R8e4be3ecdece4e8d" /><Relationship Type="http://schemas.openxmlformats.org/officeDocument/2006/relationships/chart" Target="/ppt/slides/charts/chart2.xml" Id="R62c79ce1a9e44fe4" /><Relationship Type="http://schemas.openxmlformats.org/officeDocument/2006/relationships/notesSlide" Target="/ppt/notesSlides/notesSlide4.xml" Id="R90dc0d9ba43d48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34c0b3ed74e65" /><Relationship Type="http://schemas.openxmlformats.org/officeDocument/2006/relationships/notesSlide" Target="/ppt/notesSlides/notesSlide5.xml" Id="Ra885dd09792845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288b77bf14c20" /><Relationship Type="http://schemas.openxmlformats.org/officeDocument/2006/relationships/notesSlide" Target="/ppt/notesSlides/notesSlide6.xml" Id="R61327f0545874eb3" /></Relationships>
</file>

<file path=ppt/slides/charts/chart1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構成比</c:v>
          </c:tx>
          <c:spPr>
            <a:solidFill xmlns:a="http://schemas.openxmlformats.org/drawingml/2006/main">
              <a:srgbClr val="18A8E0"/>
            </a:solidFill>
          </c:spPr>
          <c:dPt>
            <c:idx val="0"/>
            <c:spPr>
              <a:solidFill xmlns:a="http://schemas.openxmlformats.org/drawingml/2006/main">
                <a:srgbClr val="18A8E0"/>
              </a:solidFill>
            </c:spPr>
          </c:dPt>
          <c:dPt>
            <c:idx val="1"/>
            <c:spPr>
              <a:solidFill xmlns:a="http://schemas.openxmlformats.org/drawingml/2006/main">
                <a:srgbClr val="DDE2E8"/>
              </a:solidFill>
            </c:spPr>
          </c:dPt>
          <c:cat>
            <c:strLit>
              <c:ptCount val="2"/>
              <c:pt idx="0">
                <c:v>D05 医療・健康</c:v>
              </c:pt>
              <c:pt idx="1">
                <c:v>その他</c:v>
              </c:pt>
            </c:strLit>
          </c:cat>
          <c:val>
            <c:numLit>
              <c:formatCode>General</c:formatCode>
              <c:ptCount val="2"/>
              <c:pt idx="0">
                <c:v>30</c:v>
              </c:pt>
              <c:pt idx="1">
                <c:v>70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11827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300"/>
        <c:holeSize val="64"/>
      </c:doughnutChart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86574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percentStacked"/>
        <c:varyColors val="0"/>
        <c:ser>
          <c:idx val="0"/>
          <c:order val="0"/>
          <c:tx>
            <c:v>厚労省＋国交省</c:v>
          </c:tx>
          <c:spPr>
            <a:solidFill xmlns:a="http://schemas.openxmlformats.org/drawingml/2006/main">
              <a:srgbClr val="18A8E0"/>
            </a:solidFill>
          </c:spPr>
          <c:cat>
            <c:strLit>
              <c:ptCount val="1"/>
              <c:pt idx="0">
                <c:v>A01 × U06 の事業</c:v>
              </c:pt>
            </c:strLit>
          </c:cat>
          <c:val>
            <c:numLit>
              <c:formatCode>General</c:formatCode>
              <c:ptCount val="1"/>
              <c:pt idx="0">
                <c:v>50</c:v>
              </c:pt>
            </c:numLit>
          </c:val>
        </c:ser>
        <c:ser>
          <c:idx val="1"/>
          <c:order val="1"/>
          <c:tx>
            <c:v>その他</c:v>
          </c:tx>
          <c:spPr>
            <a:solidFill xmlns:a="http://schemas.openxmlformats.org/drawingml/2006/main">
              <a:srgbClr val="DDE2E8"/>
            </a:solidFill>
          </c:spPr>
          <c:cat>
            <c:strLit>
              <c:ptCount val="1"/>
              <c:pt idx="0">
                <c:v>A01 × U06 の事業</c:v>
              </c:pt>
            </c:strLit>
          </c:cat>
          <c:val>
            <c:numLit>
              <c:formatCode>General</c:formatCode>
              <c:ptCount val="1"/>
              <c:pt idx="0">
                <c:v>50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86574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0A4E4B2-A3E4-4925-8C52-B8FD6AAB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7FB4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087FB4"/>
                </a:solidFill>
                <a:latin typeface="Yu Gothic"/>
                <a:ea typeface="Yu Gothic"/>
                <a:cs typeface="Yu Gothic"/>
              </a:rPr>
              <a:t>AIU 官公庁ビジネス重点領域の提案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C9B994D-472D-40A7-9278-A1403D35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5524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375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予測・将来推計から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375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政策意思決定まで支援</a:t>
            </a:r>
          </a:p>
        </p:txBody>
      </p:sp>
      <p:sp>
        <p:nvSpPr>
          <p:cNvPr id="3" name="cover-accent-rule">
            <a:extLst xmlns:a="http://schemas.openxmlformats.org/drawingml/2006/main">
              <a:ext uri="{FF2B5EF4-FFF2-40B4-BE49-F238E27FC236}">
                <a16:creationId xmlns:a16="http://schemas.microsoft.com/office/drawing/2014/main" id="{922D3330-3B8E-4671-B9C4-9C5E767E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8140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8A8E0"/>
            </a:solidFill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D2901BB-1E63-4694-8D3E-CF93291E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90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87FB4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087FB4"/>
                </a:solidFill>
                <a:latin typeface="Yu Gothic"/>
                <a:ea typeface="Yu Gothic"/>
                <a:cs typeface="Yu Gothic"/>
              </a:rPr>
              <a:t>第一の攻略市場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87FB4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087FB4"/>
                </a:solidFill>
                <a:latin typeface="Yu Gothic"/>
                <a:ea typeface="Yu Gothic"/>
                <a:cs typeface="Yu Gothic"/>
              </a:rPr>
              <a:t>厚生労働省・地域医療</a:t>
            </a:r>
          </a:p>
        </p:txBody>
      </p:sp>
      <p:sp>
        <p:nvSpPr>
          <p:cNvPr id="5" name="cover-rationale">
            <a:extLst xmlns:a="http://schemas.openxmlformats.org/drawingml/2006/main">
              <a:ext uri="{FF2B5EF4-FFF2-40B4-BE49-F238E27FC236}">
                <a16:creationId xmlns:a16="http://schemas.microsoft.com/office/drawing/2014/main" id="{A6E74823-0D93-470B-9DD4-4D1E54D8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720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行政側の実データから機会を探索し、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一次情報で将来需要を検証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F2581F5C-3B0A-4243-A235-859057E5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A01 調査・分析 × U06 予測・将来推計 → 政策意思決定支援</a:t>
            </a:r>
          </a:p>
        </p:txBody>
      </p:sp>
      <p:sp>
        <p:nvSpPr>
          <p:cNvPr id="7" name="hero-backing">
            <a:extLst xmlns:a="http://schemas.openxmlformats.org/drawingml/2006/main">
              <a:ext uri="{FF2B5EF4-FFF2-40B4-BE49-F238E27FC236}">
                <a16:creationId xmlns:a16="http://schemas.microsoft.com/office/drawing/2014/main" id="{F087DC2F-4787-4C89-8EB5-162E9DB1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"/>
            <a:ext cx="5562600" cy="5657850"/>
          </a:xfrm>
          <a:prstGeom xmlns:a="http://schemas.openxmlformats.org/drawingml/2006/main" prst="roundRect">
            <a:avLst>
              <a:gd name="adj" fmla="val 2397"/>
            </a:avLst>
          </a:prstGeom>
          <a:solidFill xmlns:a="http://schemas.openxmlformats.org/drawingml/2006/main">
            <a:srgbClr val="EAF7FC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7afdc4c454a8d"/>
          <a:srcRect xmlns:a="http://schemas.openxmlformats.org/drawingml/2006/main" l="842" t="0" r="8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562600" cy="5657850"/>
          </a:xfrm>
          <a:prstGeom xmlns:a="http://schemas.openxmlformats.org/drawingml/2006/main" prst="roundRect">
            <a:avLst>
              <a:gd name="adj" fmla="val 2397"/>
            </a:avLst>
          </a:prstGeom>
        </p:spPr>
      </p:pic>
    </p:spTree>
    <p:extLst>
      <p:ext uri="{BB962C8B-B14F-4D97-AF65-F5344CB8AC3E}">
        <p14:creationId xmlns:p14="http://schemas.microsoft.com/office/powerpoint/2010/main" val="12309945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2">
            <a:extLst xmlns:a="http://schemas.openxmlformats.org/drawingml/2006/main">
              <a:ext uri="{FF2B5EF4-FFF2-40B4-BE49-F238E27FC236}">
                <a16:creationId xmlns:a16="http://schemas.microsoft.com/office/drawing/2014/main" id="{4287F53D-5EB7-408C-AC0C-FB9EBF5F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87FB4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087FB4"/>
                </a:solidFill>
                <a:latin typeface="Yu Gothic"/>
                <a:ea typeface="Yu Gothic"/>
                <a:cs typeface="Yu Gothic"/>
              </a:rPr>
              <a:t>01｜行政側の機会探索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B8A58E6-61CE-434A-9722-8EDE6B89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行政事業を3軸で構造化し、実在するAI活用機会を探索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A033F3F0-C5F5-4D0A-B6C2-4080A09F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4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E6F7AF23-0651-4397-8550-26132991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5" name="no-fit-note">
            <a:extLst xmlns:a="http://schemas.openxmlformats.org/drawingml/2006/main">
              <a:ext uri="{FF2B5EF4-FFF2-40B4-BE49-F238E27FC236}">
                <a16:creationId xmlns:a16="http://schemas.microsoft.com/office/drawing/2014/main" id="{73FE63C1-4921-481B-A330-3E160C7F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144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87FB4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087FB4"/>
                </a:solidFill>
                <a:latin typeface="Yu Gothic"/>
                <a:ea typeface="Yu Gothic"/>
                <a:cs typeface="Yu Gothic"/>
              </a:rPr>
              <a:t>市場選定に AIU Fit は使わない</a:t>
            </a:r>
          </a:p>
        </p:txBody>
      </p:sp>
      <p:sp>
        <p:nvSpPr>
          <p:cNvPr id="6" name="arrow-input-to-taxonomy">
            <a:extLst xmlns:a="http://schemas.openxmlformats.org/drawingml/2006/main">
              <a:ext uri="{FF2B5EF4-FFF2-40B4-BE49-F238E27FC236}">
                <a16:creationId xmlns:a16="http://schemas.microsoft.com/office/drawing/2014/main" id="{612D980B-F308-4EEE-A037-79CB7D99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3370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taxonomy-to-score">
            <a:extLst xmlns:a="http://schemas.openxmlformats.org/drawingml/2006/main">
              <a:ext uri="{FF2B5EF4-FFF2-40B4-BE49-F238E27FC236}">
                <a16:creationId xmlns:a16="http://schemas.microsoft.com/office/drawing/2014/main" id="{2DC0F084-F6AE-4976-8047-D7CC3528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3370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nput-node">
            <a:extLst xmlns:a="http://schemas.openxmlformats.org/drawingml/2006/main">
              <a:ext uri="{FF2B5EF4-FFF2-40B4-BE49-F238E27FC236}">
                <a16:creationId xmlns:a16="http://schemas.microsoft.com/office/drawing/2014/main" id="{3C3F3166-4B24-4AF2-B51B-90956081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2247900" cy="1943100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9" name="input-label">
            <a:extLst xmlns:a="http://schemas.openxmlformats.org/drawingml/2006/main">
              <a:ext uri="{FF2B5EF4-FFF2-40B4-BE49-F238E27FC236}">
                <a16:creationId xmlns:a16="http://schemas.microsoft.com/office/drawing/2014/main" id="{350C47A7-0416-436D-9A77-4B686311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526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INPUT</a:t>
            </a:r>
          </a:p>
        </p:txBody>
      </p:sp>
      <p:sp>
        <p:nvSpPr>
          <p:cNvPr id="10" name="input-main">
            <a:extLst xmlns:a="http://schemas.openxmlformats.org/drawingml/2006/main">
              <a:ext uri="{FF2B5EF4-FFF2-40B4-BE49-F238E27FC236}">
                <a16:creationId xmlns:a16="http://schemas.microsoft.com/office/drawing/2014/main" id="{C0C25A69-B0A3-4208-A9DF-2866A5CC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行政事業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レビュー</a:t>
            </a:r>
          </a:p>
        </p:txBody>
      </p:sp>
      <p:sp>
        <p:nvSpPr>
          <p:cNvPr id="11" name="input-detail">
            <a:extLst xmlns:a="http://schemas.openxmlformats.org/drawingml/2006/main">
              <a:ext uri="{FF2B5EF4-FFF2-40B4-BE49-F238E27FC236}">
                <a16:creationId xmlns:a16="http://schemas.microsoft.com/office/drawing/2014/main" id="{F213420F-0C60-4CDF-A9E8-2462C4F7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事業目的・概要・課題</a:t>
            </a:r>
          </a:p>
        </p:txBody>
      </p:sp>
      <p:sp>
        <p:nvSpPr>
          <p:cNvPr id="12" name="axis-0">
            <a:extLst xmlns:a="http://schemas.openxmlformats.org/drawingml/2006/main">
              <a:ext uri="{FF2B5EF4-FFF2-40B4-BE49-F238E27FC236}">
                <a16:creationId xmlns:a16="http://schemas.microsoft.com/office/drawing/2014/main" id="{ACC116AA-0AED-4478-BD0B-F580D39F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85950"/>
            <a:ext cx="4533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13" name="axis-title-0">
            <a:extLst xmlns:a="http://schemas.openxmlformats.org/drawingml/2006/main">
              <a:ext uri="{FF2B5EF4-FFF2-40B4-BE49-F238E27FC236}">
                <a16:creationId xmlns:a16="http://schemas.microsoft.com/office/drawing/2014/main" id="{8178DB29-3CE2-4AAE-9D9F-52663BCA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288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政策領域</a:t>
            </a:r>
          </a:p>
        </p:txBody>
      </p:sp>
      <p:sp>
        <p:nvSpPr>
          <p:cNvPr id="14" name="axis-code-0">
            <a:extLst xmlns:a="http://schemas.openxmlformats.org/drawingml/2006/main">
              <a:ext uri="{FF2B5EF4-FFF2-40B4-BE49-F238E27FC236}">
                <a16:creationId xmlns:a16="http://schemas.microsoft.com/office/drawing/2014/main" id="{9EEDE9E5-F78F-47DF-97CC-35D40127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478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87FB4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087FB4"/>
                </a:solidFill>
                <a:latin typeface="Yu Gothic"/>
                <a:ea typeface="Yu Gothic"/>
                <a:cs typeface="Yu Gothic"/>
              </a:rPr>
              <a:t>D01–D15</a:t>
            </a:r>
          </a:p>
        </p:txBody>
      </p:sp>
      <p:sp>
        <p:nvSpPr>
          <p:cNvPr id="15" name="axis-desc-0">
            <a:extLst xmlns:a="http://schemas.openxmlformats.org/drawingml/2006/main">
              <a:ext uri="{FF2B5EF4-FFF2-40B4-BE49-F238E27FC236}">
                <a16:creationId xmlns:a16="http://schemas.microsoft.com/office/drawing/2014/main" id="{9C6ED014-496A-497F-8852-818BD2A9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336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どの政策課題か</a:t>
            </a:r>
          </a:p>
        </p:txBody>
      </p:sp>
      <p:sp>
        <p:nvSpPr>
          <p:cNvPr id="16" name="axis-1">
            <a:extLst xmlns:a="http://schemas.openxmlformats.org/drawingml/2006/main">
              <a:ext uri="{FF2B5EF4-FFF2-40B4-BE49-F238E27FC236}">
                <a16:creationId xmlns:a16="http://schemas.microsoft.com/office/drawing/2014/main" id="{AE1050BE-E0B7-4B96-AA52-8C25E9C0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52750"/>
            <a:ext cx="4533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17" name="axis-title-1">
            <a:extLst xmlns:a="http://schemas.openxmlformats.org/drawingml/2006/main">
              <a:ext uri="{FF2B5EF4-FFF2-40B4-BE49-F238E27FC236}">
                <a16:creationId xmlns:a16="http://schemas.microsoft.com/office/drawing/2014/main" id="{36D2F016-9443-42D1-B024-1194D852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956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行政業務</a:t>
            </a:r>
          </a:p>
        </p:txBody>
      </p:sp>
      <p:sp>
        <p:nvSpPr>
          <p:cNvPr id="18" name="axis-code-1">
            <a:extLst xmlns:a="http://schemas.openxmlformats.org/drawingml/2006/main">
              <a:ext uri="{FF2B5EF4-FFF2-40B4-BE49-F238E27FC236}">
                <a16:creationId xmlns:a16="http://schemas.microsoft.com/office/drawing/2014/main" id="{C9F0D83B-6727-449A-A0BF-6F501A84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87FB4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087FB4"/>
                </a:solidFill>
                <a:latin typeface="Yu Gothic"/>
                <a:ea typeface="Yu Gothic"/>
                <a:cs typeface="Yu Gothic"/>
              </a:rPr>
              <a:t>A01–A13</a:t>
            </a:r>
          </a:p>
        </p:txBody>
      </p:sp>
      <p:sp>
        <p:nvSpPr>
          <p:cNvPr id="19" name="axis-desc-1">
            <a:extLst xmlns:a="http://schemas.openxmlformats.org/drawingml/2006/main">
              <a:ext uri="{FF2B5EF4-FFF2-40B4-BE49-F238E27FC236}">
                <a16:creationId xmlns:a16="http://schemas.microsoft.com/office/drawing/2014/main" id="{9DB07CA5-3634-47B7-8345-1236375E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004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行政の何の仕事か</a:t>
            </a:r>
          </a:p>
        </p:txBody>
      </p:sp>
      <p:sp>
        <p:nvSpPr>
          <p:cNvPr id="20" name="axis-2">
            <a:extLst xmlns:a="http://schemas.openxmlformats.org/drawingml/2006/main">
              <a:ext uri="{FF2B5EF4-FFF2-40B4-BE49-F238E27FC236}">
                <a16:creationId xmlns:a16="http://schemas.microsoft.com/office/drawing/2014/main" id="{C3F707AE-E095-4FFC-B4D9-E5EB7C6A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19550"/>
            <a:ext cx="4533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7FC"/>
          </a:solidFill>
          <a:ln xmlns:a="http://schemas.openxmlformats.org/drawingml/2006/main" w="9525">
            <a:solidFill>
              <a:srgbClr val="18A8E0"/>
            </a:solidFill>
            <a:prstDash val="solid"/>
          </a:ln>
        </p:spPr>
      </p:sp>
      <p:sp>
        <p:nvSpPr>
          <p:cNvPr id="21" name="axis-title-2">
            <a:extLst xmlns:a="http://schemas.openxmlformats.org/drawingml/2006/main">
              <a:ext uri="{FF2B5EF4-FFF2-40B4-BE49-F238E27FC236}">
                <a16:creationId xmlns:a16="http://schemas.microsoft.com/office/drawing/2014/main" id="{ED4D3B4B-1083-491F-BE08-DB57CECA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624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AIユースケース</a:t>
            </a:r>
          </a:p>
        </p:txBody>
      </p:sp>
      <p:sp>
        <p:nvSpPr>
          <p:cNvPr id="22" name="axis-code-2">
            <a:extLst xmlns:a="http://schemas.openxmlformats.org/drawingml/2006/main">
              <a:ext uri="{FF2B5EF4-FFF2-40B4-BE49-F238E27FC236}">
                <a16:creationId xmlns:a16="http://schemas.microsoft.com/office/drawing/2014/main" id="{93904465-B048-45CC-B679-BA040136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814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87FB4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087FB4"/>
                </a:solidFill>
                <a:latin typeface="Yu Gothic"/>
                <a:ea typeface="Yu Gothic"/>
                <a:cs typeface="Yu Gothic"/>
              </a:rPr>
              <a:t>U01–U11</a:t>
            </a:r>
          </a:p>
        </p:txBody>
      </p:sp>
      <p:sp>
        <p:nvSpPr>
          <p:cNvPr id="23" name="axis-desc-2">
            <a:extLst xmlns:a="http://schemas.openxmlformats.org/drawingml/2006/main">
              <a:ext uri="{FF2B5EF4-FFF2-40B4-BE49-F238E27FC236}">
                <a16:creationId xmlns:a16="http://schemas.microsoft.com/office/drawing/2014/main" id="{371C3CA5-6540-4FF4-B00F-750819D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672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AIで何を行うか</a:t>
            </a:r>
          </a:p>
        </p:txBody>
      </p:sp>
      <p:sp>
        <p:nvSpPr>
          <p:cNvPr id="24" name="applicability-node">
            <a:extLst xmlns:a="http://schemas.openxmlformats.org/drawingml/2006/main">
              <a:ext uri="{FF2B5EF4-FFF2-40B4-BE49-F238E27FC236}">
                <a16:creationId xmlns:a16="http://schemas.microsoft.com/office/drawing/2014/main" id="{E64E1B94-451B-48C4-B51F-FACF53C4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33600"/>
            <a:ext cx="2724150" cy="1943100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EAF7FC"/>
          </a:solidFill>
          <a:ln xmlns:a="http://schemas.openxmlformats.org/drawingml/2006/main" w="19050">
            <a:solidFill>
              <a:srgbClr val="18A8E0"/>
            </a:solidFill>
            <a:prstDash val="solid"/>
          </a:ln>
        </p:spPr>
      </p:sp>
      <p:sp>
        <p:nvSpPr>
          <p:cNvPr id="25" name="applicability-label">
            <a:extLst xmlns:a="http://schemas.openxmlformats.org/drawingml/2006/main">
              <a:ext uri="{FF2B5EF4-FFF2-40B4-BE49-F238E27FC236}">
                <a16:creationId xmlns:a16="http://schemas.microsoft.com/office/drawing/2014/main" id="{254B2ED9-CCA0-47ED-895D-5EDC7FE5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526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87FB4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087FB4"/>
                </a:solidFill>
                <a:latin typeface="Yu Gothic"/>
                <a:ea typeface="Yu Gothic"/>
                <a:cs typeface="Yu Gothic"/>
              </a:rPr>
              <a:t>AI APPLICABILITY</a:t>
            </a:r>
          </a:p>
        </p:txBody>
      </p:sp>
      <p:sp>
        <p:nvSpPr>
          <p:cNvPr id="26" name="applicability-main">
            <a:extLst xmlns:a="http://schemas.openxmlformats.org/drawingml/2006/main">
              <a:ext uri="{FF2B5EF4-FFF2-40B4-BE49-F238E27FC236}">
                <a16:creationId xmlns:a16="http://schemas.microsoft.com/office/drawing/2014/main" id="{97662F6F-0B9A-4D1A-8DF5-558D869D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8130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一般的な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AI適用可能性</a:t>
            </a:r>
          </a:p>
        </p:txBody>
      </p:sp>
      <p:sp>
        <p:nvSpPr>
          <p:cNvPr id="27" name="applicability-scale">
            <a:extLst xmlns:a="http://schemas.openxmlformats.org/drawingml/2006/main">
              <a:ext uri="{FF2B5EF4-FFF2-40B4-BE49-F238E27FC236}">
                <a16:creationId xmlns:a16="http://schemas.microsoft.com/office/drawing/2014/main" id="{7C901998-EA65-4D8A-A465-D1DADFAE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38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87FB4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087FB4"/>
                </a:solidFill>
                <a:latin typeface="Yu Gothic"/>
                <a:ea typeface="Yu Gothic"/>
                <a:cs typeface="Yu Gothic"/>
              </a:rPr>
              <a:t>0  ／  1  ／  2</a:t>
            </a:r>
          </a:p>
        </p:txBody>
      </p:sp>
      <p:sp>
        <p:nvSpPr>
          <p:cNvPr id="28" name="objective-band">
            <a:extLst xmlns:a="http://schemas.openxmlformats.org/drawingml/2006/main">
              <a:ext uri="{FF2B5EF4-FFF2-40B4-BE49-F238E27FC236}">
                <a16:creationId xmlns:a16="http://schemas.microsoft.com/office/drawing/2014/main" id="{6B324075-0527-427B-837A-1DAD9D82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12585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objective-text">
            <a:extLst xmlns:a="http://schemas.openxmlformats.org/drawingml/2006/main">
              <a:ext uri="{FF2B5EF4-FFF2-40B4-BE49-F238E27FC236}">
                <a16:creationId xmlns:a16="http://schemas.microsoft.com/office/drawing/2014/main" id="{ABDBAA19-F473-421D-8D14-23D43DEA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AIUの得意領域から逆算せず、行政側に実在する機会から出発</a:t>
            </a:r>
          </a:p>
        </p:txBody>
      </p:sp>
    </p:spTree>
    <p:extLst>
      <p:ext uri="{BB962C8B-B14F-4D97-AF65-F5344CB8AC3E}">
        <p14:creationId xmlns:p14="http://schemas.microsoft.com/office/powerpoint/2010/main" val="2106465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3">
            <a:extLst xmlns:a="http://schemas.openxmlformats.org/drawingml/2006/main">
              <a:ext uri="{FF2B5EF4-FFF2-40B4-BE49-F238E27FC236}">
                <a16:creationId xmlns:a16="http://schemas.microsoft.com/office/drawing/2014/main" id="{A20AA247-5133-4C9B-98E5-47DBEC75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87FB4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087FB4"/>
                </a:solidFill>
                <a:latin typeface="Yu Gothic"/>
                <a:ea typeface="Yu Gothic"/>
                <a:cs typeface="Yu Gothic"/>
              </a:rPr>
              <a:t>02｜重点領域の選定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2FE1EC7C-1F2C-4A98-975D-E06E4350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継続受注と横展開を見据え、A01 × U06を選定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276DCC84-30CD-46E6-8708-FD2ACA47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4" name="header-rule-3">
            <a:extLst xmlns:a="http://schemas.openxmlformats.org/drawingml/2006/main">
              <a:ext uri="{FF2B5EF4-FFF2-40B4-BE49-F238E27FC236}">
                <a16:creationId xmlns:a16="http://schemas.microsoft.com/office/drawing/2014/main" id="{794FA102-6F7F-49E3-92F8-F82AA6D1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5" name="left-cap">
            <a:extLst xmlns:a="http://schemas.openxmlformats.org/drawingml/2006/main">
              <a:ext uri="{FF2B5EF4-FFF2-40B4-BE49-F238E27FC236}">
                <a16:creationId xmlns:a16="http://schemas.microsoft.com/office/drawing/2014/main" id="{731B0E8C-D5D0-44B2-AF81-6D24817E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行政業務で絞る</a:t>
            </a:r>
          </a:p>
        </p:txBody>
      </p:sp>
      <p:sp>
        <p:nvSpPr>
          <p:cNvPr id="6" name="a13-box">
            <a:extLst xmlns:a="http://schemas.openxmlformats.org/drawingml/2006/main">
              <a:ext uri="{FF2B5EF4-FFF2-40B4-BE49-F238E27FC236}">
                <a16:creationId xmlns:a16="http://schemas.microsoft.com/office/drawing/2014/main" id="{A9DE3794-FE5F-4AA1-ADD8-60250F2E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4667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7" name="a13-code">
            <a:extLst xmlns:a="http://schemas.openxmlformats.org/drawingml/2006/main">
              <a:ext uri="{FF2B5EF4-FFF2-40B4-BE49-F238E27FC236}">
                <a16:creationId xmlns:a16="http://schemas.microsoft.com/office/drawing/2014/main" id="{22D30556-9FF2-45D2-A273-23DA96E1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A13</a:t>
            </a:r>
          </a:p>
        </p:txBody>
      </p:sp>
      <p:sp>
        <p:nvSpPr>
          <p:cNvPr id="8" name="a13-name">
            <a:extLst xmlns:a="http://schemas.openxmlformats.org/drawingml/2006/main">
              <a:ext uri="{FF2B5EF4-FFF2-40B4-BE49-F238E27FC236}">
                <a16:creationId xmlns:a16="http://schemas.microsoft.com/office/drawing/2014/main" id="{0CA4BFD3-2CED-4EB2-AB3D-468C2D47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955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研究開発・実証・社会実装</a:t>
            </a:r>
          </a:p>
        </p:txBody>
      </p:sp>
      <p:sp>
        <p:nvSpPr>
          <p:cNvPr id="9" name="a13-reason">
            <a:extLst xmlns:a="http://schemas.openxmlformats.org/drawingml/2006/main">
              <a:ext uri="{FF2B5EF4-FFF2-40B4-BE49-F238E27FC236}">
                <a16:creationId xmlns:a16="http://schemas.microsoft.com/office/drawing/2014/main" id="{5795DEDB-5542-4587-B721-3597BE66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個別技術の開発・実証が中心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案件ごとの個別性が高い</a:t>
            </a:r>
          </a:p>
        </p:txBody>
      </p:sp>
      <p:sp>
        <p:nvSpPr>
          <p:cNvPr id="10" name="a01-box">
            <a:extLst xmlns:a="http://schemas.openxmlformats.org/drawingml/2006/main">
              <a:ext uri="{FF2B5EF4-FFF2-40B4-BE49-F238E27FC236}">
                <a16:creationId xmlns:a16="http://schemas.microsoft.com/office/drawing/2014/main" id="{630C80A2-04D4-4337-8480-5340559F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4667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AF7FC"/>
          </a:solidFill>
          <a:ln xmlns:a="http://schemas.openxmlformats.org/drawingml/2006/main" w="28575">
            <a:solidFill>
              <a:srgbClr val="18A8E0"/>
            </a:solidFill>
            <a:prstDash val="solid"/>
          </a:ln>
        </p:spPr>
      </p:sp>
      <p:sp>
        <p:nvSpPr>
          <p:cNvPr id="11" name="a01-code">
            <a:extLst xmlns:a="http://schemas.openxmlformats.org/drawingml/2006/main">
              <a:ext uri="{FF2B5EF4-FFF2-40B4-BE49-F238E27FC236}">
                <a16:creationId xmlns:a16="http://schemas.microsoft.com/office/drawing/2014/main" id="{37DE04C6-2E97-44AB-AC93-5785E8BC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87FB4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087FB4"/>
                </a:solidFill>
                <a:latin typeface="Yu Gothic"/>
                <a:ea typeface="Yu Gothic"/>
                <a:cs typeface="Yu Gothic"/>
              </a:rPr>
              <a:t>A01</a:t>
            </a:r>
          </a:p>
        </p:txBody>
      </p:sp>
      <p:sp>
        <p:nvSpPr>
          <p:cNvPr id="12" name="a01-name">
            <a:extLst xmlns:a="http://schemas.openxmlformats.org/drawingml/2006/main">
              <a:ext uri="{FF2B5EF4-FFF2-40B4-BE49-F238E27FC236}">
                <a16:creationId xmlns:a16="http://schemas.microsoft.com/office/drawing/2014/main" id="{91741C02-9B46-4597-BD5E-F8C2CEFE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623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調査・情報収集・分析</a:t>
            </a:r>
          </a:p>
        </p:txBody>
      </p:sp>
      <p:sp>
        <p:nvSpPr>
          <p:cNvPr id="13" name="a01-reason">
            <a:extLst xmlns:a="http://schemas.openxmlformats.org/drawingml/2006/main">
              <a:ext uri="{FF2B5EF4-FFF2-40B4-BE49-F238E27FC236}">
                <a16:creationId xmlns:a16="http://schemas.microsoft.com/office/drawing/2014/main" id="{14998340-B6B9-4CB8-96FF-01813A49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各府省に恒常的に存在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継続受注・横展開の余地が大きい</a:t>
            </a:r>
          </a:p>
        </p:txBody>
      </p:sp>
      <p:sp>
        <p:nvSpPr>
          <p:cNvPr id="14" name="arrow-a01-u06">
            <a:extLst xmlns:a="http://schemas.openxmlformats.org/drawingml/2006/main">
              <a:ext uri="{FF2B5EF4-FFF2-40B4-BE49-F238E27FC236}">
                <a16:creationId xmlns:a16="http://schemas.microsoft.com/office/drawing/2014/main" id="{43BB5653-BF01-4C62-8EDF-18F4F305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05250"/>
            <a:ext cx="6286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ight-cap">
            <a:extLst xmlns:a="http://schemas.openxmlformats.org/drawingml/2006/main">
              <a:ext uri="{FF2B5EF4-FFF2-40B4-BE49-F238E27FC236}">
                <a16:creationId xmlns:a16="http://schemas.microsoft.com/office/drawing/2014/main" id="{65E51001-B0A7-416D-AEF0-A8147AFE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466850"/>
            <a:ext cx="575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A01のAIユースケースで絞る</a:t>
            </a:r>
          </a:p>
        </p:txBody>
      </p:sp>
      <p:sp>
        <p:nvSpPr>
          <p:cNvPr id="16" name="other-candidates">
            <a:extLst xmlns:a="http://schemas.openxmlformats.org/drawingml/2006/main">
              <a:ext uri="{FF2B5EF4-FFF2-40B4-BE49-F238E27FC236}">
                <a16:creationId xmlns:a16="http://schemas.microsoft.com/office/drawing/2014/main" id="{90C6CE2C-99ED-4A84-B8C4-23ADDB26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85950"/>
            <a:ext cx="575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有力候補　U01 検索・RAG　／　U02 要約・情報抽出</a:t>
            </a:r>
          </a:p>
        </p:txBody>
      </p:sp>
      <p:sp>
        <p:nvSpPr>
          <p:cNvPr id="17" name="u06-box">
            <a:extLst xmlns:a="http://schemas.openxmlformats.org/drawingml/2006/main">
              <a:ext uri="{FF2B5EF4-FFF2-40B4-BE49-F238E27FC236}">
                <a16:creationId xmlns:a16="http://schemas.microsoft.com/office/drawing/2014/main" id="{562A4A6E-5F30-40BB-8AA3-D1BFE8FC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62200"/>
            <a:ext cx="5753100" cy="2457450"/>
          </a:xfrm>
          <a:prstGeom xmlns:a="http://schemas.openxmlformats.org/drawingml/2006/main" prst="roundRect">
            <a:avLst>
              <a:gd name="adj" fmla="val 38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u06-title">
            <a:extLst xmlns:a="http://schemas.openxmlformats.org/drawingml/2006/main">
              <a:ext uri="{FF2B5EF4-FFF2-40B4-BE49-F238E27FC236}">
                <a16:creationId xmlns:a16="http://schemas.microsoft.com/office/drawing/2014/main" id="{64F52089-A698-49E2-B054-9FA48752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098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U06  予測・将来推計</a:t>
            </a:r>
          </a:p>
        </p:txBody>
      </p:sp>
      <p:sp>
        <p:nvSpPr>
          <p:cNvPr id="19" name="u06-rule">
            <a:extLst xmlns:a="http://schemas.openxmlformats.org/drawingml/2006/main">
              <a:ext uri="{FF2B5EF4-FFF2-40B4-BE49-F238E27FC236}">
                <a16:creationId xmlns:a16="http://schemas.microsoft.com/office/drawing/2014/main" id="{B4C10AEC-E90A-46AF-A2D6-26761BAD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6230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A5563"/>
            </a:solidFill>
            <a:prstDash val="solid"/>
          </a:ln>
        </p:spPr>
      </p:sp>
      <p:sp>
        <p:nvSpPr>
          <p:cNvPr id="20" name="criterion-label-0">
            <a:extLst xmlns:a="http://schemas.openxmlformats.org/drawingml/2006/main">
              <a:ext uri="{FF2B5EF4-FFF2-40B4-BE49-F238E27FC236}">
                <a16:creationId xmlns:a16="http://schemas.microsoft.com/office/drawing/2014/main" id="{87764ECE-8433-4349-BF26-26513177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71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4D9F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84D9F7"/>
                </a:solidFill>
                <a:latin typeface="Yu Gothic"/>
                <a:ea typeface="Yu Gothic"/>
                <a:cs typeface="Yu Gothic"/>
              </a:rPr>
              <a:t>AI適用密度</a:t>
            </a:r>
          </a:p>
        </p:txBody>
      </p:sp>
      <p:sp>
        <p:nvSpPr>
          <p:cNvPr id="21" name="criterion-body-0">
            <a:extLst xmlns:a="http://schemas.openxmlformats.org/drawingml/2006/main">
              <a:ext uri="{FF2B5EF4-FFF2-40B4-BE49-F238E27FC236}">
                <a16:creationId xmlns:a16="http://schemas.microsoft.com/office/drawing/2014/main" id="{AC27F3CE-588F-455D-AD75-0FA6C9AA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AI活用案件が多い</a:t>
            </a:r>
          </a:p>
        </p:txBody>
      </p:sp>
      <p:sp>
        <p:nvSpPr>
          <p:cNvPr id="22" name="criterion-label-1">
            <a:extLst xmlns:a="http://schemas.openxmlformats.org/drawingml/2006/main">
              <a:ext uri="{FF2B5EF4-FFF2-40B4-BE49-F238E27FC236}">
                <a16:creationId xmlns:a16="http://schemas.microsoft.com/office/drawing/2014/main" id="{33EEF485-DD74-4DF0-97C5-EA59E28F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29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4D9F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84D9F7"/>
                </a:solidFill>
                <a:latin typeface="Yu Gothic"/>
                <a:ea typeface="Yu Gothic"/>
                <a:cs typeface="Yu Gothic"/>
              </a:rPr>
              <a:t>継続性</a:t>
            </a:r>
          </a:p>
        </p:txBody>
      </p:sp>
      <p:sp>
        <p:nvSpPr>
          <p:cNvPr id="23" name="criterion-body-1">
            <a:extLst xmlns:a="http://schemas.openxmlformats.org/drawingml/2006/main">
              <a:ext uri="{FF2B5EF4-FFF2-40B4-BE49-F238E27FC236}">
                <a16:creationId xmlns:a16="http://schemas.microsoft.com/office/drawing/2014/main" id="{04A4D11C-7676-4D86-8CAA-F7659240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385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継続需要が見込める</a:t>
            </a:r>
          </a:p>
        </p:txBody>
      </p:sp>
      <p:sp>
        <p:nvSpPr>
          <p:cNvPr id="24" name="criterion-label-2">
            <a:extLst xmlns:a="http://schemas.openxmlformats.org/drawingml/2006/main">
              <a:ext uri="{FF2B5EF4-FFF2-40B4-BE49-F238E27FC236}">
                <a16:creationId xmlns:a16="http://schemas.microsoft.com/office/drawing/2014/main" id="{947D8BD6-6261-4ADE-B244-3EF88696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86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4D9F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84D9F7"/>
                </a:solidFill>
                <a:latin typeface="Yu Gothic"/>
                <a:ea typeface="Yu Gothic"/>
                <a:cs typeface="Yu Gothic"/>
              </a:rPr>
              <a:t>共通業務の実在性</a:t>
            </a:r>
          </a:p>
        </p:txBody>
      </p:sp>
      <p:sp>
        <p:nvSpPr>
          <p:cNvPr id="25" name="criterion-body-2">
            <a:extLst xmlns:a="http://schemas.openxmlformats.org/drawingml/2006/main">
              <a:ext uri="{FF2B5EF4-FFF2-40B4-BE49-F238E27FC236}">
                <a16:creationId xmlns:a16="http://schemas.microsoft.com/office/drawing/2014/main" id="{B9D398BE-1C6B-418E-8355-F39AB166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957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共通業務として標準化できる</a:t>
            </a:r>
          </a:p>
        </p:txBody>
      </p:sp>
      <p:sp>
        <p:nvSpPr>
          <p:cNvPr id="26" name="business-meaning">
            <a:extLst xmlns:a="http://schemas.openxmlformats.org/drawingml/2006/main">
              <a:ext uri="{FF2B5EF4-FFF2-40B4-BE49-F238E27FC236}">
                <a16:creationId xmlns:a16="http://schemas.microsoft.com/office/drawing/2014/main" id="{51F1EE5B-697B-4301-8C3E-79635B9B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58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usiness-meaning-text">
            <a:extLst xmlns:a="http://schemas.openxmlformats.org/drawingml/2006/main">
              <a:ext uri="{FF2B5EF4-FFF2-40B4-BE49-F238E27FC236}">
                <a16:creationId xmlns:a16="http://schemas.microsoft.com/office/drawing/2014/main" id="{B9ADB1B5-9BB2-4893-A5FE-A3DBF491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6735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87FB4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087FB4"/>
                </a:solidFill>
                <a:latin typeface="Yu Gothic"/>
                <a:ea typeface="Yu Gothic"/>
                <a:cs typeface="Yu Gothic"/>
              </a:rPr>
              <a:t>行政の共通業務 × 継続需要 × 再利用可能なサービスモデル</a:t>
            </a:r>
          </a:p>
        </p:txBody>
      </p:sp>
    </p:spTree>
    <p:extLst>
      <p:ext uri="{BB962C8B-B14F-4D97-AF65-F5344CB8AC3E}">
        <p14:creationId xmlns:p14="http://schemas.microsoft.com/office/powerpoint/2010/main" val="7142139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4">
            <a:extLst xmlns:a="http://schemas.openxmlformats.org/drawingml/2006/main">
              <a:ext uri="{FF2B5EF4-FFF2-40B4-BE49-F238E27FC236}">
                <a16:creationId xmlns:a16="http://schemas.microsoft.com/office/drawing/2014/main" id="{6B7F1E0E-E49D-4256-8865-DDDC6C3F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87FB4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087FB4"/>
                </a:solidFill>
                <a:latin typeface="Yu Gothic"/>
                <a:ea typeface="Yu Gothic"/>
                <a:cs typeface="Yu Gothic"/>
              </a:rPr>
              <a:t>03｜第一の攻略市場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F82A4345-7A6A-4857-B7DD-A75ED59C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第一の攻略市場は、厚生労働省・地域医療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38B0777C-2FEF-4D7E-BFF7-6D38592A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4" name="header-rule-4">
            <a:extLst xmlns:a="http://schemas.openxmlformats.org/drawingml/2006/main">
              <a:ext uri="{FF2B5EF4-FFF2-40B4-BE49-F238E27FC236}">
                <a16:creationId xmlns:a16="http://schemas.microsoft.com/office/drawing/2014/main" id="{00D4EFB4-81B1-453F-96E4-929E0340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5" name="policy-label">
            <a:extLst xmlns:a="http://schemas.openxmlformats.org/drawingml/2006/main">
              <a:ext uri="{FF2B5EF4-FFF2-40B4-BE49-F238E27FC236}">
                <a16:creationId xmlns:a16="http://schemas.microsoft.com/office/drawing/2014/main" id="{2D26F792-A2ED-4C5C-BD33-26748F71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政策領域別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533400" y="1866900"/>
          <a:ext xmlns:a="http://schemas.openxmlformats.org/drawingml/2006/main" cx="40957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4be3ecdece4e8d"/>
          </a:graphicData>
        </a:graphic>
      </p:graphicFrame>
      <p:sp>
        <p:nvSpPr>
          <p:cNvPr id="7" name="policy-number">
            <a:extLst xmlns:a="http://schemas.openxmlformats.org/drawingml/2006/main">
              <a:ext uri="{FF2B5EF4-FFF2-40B4-BE49-F238E27FC236}">
                <a16:creationId xmlns:a16="http://schemas.microsoft.com/office/drawing/2014/main" id="{F86B1415-F44B-457C-B36A-0A518D49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813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087FB4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087FB4"/>
                </a:solidFill>
                <a:latin typeface="Yu Gothic"/>
                <a:ea typeface="Yu Gothic"/>
                <a:cs typeface="Yu Gothic"/>
              </a:rPr>
              <a:t>約3割</a:t>
            </a:r>
          </a:p>
        </p:txBody>
      </p:sp>
      <p:sp>
        <p:nvSpPr>
          <p:cNvPr id="8" name="policy-meaning">
            <a:extLst xmlns:a="http://schemas.openxmlformats.org/drawingml/2006/main">
              <a:ext uri="{FF2B5EF4-FFF2-40B4-BE49-F238E27FC236}">
                <a16:creationId xmlns:a16="http://schemas.microsoft.com/office/drawing/2014/main" id="{24068CED-8651-4643-8691-7F1875D2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D05 医療・健康が最大</a:t>
            </a:r>
          </a:p>
        </p:txBody>
      </p:sp>
      <p:sp>
        <p:nvSpPr>
          <p:cNvPr id="9" name="ministry-label">
            <a:extLst xmlns:a="http://schemas.openxmlformats.org/drawingml/2006/main">
              <a:ext uri="{FF2B5EF4-FFF2-40B4-BE49-F238E27FC236}">
                <a16:creationId xmlns:a16="http://schemas.microsoft.com/office/drawing/2014/main" id="{6AAC9694-EFDD-4DD3-87DD-2C8FE85D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04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省庁別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5715000" y="2133600"/>
          <a:ext xmlns:a="http://schemas.openxmlformats.org/drawingml/2006/main" cx="5619750" cy="1524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c79ce1a9e44fe4"/>
          </a:graphicData>
        </a:graphic>
      </p:graphicFrame>
      <p:sp>
        <p:nvSpPr>
          <p:cNvPr id="11" name="ministry-number">
            <a:extLst xmlns:a="http://schemas.openxmlformats.org/drawingml/2006/main">
              <a:ext uri="{FF2B5EF4-FFF2-40B4-BE49-F238E27FC236}">
                <a16:creationId xmlns:a16="http://schemas.microsoft.com/office/drawing/2014/main" id="{E9904DC1-B424-4A40-9FD2-5B9630D7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290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87FB4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087FB4"/>
                </a:solidFill>
                <a:latin typeface="Yu Gothic"/>
                <a:ea typeface="Yu Gothic"/>
                <a:cs typeface="Yu Gothic"/>
              </a:rPr>
              <a:t>上位2省で 約半数</a:t>
            </a:r>
          </a:p>
        </p:txBody>
      </p:sp>
      <p:sp>
        <p:nvSpPr>
          <p:cNvPr id="12" name="ministry-order">
            <a:extLst xmlns:a="http://schemas.openxmlformats.org/drawingml/2006/main">
              <a:ext uri="{FF2B5EF4-FFF2-40B4-BE49-F238E27FC236}">
                <a16:creationId xmlns:a16="http://schemas.microsoft.com/office/drawing/2014/main" id="{596901AA-AA25-4793-9FCC-4C288007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434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厚生労働省が最多、国土交通省が次点</a:t>
            </a:r>
          </a:p>
        </p:txBody>
      </p:sp>
      <p:sp>
        <p:nvSpPr>
          <p:cNvPr id="13" name="beachhead-band">
            <a:extLst xmlns:a="http://schemas.openxmlformats.org/drawingml/2006/main">
              <a:ext uri="{FF2B5EF4-FFF2-40B4-BE49-F238E27FC236}">
                <a16:creationId xmlns:a16="http://schemas.microsoft.com/office/drawing/2014/main" id="{46E85ADC-663A-4C8C-9BBB-4106FB14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72100"/>
            <a:ext cx="112585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eachhead-main">
            <a:extLst xmlns:a="http://schemas.openxmlformats.org/drawingml/2006/main">
              <a:ext uri="{FF2B5EF4-FFF2-40B4-BE49-F238E27FC236}">
                <a16:creationId xmlns:a16="http://schemas.microsoft.com/office/drawing/2014/main" id="{16A0F3FD-1E66-4C3F-9D5E-82B59286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地域医療で『予測を政策判断につなげる型』を確立し、他府省へ展開</a:t>
            </a:r>
          </a:p>
        </p:txBody>
      </p:sp>
    </p:spTree>
    <p:extLst>
      <p:ext uri="{BB962C8B-B14F-4D97-AF65-F5344CB8AC3E}">
        <p14:creationId xmlns:p14="http://schemas.microsoft.com/office/powerpoint/2010/main" val="2620302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5">
            <a:extLst xmlns:a="http://schemas.openxmlformats.org/drawingml/2006/main">
              <a:ext uri="{FF2B5EF4-FFF2-40B4-BE49-F238E27FC236}">
                <a16:creationId xmlns:a16="http://schemas.microsoft.com/office/drawing/2014/main" id="{D48195CE-33B9-4533-A9DD-14C4D661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87FB4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087FB4"/>
                </a:solidFill>
                <a:latin typeface="Yu Gothic"/>
                <a:ea typeface="Yu Gothic"/>
                <a:cs typeface="Yu Gothic"/>
              </a:rPr>
              <a:t>04｜一次情報で将来性を確認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A8605347-7024-4318-9D2A-BFD8BBC0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一次情報が、データ・予測・政策判断・外部支援を裏付ける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4A754437-3219-444B-AB2B-6B2A4DA8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4" name="header-rule-5">
            <a:extLst xmlns:a="http://schemas.openxmlformats.org/drawingml/2006/main">
              <a:ext uri="{FF2B5EF4-FFF2-40B4-BE49-F238E27FC236}">
                <a16:creationId xmlns:a16="http://schemas.microsoft.com/office/drawing/2014/main" id="{058D7D69-3519-4CAB-BA83-FB200E7D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5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298E2647-320F-4BB5-9471-1FEB4599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A8E0"/>
            </a:solidFill>
            <a:prstDash val="solid"/>
          </a:ln>
        </p:spPr>
      </p:sp>
      <p:sp>
        <p:nvSpPr>
          <p:cNvPr id="6" name="timeline-node-0">
            <a:extLst xmlns:a="http://schemas.openxmlformats.org/drawingml/2006/main">
              <a:ext uri="{FF2B5EF4-FFF2-40B4-BE49-F238E27FC236}">
                <a16:creationId xmlns:a16="http://schemas.microsoft.com/office/drawing/2014/main" id="{F0E81326-B75F-40D3-811C-AE447DBE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meline-node-1">
            <a:extLst xmlns:a="http://schemas.openxmlformats.org/drawingml/2006/main">
              <a:ext uri="{FF2B5EF4-FFF2-40B4-BE49-F238E27FC236}">
                <a16:creationId xmlns:a16="http://schemas.microsoft.com/office/drawing/2014/main" id="{E1B82C97-02D9-4C66-BD68-FF4F0C15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52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eline-node-2">
            <a:extLst xmlns:a="http://schemas.openxmlformats.org/drawingml/2006/main">
              <a:ext uri="{FF2B5EF4-FFF2-40B4-BE49-F238E27FC236}">
                <a16:creationId xmlns:a16="http://schemas.microsoft.com/office/drawing/2014/main" id="{14775282-1F33-4C03-812C-3969AC96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52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imeline-node-3">
            <a:extLst xmlns:a="http://schemas.openxmlformats.org/drawingml/2006/main">
              <a:ext uri="{FF2B5EF4-FFF2-40B4-BE49-F238E27FC236}">
                <a16:creationId xmlns:a16="http://schemas.microsoft.com/office/drawing/2014/main" id="{A2B84E3E-69EC-4AF6-8B71-875A15C9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52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tag-0">
            <a:extLst xmlns:a="http://schemas.openxmlformats.org/drawingml/2006/main">
              <a:ext uri="{FF2B5EF4-FFF2-40B4-BE49-F238E27FC236}">
                <a16:creationId xmlns:a16="http://schemas.microsoft.com/office/drawing/2014/main" id="{E7A6F823-FE3D-45D5-A05E-6130F48F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87FB4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87FB4"/>
                </a:solidFill>
                <a:latin typeface="Yu Gothic"/>
                <a:ea typeface="Yu Gothic"/>
                <a:cs typeface="Yu Gothic"/>
              </a:rPr>
              <a:t>2040</a:t>
            </a:r>
          </a:p>
        </p:txBody>
      </p:sp>
      <p:sp>
        <p:nvSpPr>
          <p:cNvPr id="11" name="evidence-title-0">
            <a:extLst xmlns:a="http://schemas.openxmlformats.org/drawingml/2006/main">
              <a:ext uri="{FF2B5EF4-FFF2-40B4-BE49-F238E27FC236}">
                <a16:creationId xmlns:a16="http://schemas.microsoft.com/office/drawing/2014/main" id="{CC0F3FE0-DEE3-458C-8F94-83DE92EA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必要病床数を推計</a:t>
            </a:r>
          </a:p>
        </p:txBody>
      </p:sp>
      <p:sp>
        <p:nvSpPr>
          <p:cNvPr id="12" name="evidence-body-0">
            <a:extLst xmlns:a="http://schemas.openxmlformats.org/drawingml/2006/main">
              <a:ext uri="{FF2B5EF4-FFF2-40B4-BE49-F238E27FC236}">
                <a16:creationId xmlns:a16="http://schemas.microsoft.com/office/drawing/2014/main" id="{180B4E35-027F-4D6D-A9A7-BB7A00FC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「2040年の必要病床数について、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…推計を実施」[1]</a:t>
            </a:r>
          </a:p>
        </p:txBody>
      </p:sp>
      <p:sp>
        <p:nvSpPr>
          <p:cNvPr id="13" name="evidence-tag-1">
            <a:extLst xmlns:a="http://schemas.openxmlformats.org/drawingml/2006/main">
              <a:ext uri="{FF2B5EF4-FFF2-40B4-BE49-F238E27FC236}">
                <a16:creationId xmlns:a16="http://schemas.microsoft.com/office/drawing/2014/main" id="{A477499E-C09C-42CB-A511-509EAE8B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764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87FB4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87FB4"/>
                </a:solidFill>
                <a:latin typeface="Yu Gothic"/>
                <a:ea typeface="Yu Gothic"/>
                <a:cs typeface="Yu Gothic"/>
              </a:rPr>
              <a:t>4.4億円</a:t>
            </a:r>
          </a:p>
        </p:txBody>
      </p:sp>
      <p:sp>
        <p:nvSpPr>
          <p:cNvPr id="14" name="evidence-title-1">
            <a:extLst xmlns:a="http://schemas.openxmlformats.org/drawingml/2006/main">
              <a:ext uri="{FF2B5EF4-FFF2-40B4-BE49-F238E27FC236}">
                <a16:creationId xmlns:a16="http://schemas.microsoft.com/office/drawing/2014/main" id="{D272E0D6-6C7F-48BB-9EB5-BD854DD7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098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データ収集・分析</a:t>
            </a:r>
          </a:p>
        </p:txBody>
      </p:sp>
      <p:sp>
        <p:nvSpPr>
          <p:cNvPr id="15" name="evidence-body-1">
            <a:extLst xmlns:a="http://schemas.openxmlformats.org/drawingml/2006/main">
              <a:ext uri="{FF2B5EF4-FFF2-40B4-BE49-F238E27FC236}">
                <a16:creationId xmlns:a16="http://schemas.microsoft.com/office/drawing/2014/main" id="{0F8B4ACC-F5F7-4E07-815B-9F9AD2FA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2425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「令和7年度概算要求額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4.4億円」[2]</a:t>
            </a:r>
          </a:p>
        </p:txBody>
      </p:sp>
      <p:sp>
        <p:nvSpPr>
          <p:cNvPr id="16" name="evidence-tag-2">
            <a:extLst xmlns:a="http://schemas.openxmlformats.org/drawingml/2006/main">
              <a:ext uri="{FF2B5EF4-FFF2-40B4-BE49-F238E27FC236}">
                <a16:creationId xmlns:a16="http://schemas.microsoft.com/office/drawing/2014/main" id="{04DB7171-9272-4C59-826E-2C9B1922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764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87FB4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87FB4"/>
                </a:solidFill>
                <a:latin typeface="Yu Gothic"/>
                <a:ea typeface="Yu Gothic"/>
                <a:cs typeface="Yu Gothic"/>
              </a:rPr>
              <a:t>外部委託可</a:t>
            </a:r>
          </a:p>
        </p:txBody>
      </p:sp>
      <p:sp>
        <p:nvSpPr>
          <p:cNvPr id="17" name="evidence-title-2">
            <a:extLst xmlns:a="http://schemas.openxmlformats.org/drawingml/2006/main">
              <a:ext uri="{FF2B5EF4-FFF2-40B4-BE49-F238E27FC236}">
                <a16:creationId xmlns:a16="http://schemas.microsoft.com/office/drawing/2014/main" id="{FA664FEC-EE3B-4A54-9C1E-89A5B74E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098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分析・政策立案支援</a:t>
            </a:r>
          </a:p>
        </p:txBody>
      </p:sp>
      <p:sp>
        <p:nvSpPr>
          <p:cNvPr id="18" name="evidence-body-2">
            <a:extLst xmlns:a="http://schemas.openxmlformats.org/drawingml/2006/main">
              <a:ext uri="{FF2B5EF4-FFF2-40B4-BE49-F238E27FC236}">
                <a16:creationId xmlns:a16="http://schemas.microsoft.com/office/drawing/2014/main" id="{D9A17654-0535-403C-B770-EF7E1BE7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2425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「事業の全部又は一部を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外部に委託…できる」[3]</a:t>
            </a:r>
          </a:p>
        </p:txBody>
      </p:sp>
      <p:sp>
        <p:nvSpPr>
          <p:cNvPr id="19" name="evidence-tag-3">
            <a:extLst xmlns:a="http://schemas.openxmlformats.org/drawingml/2006/main">
              <a:ext uri="{FF2B5EF4-FFF2-40B4-BE49-F238E27FC236}">
                <a16:creationId xmlns:a16="http://schemas.microsoft.com/office/drawing/2014/main" id="{E9A866EB-29FF-4F1A-A66D-3BD4AA2A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764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87FB4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87FB4"/>
                </a:solidFill>
                <a:latin typeface="Yu Gothic"/>
                <a:ea typeface="Yu Gothic"/>
                <a:cs typeface="Yu Gothic"/>
              </a:rPr>
              <a:t>人口 × 診療</a:t>
            </a:r>
          </a:p>
        </p:txBody>
      </p:sp>
      <p:sp>
        <p:nvSpPr>
          <p:cNvPr id="20" name="evidence-title-3">
            <a:extLst xmlns:a="http://schemas.openxmlformats.org/drawingml/2006/main">
              <a:ext uri="{FF2B5EF4-FFF2-40B4-BE49-F238E27FC236}">
                <a16:creationId xmlns:a16="http://schemas.microsoft.com/office/drawing/2014/main" id="{E8481468-5B5B-461D-BFC8-49A841CB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098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将来医療需要を推計</a:t>
            </a:r>
          </a:p>
        </p:txBody>
      </p:sp>
      <p:sp>
        <p:nvSpPr>
          <p:cNvPr id="21" name="evidence-body-3">
            <a:extLst xmlns:a="http://schemas.openxmlformats.org/drawingml/2006/main">
              <a:ext uri="{FF2B5EF4-FFF2-40B4-BE49-F238E27FC236}">
                <a16:creationId xmlns:a16="http://schemas.microsoft.com/office/drawing/2014/main" id="{87796E58-C7BD-4430-AA59-24D94F26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2425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「診療実績データ」×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「人口推計を活用」[4]</a:t>
            </a:r>
          </a:p>
        </p:txBody>
      </p:sp>
      <p:sp>
        <p:nvSpPr>
          <p:cNvPr id="22" name="policy-validation-band">
            <a:extLst xmlns:a="http://schemas.openxmlformats.org/drawingml/2006/main">
              <a:ext uri="{FF2B5EF4-FFF2-40B4-BE49-F238E27FC236}">
                <a16:creationId xmlns:a16="http://schemas.microsoft.com/office/drawing/2014/main" id="{E86EFBE1-BC4C-4B96-9637-E9D7850C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10858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7FC"/>
          </a:solidFill>
          <a:ln xmlns:a="http://schemas.openxmlformats.org/drawingml/2006/main" w="9525">
            <a:solidFill>
              <a:srgbClr val="18A8E0"/>
            </a:solidFill>
            <a:prstDash val="solid"/>
          </a:ln>
        </p:spPr>
      </p:sp>
      <p:sp>
        <p:nvSpPr>
          <p:cNvPr id="23" name="policy-validation-text">
            <a:extLst xmlns:a="http://schemas.openxmlformats.org/drawingml/2006/main">
              <a:ext uri="{FF2B5EF4-FFF2-40B4-BE49-F238E27FC236}">
                <a16:creationId xmlns:a16="http://schemas.microsoft.com/office/drawing/2014/main" id="{3A356E00-890E-4DC7-B8D8-008C27BC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87FB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087FB4"/>
                </a:solidFill>
                <a:latin typeface="Yu Gothic"/>
                <a:ea typeface="Yu Gothic"/>
                <a:cs typeface="Yu Gothic"/>
              </a:rPr>
              <a:t>データがある。予測業務がある。政策判断に使う。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87FB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087FB4"/>
                </a:solidFill>
                <a:latin typeface="Yu Gothic"/>
                <a:ea typeface="Yu Gothic"/>
                <a:cs typeface="Yu Gothic"/>
              </a:rPr>
              <a:t>外部支援の余地がある。</a:t>
            </a:r>
          </a:p>
        </p:txBody>
      </p:sp>
      <p:sp>
        <p:nvSpPr>
          <p:cNvPr id="2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F4784F32-7323-40DB-AF2A-2B47A0B2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[1] 厚労省『2040年に向けた地域医療構想』　[2]『令和7年度予算概算要求』</a:t>
            </a:r>
          </a:p>
          <a:p xmlns:a="http://schemas.openxmlformats.org/drawingml/2006/main">
            <a:pPr algn="l">
              <a:buNone/>
              <a:defRPr sz="825" b="0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[3]『データ分析チーム構築支援事業実施要綱』　[4]『地域医療構想・医療計画等検討会資料』</a:t>
            </a:r>
          </a:p>
        </p:txBody>
      </p:sp>
    </p:spTree>
    <p:extLst>
      <p:ext uri="{BB962C8B-B14F-4D97-AF65-F5344CB8AC3E}">
        <p14:creationId xmlns:p14="http://schemas.microsoft.com/office/powerpoint/2010/main" val="20808170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ection-6">
            <a:extLst xmlns:a="http://schemas.openxmlformats.org/drawingml/2006/main">
              <a:ext uri="{FF2B5EF4-FFF2-40B4-BE49-F238E27FC236}">
                <a16:creationId xmlns:a16="http://schemas.microsoft.com/office/drawing/2014/main" id="{9DCEFB39-2578-43C7-A23D-1E96AA4E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87FB4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087FB4"/>
                </a:solidFill>
                <a:latin typeface="Yu Gothic"/>
                <a:ea typeface="Yu Gothic"/>
                <a:cs typeface="Yu Gothic"/>
              </a:rPr>
              <a:t>05｜具体サービスと横展開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64206174-E5BA-4E35-A719-5673CB8B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地域医療需要の将来予測・政策シナリオ分析支援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A95D96A6-70DF-4B2F-90A2-B559BDDF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4" name="header-rule-6">
            <a:extLst xmlns:a="http://schemas.openxmlformats.org/drawingml/2006/main">
              <a:ext uri="{FF2B5EF4-FFF2-40B4-BE49-F238E27FC236}">
                <a16:creationId xmlns:a16="http://schemas.microsoft.com/office/drawing/2014/main" id="{67BEC34A-266E-4B78-AFD9-C60FD6D3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5" name="service-thesis">
            <a:extLst xmlns:a="http://schemas.openxmlformats.org/drawingml/2006/main">
              <a:ext uri="{FF2B5EF4-FFF2-40B4-BE49-F238E27FC236}">
                <a16:creationId xmlns:a16="http://schemas.microsoft.com/office/drawing/2014/main" id="{A7601F7C-77F5-4D23-97FD-E205429F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5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87FB4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087FB4"/>
                </a:solidFill>
                <a:latin typeface="Yu Gothic"/>
                <a:ea typeface="Yu Gothic"/>
                <a:cs typeface="Yu Gothic"/>
              </a:rPr>
              <a:t>AIモデルではなく、予測を行政の意思決定につなげる</a:t>
            </a:r>
          </a:p>
        </p:txBody>
      </p:sp>
      <p:sp>
        <p:nvSpPr>
          <p:cNvPr id="6" name="process-arrow-0">
            <a:extLst xmlns:a="http://schemas.openxmlformats.org/drawingml/2006/main">
              <a:ext uri="{FF2B5EF4-FFF2-40B4-BE49-F238E27FC236}">
                <a16:creationId xmlns:a16="http://schemas.microsoft.com/office/drawing/2014/main" id="{A4AE8C4E-04EC-45D8-AACC-24D7E621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7655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cess-arrow-1">
            <a:extLst xmlns:a="http://schemas.openxmlformats.org/drawingml/2006/main">
              <a:ext uri="{FF2B5EF4-FFF2-40B4-BE49-F238E27FC236}">
                <a16:creationId xmlns:a16="http://schemas.microsoft.com/office/drawing/2014/main" id="{7E6B2AF8-98FB-4DD1-B0CA-0676ABFE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7655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cess-arrow-2">
            <a:extLst xmlns:a="http://schemas.openxmlformats.org/drawingml/2006/main">
              <a:ext uri="{FF2B5EF4-FFF2-40B4-BE49-F238E27FC236}">
                <a16:creationId xmlns:a16="http://schemas.microsoft.com/office/drawing/2014/main" id="{E64CB896-8BB6-42C3-8FBF-9DFF05A4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7655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cess-arrow-3">
            <a:extLst xmlns:a="http://schemas.openxmlformats.org/drawingml/2006/main">
              <a:ext uri="{FF2B5EF4-FFF2-40B4-BE49-F238E27FC236}">
                <a16:creationId xmlns:a16="http://schemas.microsoft.com/office/drawing/2014/main" id="{C2DEDA00-2486-4A2A-89B5-F26BBF5B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7655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box-0">
            <a:extLst xmlns:a="http://schemas.openxmlformats.org/drawingml/2006/main">
              <a:ext uri="{FF2B5EF4-FFF2-40B4-BE49-F238E27FC236}">
                <a16:creationId xmlns:a16="http://schemas.microsoft.com/office/drawing/2014/main" id="{47566DF7-4738-488B-B9D5-30C43714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1943100" cy="20574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A8E0"/>
            </a:solidFill>
            <a:prstDash val="solid"/>
          </a:ln>
        </p:spPr>
      </p:sp>
      <p:sp>
        <p:nvSpPr>
          <p:cNvPr id="11" name="step-num-0">
            <a:extLst xmlns:a="http://schemas.openxmlformats.org/drawingml/2006/main">
              <a:ext uri="{FF2B5EF4-FFF2-40B4-BE49-F238E27FC236}">
                <a16:creationId xmlns:a16="http://schemas.microsoft.com/office/drawing/2014/main" id="{4D1B32BD-B7BF-4BFD-8179-FD0D3629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7FB4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087FB4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2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4335919A-9C97-4B77-8CFD-1F0C7B64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現状分析</a:t>
            </a:r>
          </a:p>
        </p:txBody>
      </p:sp>
      <p:sp>
        <p:nvSpPr>
          <p:cNvPr id="13" name="step-body-0">
            <a:extLst xmlns:a="http://schemas.openxmlformats.org/drawingml/2006/main">
              <a:ext uri="{FF2B5EF4-FFF2-40B4-BE49-F238E27FC236}">
                <a16:creationId xmlns:a16="http://schemas.microsoft.com/office/drawing/2014/main" id="{3076D36E-8C8C-4225-8E28-BE64E525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患者・人口・病床・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医療人材を統合</a:t>
            </a:r>
          </a:p>
        </p:txBody>
      </p:sp>
      <p:sp>
        <p:nvSpPr>
          <p:cNvPr id="14" name="step-box-1">
            <a:extLst xmlns:a="http://schemas.openxmlformats.org/drawingml/2006/main">
              <a:ext uri="{FF2B5EF4-FFF2-40B4-BE49-F238E27FC236}">
                <a16:creationId xmlns:a16="http://schemas.microsoft.com/office/drawing/2014/main" id="{0E29117B-9E54-48B5-B30A-DE98A54C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133600"/>
            <a:ext cx="1943100" cy="20574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A8E0"/>
            </a:solidFill>
            <a:prstDash val="solid"/>
          </a:ln>
        </p:spPr>
      </p:sp>
      <p:sp>
        <p:nvSpPr>
          <p:cNvPr id="15" name="step-num-1">
            <a:extLst xmlns:a="http://schemas.openxmlformats.org/drawingml/2006/main">
              <a:ext uri="{FF2B5EF4-FFF2-40B4-BE49-F238E27FC236}">
                <a16:creationId xmlns:a16="http://schemas.microsoft.com/office/drawing/2014/main" id="{7A79E173-F39E-41EE-95FD-B024E8B4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24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7FB4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087FB4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6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4E93D564-59FF-4D89-9A94-E86FEAB2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43200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将来需要予測</a:t>
            </a:r>
          </a:p>
        </p:txBody>
      </p:sp>
      <p:sp>
        <p:nvSpPr>
          <p:cNvPr id="17" name="step-body-1">
            <a:extLst xmlns:a="http://schemas.openxmlformats.org/drawingml/2006/main">
              <a:ext uri="{FF2B5EF4-FFF2-40B4-BE49-F238E27FC236}">
                <a16:creationId xmlns:a16="http://schemas.microsoft.com/office/drawing/2014/main" id="{D54BD678-CC34-4B1A-9CB0-9C3D4004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290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2030年・2040年の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医療需要を推計</a:t>
            </a:r>
          </a:p>
        </p:txBody>
      </p:sp>
      <p:sp>
        <p:nvSpPr>
          <p:cNvPr id="18" name="step-box-2">
            <a:extLst xmlns:a="http://schemas.openxmlformats.org/drawingml/2006/main">
              <a:ext uri="{FF2B5EF4-FFF2-40B4-BE49-F238E27FC236}">
                <a16:creationId xmlns:a16="http://schemas.microsoft.com/office/drawing/2014/main" id="{64DDEA6A-F54F-4E4D-BD10-7542FCF1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33600"/>
            <a:ext cx="1943100" cy="20574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A8E0"/>
            </a:solidFill>
            <a:prstDash val="solid"/>
          </a:ln>
        </p:spPr>
      </p:sp>
      <p:sp>
        <p:nvSpPr>
          <p:cNvPr id="19" name="step-num-2">
            <a:extLst xmlns:a="http://schemas.openxmlformats.org/drawingml/2006/main">
              <a:ext uri="{FF2B5EF4-FFF2-40B4-BE49-F238E27FC236}">
                <a16:creationId xmlns:a16="http://schemas.microsoft.com/office/drawing/2014/main" id="{CCA71225-EA77-4F92-94EC-B19EEA54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24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7FB4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087FB4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20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57A26206-33D6-4F31-8D3F-F2159403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43200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シナリオ比較</a:t>
            </a:r>
          </a:p>
        </p:txBody>
      </p:sp>
      <p:sp>
        <p:nvSpPr>
          <p:cNvPr id="21" name="step-body-2">
            <a:extLst xmlns:a="http://schemas.openxmlformats.org/drawingml/2006/main">
              <a:ext uri="{FF2B5EF4-FFF2-40B4-BE49-F238E27FC236}">
                <a16:creationId xmlns:a16="http://schemas.microsoft.com/office/drawing/2014/main" id="{1A669020-93FE-4B44-AB91-F753C69B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290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病床再編・機能分化・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在宅移行を比較</a:t>
            </a:r>
          </a:p>
        </p:txBody>
      </p:sp>
      <p:sp>
        <p:nvSpPr>
          <p:cNvPr id="22" name="step-box-3">
            <a:extLst xmlns:a="http://schemas.openxmlformats.org/drawingml/2006/main">
              <a:ext uri="{FF2B5EF4-FFF2-40B4-BE49-F238E27FC236}">
                <a16:creationId xmlns:a16="http://schemas.microsoft.com/office/drawing/2014/main" id="{50AA656E-696B-49D1-8FA8-A9F4AA3F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33600"/>
            <a:ext cx="1943100" cy="20574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3" name="step-num-3">
            <a:extLst xmlns:a="http://schemas.openxmlformats.org/drawingml/2006/main">
              <a:ext uri="{FF2B5EF4-FFF2-40B4-BE49-F238E27FC236}">
                <a16:creationId xmlns:a16="http://schemas.microsoft.com/office/drawing/2014/main" id="{C028A561-7CA5-488F-8D04-9A011AB1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24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4D9F7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84D9F7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4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B76CAEAB-6989-4443-8AD7-69237576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43200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意思決定支援</a:t>
            </a:r>
          </a:p>
        </p:txBody>
      </p:sp>
      <p:sp>
        <p:nvSpPr>
          <p:cNvPr id="25" name="step-body-3">
            <a:extLst xmlns:a="http://schemas.openxmlformats.org/drawingml/2006/main">
              <a:ext uri="{FF2B5EF4-FFF2-40B4-BE49-F238E27FC236}">
                <a16:creationId xmlns:a16="http://schemas.microsoft.com/office/drawing/2014/main" id="{2D1AACC0-3DAC-49C9-B084-C316DEDE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290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施策のメリット・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リスクを整理</a:t>
            </a:r>
          </a:p>
        </p:txBody>
      </p:sp>
      <p:sp>
        <p:nvSpPr>
          <p:cNvPr id="26" name="step-box-4">
            <a:extLst xmlns:a="http://schemas.openxmlformats.org/drawingml/2006/main">
              <a:ext uri="{FF2B5EF4-FFF2-40B4-BE49-F238E27FC236}">
                <a16:creationId xmlns:a16="http://schemas.microsoft.com/office/drawing/2014/main" id="{C8F29E49-F7C4-42CF-8321-54C7D800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33600"/>
            <a:ext cx="1943100" cy="20574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AF7FC"/>
          </a:solidFill>
          <a:ln xmlns:a="http://schemas.openxmlformats.org/drawingml/2006/main" w="9525">
            <a:solidFill>
              <a:srgbClr val="18A8E0"/>
            </a:solidFill>
            <a:prstDash val="solid"/>
          </a:ln>
        </p:spPr>
      </p:sp>
      <p:sp>
        <p:nvSpPr>
          <p:cNvPr id="27" name="step-num-4">
            <a:extLst xmlns:a="http://schemas.openxmlformats.org/drawingml/2006/main">
              <a:ext uri="{FF2B5EF4-FFF2-40B4-BE49-F238E27FC236}">
                <a16:creationId xmlns:a16="http://schemas.microsoft.com/office/drawing/2014/main" id="{1A0D4D2C-0220-41F8-8AB9-B4AA650D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24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7FB4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087FB4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8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F02E9184-3044-4E7E-948E-F90F844D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43200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継続モニタリング</a:t>
            </a:r>
          </a:p>
        </p:txBody>
      </p:sp>
      <p:sp>
        <p:nvSpPr>
          <p:cNvPr id="29" name="step-body-4">
            <a:extLst xmlns:a="http://schemas.openxmlformats.org/drawingml/2006/main">
              <a:ext uri="{FF2B5EF4-FFF2-40B4-BE49-F238E27FC236}">
                <a16:creationId xmlns:a16="http://schemas.microsoft.com/office/drawing/2014/main" id="{DEA047AE-C1FE-48CC-BE52-992FB1D5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実績と予測の乖離を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確認し計画を更新</a:t>
            </a:r>
          </a:p>
        </p:txBody>
      </p:sp>
      <p:sp>
        <p:nvSpPr>
          <p:cNvPr id="30" name="fit-divider">
            <a:extLst xmlns:a="http://schemas.openxmlformats.org/drawingml/2006/main">
              <a:ext uri="{FF2B5EF4-FFF2-40B4-BE49-F238E27FC236}">
                <a16:creationId xmlns:a16="http://schemas.microsoft.com/office/drawing/2014/main" id="{D0E07992-8278-4ADE-AA21-B1530C1E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11258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31" name="fit-label">
            <a:extLst xmlns:a="http://schemas.openxmlformats.org/drawingml/2006/main">
              <a:ext uri="{FF2B5EF4-FFF2-40B4-BE49-F238E27FC236}">
                <a16:creationId xmlns:a16="http://schemas.microsoft.com/office/drawing/2014/main" id="{B59C050E-CEB4-42AB-8DC8-9E09B979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38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86574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586574"/>
                </a:solidFill>
                <a:latin typeface="Yu Gothic"/>
                <a:ea typeface="Yu Gothic"/>
                <a:cs typeface="Yu Gothic"/>
              </a:rPr>
              <a:t>AIUの強みと実現可能性</a:t>
            </a:r>
          </a:p>
        </p:txBody>
      </p:sp>
      <p:sp>
        <p:nvSpPr>
          <p:cNvPr id="32" name="fit-chain">
            <a:extLst xmlns:a="http://schemas.openxmlformats.org/drawingml/2006/main">
              <a:ext uri="{FF2B5EF4-FFF2-40B4-BE49-F238E27FC236}">
                <a16:creationId xmlns:a16="http://schemas.microsoft.com/office/drawing/2014/main" id="{4B17AD01-32B4-4154-9BB9-37AE2759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5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政策・施策立案支援 × データ分析　＋　インテリジェンス基盤</a:t>
            </a:r>
          </a:p>
        </p:txBody>
      </p:sp>
      <p:sp>
        <p:nvSpPr>
          <p:cNvPr id="33" name="closing-band">
            <a:extLst xmlns:a="http://schemas.openxmlformats.org/drawingml/2006/main">
              <a:ext uri="{FF2B5EF4-FFF2-40B4-BE49-F238E27FC236}">
                <a16:creationId xmlns:a16="http://schemas.microsoft.com/office/drawing/2014/main" id="{58F22B43-27C7-4FFE-A31C-A21C12AF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12585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losing-text">
            <a:extLst xmlns:a="http://schemas.openxmlformats.org/drawingml/2006/main">
              <a:ext uri="{FF2B5EF4-FFF2-40B4-BE49-F238E27FC236}">
                <a16:creationId xmlns:a16="http://schemas.microsoft.com/office/drawing/2014/main" id="{BB6EAE74-7C29-454D-B286-4340FAE1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801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地域医療で方法論を確立 → 国交省の交通・インフラ需要へ横展開</a:t>
            </a:r>
          </a:p>
        </p:txBody>
      </p:sp>
    </p:spTree>
    <p:extLst>
      <p:ext uri="{BB962C8B-B14F-4D97-AF65-F5344CB8AC3E}">
        <p14:creationId xmlns:p14="http://schemas.microsoft.com/office/powerpoint/2010/main" val="19304931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2026-08-27T23:26:35.1540000Z</dcterms:created>
  <dcterms:modified xsi:type="dcterms:W3CDTF">2026-08-27T23:26:35.1540000Z</dcterms:modified>
</coreProperties>
</file>