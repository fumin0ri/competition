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doughnutChart>
        <c:varyColors val="1"/>
        <c:ser>
          <c:idx val="0"/>
          <c:order val="0"/>
          <c:tx>
            <c:v>構成比</c:v>
          </c:tx>
          <c:spPr>
            <a:solidFill>
              <a:srgbClr val="18A8E0"/>
            </a:solidFill>
          </c:spPr>
          <c:dPt>
            <c:idx val="0"/>
            <c:bubble3D val="0"/>
            <c:extLst>
              <c:ext xmlns:c16="http://schemas.microsoft.com/office/drawing/2014/chart" uri="{C3380CC4-5D6E-409C-BE32-E72D297353CC}">
                <c16:uniqueId val="{00000001-7491-4331-B383-15B7B4C30124}"/>
              </c:ext>
            </c:extLst>
          </c:dPt>
          <c:dPt>
            <c:idx val="1"/>
            <c:bubble3D val="0"/>
            <c:spPr>
              <a:solidFill>
                <a:srgbClr val="DDE2E8"/>
              </a:solidFill>
            </c:spPr>
            <c:extLst>
              <c:ext xmlns:c16="http://schemas.microsoft.com/office/drawing/2014/chart" uri="{C3380CC4-5D6E-409C-BE32-E72D297353CC}">
                <c16:uniqueId val="{00000003-7491-4331-B383-15B7B4C30124}"/>
              </c:ext>
            </c:extLst>
          </c:dPt>
          <c:dLbls>
            <c:spPr>
              <a:noFill/>
              <a:ln>
                <a:noFill/>
              </a:ln>
              <a:effectLst/>
            </c:spPr>
            <c:txPr>
              <a:bodyPr anchorCtr="1"/>
              <a:lstStyle/>
              <a:p>
                <a:pPr>
                  <a:defRPr sz="1200" b="1">
                    <a:solidFill>
                      <a:srgbClr val="111827"/>
                    </a:solidFill>
                  </a:defRPr>
                </a:pPr>
                <a:endParaRPr lang="ja-JP"/>
              </a:p>
            </c:txPr>
            <c:showLegendKey val="0"/>
            <c:showVal val="0"/>
            <c:showCatName val="0"/>
            <c:showSerName val="0"/>
            <c:showPercent val="1"/>
            <c:showBubbleSize val="0"/>
            <c:showLeaderLines val="0"/>
            <c:extLst>
              <c:ext xmlns:c15="http://schemas.microsoft.com/office/drawing/2012/chart" uri="{CE6537A1-D6FC-4f65-9D91-7224C49458BB}"/>
            </c:extLst>
          </c:dLbls>
          <c:cat>
            <c:strLit>
              <c:ptCount val="2"/>
              <c:pt idx="0">
                <c:v>D05 医療・健康</c:v>
              </c:pt>
              <c:pt idx="1">
                <c:v>その他</c:v>
              </c:pt>
            </c:strLit>
          </c:cat>
          <c:val>
            <c:numLit>
              <c:formatCode>General</c:formatCode>
              <c:ptCount val="2"/>
              <c:pt idx="0">
                <c:v>30</c:v>
              </c:pt>
              <c:pt idx="1">
                <c:v>70</c:v>
              </c:pt>
            </c:numLit>
          </c:val>
          <c:extLst>
            <c:ext xmlns:c16="http://schemas.microsoft.com/office/drawing/2014/chart" uri="{C3380CC4-5D6E-409C-BE32-E72D297353CC}">
              <c16:uniqueId val="{00000004-7491-4331-B383-15B7B4C30124}"/>
            </c:ext>
          </c:extLst>
        </c:ser>
        <c:dLbls>
          <c:showLegendKey val="0"/>
          <c:showVal val="0"/>
          <c:showCatName val="0"/>
          <c:showSerName val="0"/>
          <c:showPercent val="1"/>
          <c:showBubbleSize val="0"/>
          <c:showLeaderLines val="0"/>
        </c:dLbls>
        <c:firstSliceAng val="300"/>
        <c:holeSize val="64"/>
      </c:doughnutChart>
      <c:spPr>
        <a:noFill/>
        <a:ln w="0">
          <a:solidFill>
            <a:srgbClr val="FFFFFF"/>
          </a:solidFill>
          <a:prstDash val="solid"/>
        </a:ln>
      </c:spPr>
    </c:plotArea>
    <c:legend>
      <c:legendPos val="b"/>
      <c:overlay val="0"/>
      <c:txPr>
        <a:bodyPr anchorCtr="1"/>
        <a:lstStyle/>
        <a:p>
          <a:pPr>
            <a:defRPr sz="1125">
              <a:solidFill>
                <a:srgbClr val="586574"/>
              </a:solidFill>
            </a:defRPr>
          </a:pPr>
          <a:endParaRPr lang="ja-JP"/>
        </a:p>
      </c:txPr>
    </c:legend>
    <c:plotVisOnly val="1"/>
    <c:dispBlanksAs val="zero"/>
    <c:showDLblsOverMax val="1"/>
  </c:chart>
  <c:spPr>
    <a:solidFill>
      <a:srgbClr val="FFFFFF"/>
    </a:solidFill>
    <a:ln w="0">
      <a:solidFill>
        <a:srgbClr val="FFFFFF"/>
      </a:solid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bar"/>
        <c:grouping val="percentStacked"/>
        <c:varyColors val="0"/>
        <c:ser>
          <c:idx val="0"/>
          <c:order val="0"/>
          <c:tx>
            <c:v>厚労省＋国交省</c:v>
          </c:tx>
          <c:spPr>
            <a:solidFill>
              <a:srgbClr val="18A8E0"/>
            </a:solidFill>
          </c:spPr>
          <c:invertIfNegative val="1"/>
          <c:cat>
            <c:strLit>
              <c:ptCount val="1"/>
              <c:pt idx="0">
                <c:v>A01 × U06 の事業</c:v>
              </c:pt>
            </c:strLit>
          </c:cat>
          <c:val>
            <c:numLit>
              <c:formatCode>General</c:formatCode>
              <c:ptCount val="1"/>
              <c:pt idx="0">
                <c:v>50</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EE7-4E57-A63F-26DD10E03693}"/>
            </c:ext>
          </c:extLst>
        </c:ser>
        <c:ser>
          <c:idx val="1"/>
          <c:order val="1"/>
          <c:tx>
            <c:v>その他</c:v>
          </c:tx>
          <c:spPr>
            <a:solidFill>
              <a:srgbClr val="DDE2E8"/>
            </a:solidFill>
          </c:spPr>
          <c:invertIfNegative val="1"/>
          <c:cat>
            <c:strLit>
              <c:ptCount val="1"/>
              <c:pt idx="0">
                <c:v>A01 × U06 の事業</c:v>
              </c:pt>
            </c:strLit>
          </c:cat>
          <c:val>
            <c:numLit>
              <c:formatCode>General</c:formatCode>
              <c:ptCount val="1"/>
              <c:pt idx="0">
                <c:v>50</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FEE7-4E57-A63F-26DD10E03693}"/>
            </c:ext>
          </c:extLst>
        </c:ser>
        <c:dLbls>
          <c:showLegendKey val="0"/>
          <c:showVal val="0"/>
          <c:showCatName val="0"/>
          <c:showSerName val="0"/>
          <c:showPercent val="0"/>
          <c:showBubbleSize val="0"/>
        </c:dLbls>
        <c:gapWidth val="60"/>
        <c:overlap val="10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ja-JP"/>
          </a:p>
        </c:txPr>
        <c:crossAx val="48672768"/>
        <c:crosses val="autoZero"/>
        <c:auto val="1"/>
        <c:lblAlgn val="ctr"/>
        <c:lblOffset val="100"/>
        <c:noMultiLvlLbl val="1"/>
      </c:catAx>
      <c:valAx>
        <c:axId val="48672768"/>
        <c:scaling>
          <c:orientation val="minMax"/>
        </c:scaling>
        <c:delete val="1"/>
        <c:axPos val="b"/>
        <c:numFmt formatCode="0%" sourceLinked="1"/>
        <c:majorTickMark val="none"/>
        <c:minorTickMark val="none"/>
        <c:tickLblPos val="nextTo"/>
        <c:crossAx val="48650112"/>
        <c:crosses val="autoZero"/>
        <c:crossBetween val="between"/>
      </c:valAx>
      <c:spPr>
        <a:noFill/>
        <a:ln w="0">
          <a:solidFill>
            <a:srgbClr val="FFFFFF"/>
          </a:solidFill>
          <a:prstDash val="solid"/>
        </a:ln>
      </c:spPr>
    </c:plotArea>
    <c:legend>
      <c:legendPos val="b"/>
      <c:overlay val="0"/>
      <c:txPr>
        <a:bodyPr anchorCtr="1"/>
        <a:lstStyle/>
        <a:p>
          <a:pPr>
            <a:defRPr sz="1125">
              <a:solidFill>
                <a:srgbClr val="586574"/>
              </a:solidFill>
            </a:defRPr>
          </a:pPr>
          <a:endParaRPr lang="ja-JP"/>
        </a:p>
      </c:txPr>
    </c:legend>
    <c:plotVisOnly val="1"/>
    <c:dispBlanksAs val="zero"/>
    <c:showDLblsOverMax val="1"/>
  </c:chart>
  <c:spPr>
    <a:solidFill>
      <a:srgbClr val="FFFFFF"/>
    </a:solidFill>
    <a:ln w="0">
      <a:solidFill>
        <a:srgbClr val="FFFFFF"/>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私たちからの提案は、AIUが官公庁向けに重点的に取り組む領域として、厚生労働省の医療・健康領域における『医療需要の分析・将来予測による政策意思決定支援』に注力するというものです。人口動態や患者数、病床、医療人材などを使って将来需要を予測し、地域医療をどう設計するかという政策判断まで支援します。今回のポイントは、AIUの得意領域から逆算したのではなく、行政事業の実データからAI活用機会を探索した結果として、この領域にたどり着いたことです。</a:t>
            </a:r>
          </a:p>
          <a:p>
            <a:endParaRPr/>
          </a:p>
          <a:p>
            <a:r>
              <a:t>[Sources]</a:t>
            </a:r>
          </a:p>
          <a:p>
            <a:r>
              <a:t>- User-provided overall logic and five-minute script, 2026-08-28.</a:t>
            </a:r>
          </a:p>
          <a:p>
            <a:r>
              <a:t>- Hero visual generated with OpenAI image generation for this deck, 2026-08-28.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まず、内閣府案件で扱った行政事業レビューデータを活用しました。行政事業の文章情報をLLMに入力し、それぞれの事業を政策領域、行政業務、AIユースケースの3軸で分類します。さらに、その業務に一般的にどの程度AIを適用できるかも評価しました。ここではAIU Fitは使わず、行政側に実際に存在するAI活用機会を客観的に探索しています。</a:t>
            </a:r>
          </a:p>
          <a:p>
            <a:endParaRPr/>
          </a:p>
          <a:p>
            <a:r>
              <a:t>[Sources]</a:t>
            </a:r>
          </a:p>
          <a:p>
            <a:r>
              <a:t>- User-provided overall logic and five-minute script, 2026-08-28.</a:t>
            </a:r>
          </a:p>
          <a:p>
            <a:r>
              <a:t>- competition repository: llm_features.py taxonomy and AI applicability logic.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行政業務とAIユースケースの組み合わせを見ると、A01系とA13系に大きな機会が確認できました。ただしA13は研究開発や実証など技術開発寄りです。AIコンサルティング本部が官公庁ビジネスとして横展開する観点から、A01、調査・情報処理・分析に着目しました。A01の中ではU01、U02、U06が有力です。AI適用密度、需要の継続性、共通業務の実在性で比較した結果、最も有望だったのがU06、予測・将来推計です。</a:t>
            </a:r>
          </a:p>
          <a:p>
            <a:endParaRPr/>
          </a:p>
          <a:p>
            <a:r>
              <a:t>[Sources]</a:t>
            </a:r>
          </a:p>
          <a:p>
            <a:r>
              <a:t>- User-provided analysis and five-minute script, 2026-08-28.</a:t>
            </a:r>
          </a:p>
          <a:p>
            <a:r>
              <a:t>- No precise comparative scores were supplied; this slide presents the stated qualitative decision criteria 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次に、A01×U06が具体的にどこに存在しているかを確認しました。政策領域別では医療・健康領域が約3割で最大です。省庁別では厚生労働省が最も多く、国土交通省が次点で、この2省でおよそ半数を占めています。そこで最初の攻略市場として、厚生労働省・医療健康領域を選定しました。狙いは医療専用AIを作ることではなく、予測・将来推計を政策判断につなげるサービスを、需要の厚い医療領域で確立することです。</a:t>
            </a:r>
          </a:p>
          <a:p>
            <a:endParaRPr/>
          </a:p>
          <a:p>
            <a:r>
              <a:t>[Sources]</a:t>
            </a:r>
          </a:p>
          <a:p>
            <a:r>
              <a:t>- User-provided analysis and five-minute script, 2026-08-28.</a:t>
            </a:r>
          </a:p>
          <a:p>
            <a:r>
              <a:t>- Figures are shown only at the precision supplied by the user: about 30% and about half.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までの分析は過去の行政事業レビューデータに基づいています。そこで将来も需要が続くかを厚生労働省の一次情報から確認しました。2040年に向けた地域医療構想では、人口構造や医療需要の変化を踏まえて必要病床数や医療提供体制を検討します。データ収集・分析には令和7年度4.4億円の概算要求が示され、都道府県の分析・政策立案体制を支援する事業は外部委託も可能です。検討会資料では、人口推計と診療実績を使った将来医療需要の推計が具体化されています。過去データの示唆は今後の政策方向性とも整合し、継続需要が期待できます。</a:t>
            </a:r>
          </a:p>
          <a:p>
            <a:endParaRPr/>
          </a:p>
          <a:p>
            <a:r>
              <a:t>[Sources]</a:t>
            </a:r>
          </a:p>
          <a:p>
            <a:r>
              <a:t>- MHLW, 2040年に向けた地域医療構想: https://www.mhlw.go.jp/stf/seisakunitsuite/bunya/0000080850_00014.html</a:t>
            </a:r>
          </a:p>
          <a:p>
            <a:r>
              <a:t>- MHLW, 地域医療提供体制データ分析チーム構築支援事業実施要綱: https://www.mhlw.go.jp/content/10800000/001621897.pdf</a:t>
            </a:r>
          </a:p>
          <a:p>
            <a:r>
              <a:t>- MHLW, 令和7年度厚生労働省予算概算要求の主要事項: https://www.mhlw.go.jp/content/12602000/001713088.pdf</a:t>
            </a:r>
          </a:p>
          <a:p>
            <a:r>
              <a:t>- MHLW, 令和8年1月16日 地域医療構想及び医療計画等に関する検討会資料: https://www.mhlw.go.jp/content/10800000/001664433.pdf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以上を踏まえ、地域医療需要の将来予測・政策シナリオ分析支援を提案します。患者数、人口、病床、医療人材を分析し、2030年、2040年の需要を予測します。その上で、現状維持、病床機能再編、在宅移行など複数の政策シナリオを比較します。重要なのは予測モデルだけでなく、地域医療をどう再設計するかという意思決定まで支援することです。この領域はAIUの政策立案支援、データ分析、AIモデル開発、PoC、業務実装と親和性があります。既存インテリジェンス基盤も、差別化と実現可能性を補強する要素として活用できます。</a:t>
            </a:r>
          </a:p>
          <a:p>
            <a:endParaRPr/>
          </a:p>
          <a:p>
            <a:r>
              <a:t>[Sources]</a:t>
            </a:r>
          </a:p>
          <a:p>
            <a:r>
              <a:t>- User-provided proposed service scope and AIU capability mapping, 2026-08-28.</a:t>
            </a:r>
          </a:p>
          <a:p>
            <a:r>
              <a:t>- AIU intelligence platform is treated as a possible implementation enabler, not as evidence used to select the market.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cover-kicker">
            <a:extLst>
              <a:ext uri="{FF2B5EF4-FFF2-40B4-BE49-F238E27FC236}">
                <a16:creationId xmlns:a16="http://schemas.microsoft.com/office/drawing/2014/main" id="{10A4E4B2-A3E4-4925-8C52-B8FD6AABD7D0}"/>
              </a:ext>
            </a:extLst>
          </p:cNvPr>
          <p:cNvSpPr>
            <a:spLocks noGrp="1"/>
          </p:cNvSpPr>
          <p:nvPr/>
        </p:nvSpPr>
        <p:spPr>
          <a:xfrm>
            <a:off x="457200" y="400050"/>
            <a:ext cx="4000500" cy="247650"/>
          </a:xfrm>
          <a:prstGeom prst="rect">
            <a:avLst/>
          </a:prstGeom>
          <a:noFill/>
          <a:ln w="0">
            <a:noFill/>
            <a:prstDash val="solid"/>
          </a:ln>
        </p:spPr>
        <p:txBody>
          <a:bodyPr lIns="0" tIns="0" rIns="0" bIns="0" anchor="t">
            <a:normAutofit/>
          </a:bodyPr>
          <a:lstStyle/>
          <a:p>
            <a:pPr algn="l">
              <a:defRPr sz="1350" b="1">
                <a:solidFill>
                  <a:srgbClr val="087FB4"/>
                </a:solidFill>
                <a:latin typeface="Yu Gothic"/>
                <a:ea typeface="Yu Gothic"/>
                <a:cs typeface="Yu Gothic"/>
              </a:defRPr>
            </a:pPr>
            <a:r>
              <a:rPr sz="1350" b="1">
                <a:solidFill>
                  <a:srgbClr val="087FB4"/>
                </a:solidFill>
                <a:latin typeface="Yu Gothic"/>
                <a:ea typeface="Yu Gothic"/>
                <a:cs typeface="Yu Gothic"/>
              </a:rPr>
              <a:t>AIU 官公庁重点領域提案</a:t>
            </a:r>
          </a:p>
        </p:txBody>
      </p:sp>
      <p:sp>
        <p:nvSpPr>
          <p:cNvPr id="2" name="cover-title">
            <a:extLst>
              <a:ext uri="{FF2B5EF4-FFF2-40B4-BE49-F238E27FC236}">
                <a16:creationId xmlns:a16="http://schemas.microsoft.com/office/drawing/2014/main" id="{AC9B994D-472D-40A7-9278-A1403D35E4DC}"/>
              </a:ext>
            </a:extLst>
          </p:cNvPr>
          <p:cNvSpPr>
            <a:spLocks noGrp="1"/>
          </p:cNvSpPr>
          <p:nvPr/>
        </p:nvSpPr>
        <p:spPr>
          <a:xfrm>
            <a:off x="457200" y="1028700"/>
            <a:ext cx="5524500" cy="2362200"/>
          </a:xfrm>
          <a:prstGeom prst="rect">
            <a:avLst/>
          </a:prstGeom>
          <a:noFill/>
          <a:ln w="0">
            <a:noFill/>
            <a:prstDash val="solid"/>
          </a:ln>
        </p:spPr>
        <p:txBody>
          <a:bodyPr lIns="0" tIns="0" rIns="0" bIns="0" anchor="t">
            <a:noAutofit/>
          </a:bodyPr>
          <a:lstStyle/>
          <a:p>
            <a:pPr algn="l">
              <a:defRPr sz="3750" b="1">
                <a:solidFill>
                  <a:srgbClr val="111827"/>
                </a:solidFill>
                <a:latin typeface="Yu Gothic"/>
                <a:ea typeface="Yu Gothic"/>
                <a:cs typeface="Yu Gothic"/>
              </a:defRPr>
            </a:pPr>
            <a:r>
              <a:rPr sz="3750" b="1">
                <a:solidFill>
                  <a:srgbClr val="111827"/>
                </a:solidFill>
                <a:latin typeface="Yu Gothic"/>
                <a:ea typeface="Yu Gothic"/>
                <a:cs typeface="Yu Gothic"/>
              </a:rPr>
              <a:t>厚生労働省 × 医療・健康</a:t>
            </a:r>
          </a:p>
          <a:p>
            <a:pPr algn="l">
              <a:defRPr sz="3750" b="1">
                <a:solidFill>
                  <a:srgbClr val="111827"/>
                </a:solidFill>
                <a:latin typeface="Yu Gothic"/>
                <a:ea typeface="Yu Gothic"/>
                <a:cs typeface="Yu Gothic"/>
              </a:defRPr>
            </a:pPr>
            <a:r>
              <a:rPr sz="3750" b="1">
                <a:solidFill>
                  <a:srgbClr val="111827"/>
                </a:solidFill>
                <a:latin typeface="Yu Gothic"/>
                <a:ea typeface="Yu Gothic"/>
                <a:cs typeface="Yu Gothic"/>
              </a:rPr>
              <a:t>医療需要の将来予測で</a:t>
            </a:r>
          </a:p>
          <a:p>
            <a:pPr algn="l">
              <a:defRPr sz="3750" b="1">
                <a:solidFill>
                  <a:srgbClr val="111827"/>
                </a:solidFill>
                <a:latin typeface="Yu Gothic"/>
                <a:ea typeface="Yu Gothic"/>
                <a:cs typeface="Yu Gothic"/>
              </a:defRPr>
            </a:pPr>
            <a:r>
              <a:rPr sz="3750" b="1">
                <a:solidFill>
                  <a:srgbClr val="111827"/>
                </a:solidFill>
                <a:latin typeface="Yu Gothic"/>
                <a:ea typeface="Yu Gothic"/>
                <a:cs typeface="Yu Gothic"/>
              </a:rPr>
              <a:t>政策意思決定を支援する</a:t>
            </a:r>
          </a:p>
        </p:txBody>
      </p:sp>
      <p:sp>
        <p:nvSpPr>
          <p:cNvPr id="3" name="cover-accent-rule">
            <a:extLst>
              <a:ext uri="{FF2B5EF4-FFF2-40B4-BE49-F238E27FC236}">
                <a16:creationId xmlns:a16="http://schemas.microsoft.com/office/drawing/2014/main" id="{922D3330-3B8E-4671-B9C4-9C5E767E300D}"/>
              </a:ext>
            </a:extLst>
          </p:cNvPr>
          <p:cNvSpPr>
            <a:spLocks noGrp="1"/>
          </p:cNvSpPr>
          <p:nvPr/>
        </p:nvSpPr>
        <p:spPr>
          <a:xfrm>
            <a:off x="457200" y="3581400"/>
            <a:ext cx="800100" cy="0"/>
          </a:xfrm>
          <a:prstGeom prst="line">
            <a:avLst/>
          </a:prstGeom>
          <a:noFill/>
          <a:ln w="57150">
            <a:solidFill>
              <a:srgbClr val="18A8E0"/>
            </a:solidFill>
            <a:prstDash val="solid"/>
          </a:ln>
        </p:spPr>
        <p:txBody>
          <a:bodyPr/>
          <a:lstStyle/>
          <a:p>
            <a:endParaRPr lang="ja-JP" altLang="en-US"/>
          </a:p>
        </p:txBody>
      </p:sp>
      <p:sp>
        <p:nvSpPr>
          <p:cNvPr id="4" name="cover-subtitle">
            <a:extLst>
              <a:ext uri="{FF2B5EF4-FFF2-40B4-BE49-F238E27FC236}">
                <a16:creationId xmlns:a16="http://schemas.microsoft.com/office/drawing/2014/main" id="{FD2901BB-1E63-4694-8D3E-CF93291E11C5}"/>
              </a:ext>
            </a:extLst>
          </p:cNvPr>
          <p:cNvSpPr>
            <a:spLocks noGrp="1"/>
          </p:cNvSpPr>
          <p:nvPr/>
        </p:nvSpPr>
        <p:spPr>
          <a:xfrm>
            <a:off x="457200" y="3829050"/>
            <a:ext cx="4762500" cy="781050"/>
          </a:xfrm>
          <a:prstGeom prst="rect">
            <a:avLst/>
          </a:prstGeom>
          <a:noFill/>
          <a:ln w="0">
            <a:noFill/>
            <a:prstDash val="solid"/>
          </a:ln>
        </p:spPr>
        <p:txBody>
          <a:bodyPr lIns="0" tIns="0" rIns="0" bIns="0" anchor="t">
            <a:normAutofit/>
          </a:bodyPr>
          <a:lstStyle/>
          <a:p>
            <a:pPr algn="l">
              <a:defRPr sz="2025" b="1">
                <a:solidFill>
                  <a:srgbClr val="087FB4"/>
                </a:solidFill>
                <a:latin typeface="Yu Gothic"/>
                <a:ea typeface="Yu Gothic"/>
                <a:cs typeface="Yu Gothic"/>
              </a:defRPr>
            </a:pPr>
            <a:r>
              <a:rPr sz="2025" b="1">
                <a:solidFill>
                  <a:srgbClr val="087FB4"/>
                </a:solidFill>
                <a:latin typeface="Yu Gothic"/>
                <a:ea typeface="Yu Gothic"/>
                <a:cs typeface="Yu Gothic"/>
              </a:rPr>
              <a:t>地域医療需要の将来予測・</a:t>
            </a:r>
          </a:p>
          <a:p>
            <a:pPr algn="l">
              <a:defRPr sz="2025" b="1">
                <a:solidFill>
                  <a:srgbClr val="087FB4"/>
                </a:solidFill>
                <a:latin typeface="Yu Gothic"/>
                <a:ea typeface="Yu Gothic"/>
                <a:cs typeface="Yu Gothic"/>
              </a:defRPr>
            </a:pPr>
            <a:r>
              <a:rPr sz="2025" b="1">
                <a:solidFill>
                  <a:srgbClr val="087FB4"/>
                </a:solidFill>
                <a:latin typeface="Yu Gothic"/>
                <a:ea typeface="Yu Gothic"/>
                <a:cs typeface="Yu Gothic"/>
              </a:rPr>
              <a:t>政策シナリオ分析支援</a:t>
            </a:r>
          </a:p>
        </p:txBody>
      </p:sp>
      <p:sp>
        <p:nvSpPr>
          <p:cNvPr id="5" name="cover-rationale">
            <a:extLst>
              <a:ext uri="{FF2B5EF4-FFF2-40B4-BE49-F238E27FC236}">
                <a16:creationId xmlns:a16="http://schemas.microsoft.com/office/drawing/2014/main" id="{A6E74823-0D93-470B-9DD4-4D1E54D83E70}"/>
              </a:ext>
            </a:extLst>
          </p:cNvPr>
          <p:cNvSpPr>
            <a:spLocks noGrp="1"/>
          </p:cNvSpPr>
          <p:nvPr/>
        </p:nvSpPr>
        <p:spPr>
          <a:xfrm>
            <a:off x="457200" y="4972050"/>
            <a:ext cx="4762500" cy="647700"/>
          </a:xfrm>
          <a:prstGeom prst="rect">
            <a:avLst/>
          </a:prstGeom>
          <a:noFill/>
          <a:ln w="0">
            <a:noFill/>
            <a:prstDash val="solid"/>
          </a:ln>
        </p:spPr>
        <p:txBody>
          <a:bodyPr lIns="0" tIns="0" rIns="0" bIns="0" anchor="t">
            <a:normAutofit/>
          </a:bodyPr>
          <a:lstStyle/>
          <a:p>
            <a:pPr algn="l">
              <a:defRPr sz="1500" b="0">
                <a:solidFill>
                  <a:srgbClr val="586574"/>
                </a:solidFill>
                <a:latin typeface="Yu Gothic"/>
                <a:ea typeface="Yu Gothic"/>
                <a:cs typeface="Yu Gothic"/>
              </a:defRPr>
            </a:pPr>
            <a:r>
              <a:rPr sz="1500" b="0">
                <a:solidFill>
                  <a:srgbClr val="586574"/>
                </a:solidFill>
                <a:latin typeface="Yu Gothic"/>
                <a:ea typeface="Yu Gothic"/>
                <a:cs typeface="Yu Gothic"/>
              </a:rPr>
              <a:t>AIUの得意領域から逆算せず、</a:t>
            </a:r>
          </a:p>
          <a:p>
            <a:pPr algn="l">
              <a:defRPr sz="1500" b="0">
                <a:solidFill>
                  <a:srgbClr val="586574"/>
                </a:solidFill>
                <a:latin typeface="Yu Gothic"/>
                <a:ea typeface="Yu Gothic"/>
                <a:cs typeface="Yu Gothic"/>
              </a:defRPr>
            </a:pPr>
            <a:r>
              <a:rPr sz="1500" b="0">
                <a:solidFill>
                  <a:srgbClr val="586574"/>
                </a:solidFill>
                <a:latin typeface="Yu Gothic"/>
                <a:ea typeface="Yu Gothic"/>
                <a:cs typeface="Yu Gothic"/>
              </a:rPr>
              <a:t>行政事業データから機会を探索</a:t>
            </a:r>
          </a:p>
        </p:txBody>
      </p:sp>
      <p:sp>
        <p:nvSpPr>
          <p:cNvPr id="6" name="cover-footer">
            <a:extLst>
              <a:ext uri="{FF2B5EF4-FFF2-40B4-BE49-F238E27FC236}">
                <a16:creationId xmlns:a16="http://schemas.microsoft.com/office/drawing/2014/main" id="{F2581F5C-3B0A-4243-A235-859057E55B11}"/>
              </a:ext>
            </a:extLst>
          </p:cNvPr>
          <p:cNvSpPr>
            <a:spLocks noGrp="1"/>
          </p:cNvSpPr>
          <p:nvPr/>
        </p:nvSpPr>
        <p:spPr>
          <a:xfrm>
            <a:off x="457200" y="6172200"/>
            <a:ext cx="5715000" cy="266700"/>
          </a:xfrm>
          <a:prstGeom prst="rect">
            <a:avLst/>
          </a:prstGeom>
          <a:noFill/>
          <a:ln w="0">
            <a:noFill/>
            <a:prstDash val="solid"/>
          </a:ln>
        </p:spPr>
        <p:txBody>
          <a:bodyPr lIns="0" tIns="0" rIns="0" bIns="0" anchor="t">
            <a:normAutofit/>
          </a:bodyPr>
          <a:lstStyle/>
          <a:p>
            <a:pPr algn="l">
              <a:defRPr sz="1200" b="1">
                <a:solidFill>
                  <a:srgbClr val="111827"/>
                </a:solidFill>
                <a:latin typeface="Yu Gothic"/>
                <a:ea typeface="Yu Gothic"/>
                <a:cs typeface="Yu Gothic"/>
              </a:defRPr>
            </a:pPr>
            <a:r>
              <a:rPr sz="1200" b="1">
                <a:solidFill>
                  <a:srgbClr val="111827"/>
                </a:solidFill>
                <a:latin typeface="Yu Gothic"/>
                <a:ea typeface="Yu Gothic"/>
                <a:cs typeface="Yu Gothic"/>
              </a:rPr>
              <a:t>A01 調査・情報処理・分析  ×  U06 予測・将来推計</a:t>
            </a:r>
          </a:p>
        </p:txBody>
      </p:sp>
      <p:sp>
        <p:nvSpPr>
          <p:cNvPr id="7" name="hero-backing">
            <a:extLst>
              <a:ext uri="{FF2B5EF4-FFF2-40B4-BE49-F238E27FC236}">
                <a16:creationId xmlns:a16="http://schemas.microsoft.com/office/drawing/2014/main" id="{F087DC2F-4787-4C89-8EB5-162E9DB182E5}"/>
              </a:ext>
            </a:extLst>
          </p:cNvPr>
          <p:cNvSpPr>
            <a:spLocks noGrp="1"/>
          </p:cNvSpPr>
          <p:nvPr/>
        </p:nvSpPr>
        <p:spPr>
          <a:xfrm>
            <a:off x="6191250" y="400050"/>
            <a:ext cx="5562600" cy="5657850"/>
          </a:xfrm>
          <a:prstGeom prst="roundRect">
            <a:avLst>
              <a:gd name="adj" fmla="val 2397"/>
            </a:avLst>
          </a:prstGeom>
          <a:solidFill>
            <a:srgbClr val="EAF7FC"/>
          </a:solidFill>
          <a:ln w="9525">
            <a:solidFill>
              <a:srgbClr val="C9D0D8"/>
            </a:solidFill>
            <a:prstDash val="solid"/>
          </a:ln>
        </p:spPr>
        <p:txBody>
          <a:bodyPr/>
          <a:lstStyle/>
          <a:p>
            <a:endParaRPr lang="ja-JP" altLang="en-US"/>
          </a:p>
        </p:txBody>
      </p:sp>
      <p:pic>
        <p:nvPicPr>
          <p:cNvPr id="16" name="図 15"/>
          <p:cNvPicPr>
            <a:picLocks noChangeAspect="1"/>
          </p:cNvPicPr>
          <p:nvPr/>
        </p:nvPicPr>
        <p:blipFill>
          <a:blip r:embed="rId3"/>
          <a:srcRect l="842" r="842"/>
          <a:stretch>
            <a:fillRect/>
          </a:stretch>
        </p:blipFill>
        <p:spPr>
          <a:xfrm>
            <a:off x="6191250" y="400050"/>
            <a:ext cx="5562600" cy="5657850"/>
          </a:xfrm>
          <a:prstGeom prst="roundRect">
            <a:avLst>
              <a:gd name="adj" fmla="val 2397"/>
            </a:avLst>
          </a:prstGeom>
        </p:spPr>
      </p:pic>
    </p:spTree>
    <p:extLst>
      <p:ext uri="{BB962C8B-B14F-4D97-AF65-F5344CB8AC3E}">
        <p14:creationId xmlns:p14="http://schemas.microsoft.com/office/powerpoint/2010/main" val="1230994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section-2">
            <a:extLst>
              <a:ext uri="{FF2B5EF4-FFF2-40B4-BE49-F238E27FC236}">
                <a16:creationId xmlns:a16="http://schemas.microsoft.com/office/drawing/2014/main" id="{4287F53D-5EB7-408C-AC0C-FB9EBF5F8282}"/>
              </a:ext>
            </a:extLst>
          </p:cNvPr>
          <p:cNvSpPr>
            <a:spLocks noGrp="1"/>
          </p:cNvSpPr>
          <p:nvPr/>
        </p:nvSpPr>
        <p:spPr>
          <a:xfrm>
            <a:off x="400050" y="247650"/>
            <a:ext cx="2667000" cy="228600"/>
          </a:xfrm>
          <a:prstGeom prst="rect">
            <a:avLst/>
          </a:prstGeom>
          <a:noFill/>
          <a:ln w="0">
            <a:noFill/>
            <a:prstDash val="solid"/>
          </a:ln>
        </p:spPr>
        <p:txBody>
          <a:bodyPr lIns="0" tIns="0" rIns="0" bIns="0" anchor="t">
            <a:normAutofit/>
          </a:bodyPr>
          <a:lstStyle/>
          <a:p>
            <a:pPr algn="l">
              <a:defRPr sz="1200" b="1">
                <a:solidFill>
                  <a:srgbClr val="087FB4"/>
                </a:solidFill>
                <a:latin typeface="Yu Gothic"/>
                <a:ea typeface="Yu Gothic"/>
                <a:cs typeface="Yu Gothic"/>
              </a:defRPr>
            </a:pPr>
            <a:r>
              <a:rPr sz="1200" b="1">
                <a:solidFill>
                  <a:srgbClr val="087FB4"/>
                </a:solidFill>
                <a:latin typeface="Yu Gothic"/>
                <a:ea typeface="Yu Gothic"/>
                <a:cs typeface="Yu Gothic"/>
              </a:rPr>
              <a:t>01｜探索方法</a:t>
            </a:r>
          </a:p>
        </p:txBody>
      </p:sp>
      <p:sp>
        <p:nvSpPr>
          <p:cNvPr id="2" name="title-2">
            <a:extLst>
              <a:ext uri="{FF2B5EF4-FFF2-40B4-BE49-F238E27FC236}">
                <a16:creationId xmlns:a16="http://schemas.microsoft.com/office/drawing/2014/main" id="{3B8A58E6-61CE-434A-9722-8EDE6B897035}"/>
              </a:ext>
            </a:extLst>
          </p:cNvPr>
          <p:cNvSpPr>
            <a:spLocks noGrp="1"/>
          </p:cNvSpPr>
          <p:nvPr/>
        </p:nvSpPr>
        <p:spPr>
          <a:xfrm>
            <a:off x="400050" y="552450"/>
            <a:ext cx="10953750" cy="571500"/>
          </a:xfrm>
          <a:prstGeom prst="rect">
            <a:avLst/>
          </a:prstGeom>
          <a:noFill/>
          <a:ln w="0">
            <a:noFill/>
            <a:prstDash val="solid"/>
          </a:ln>
        </p:spPr>
        <p:txBody>
          <a:bodyPr lIns="0" tIns="0" rIns="0" bIns="0" anchor="ctr">
            <a:normAutofit/>
          </a:bodyPr>
          <a:lstStyle/>
          <a:p>
            <a:pPr algn="l">
              <a:defRPr sz="2850" b="1">
                <a:solidFill>
                  <a:srgbClr val="111827"/>
                </a:solidFill>
                <a:latin typeface="Yu Gothic"/>
                <a:ea typeface="Yu Gothic"/>
                <a:cs typeface="Yu Gothic"/>
              </a:defRPr>
            </a:pPr>
            <a:r>
              <a:rPr sz="2850" b="1">
                <a:solidFill>
                  <a:srgbClr val="111827"/>
                </a:solidFill>
                <a:latin typeface="Yu Gothic"/>
                <a:ea typeface="Yu Gothic"/>
                <a:cs typeface="Yu Gothic"/>
              </a:rPr>
              <a:t>LLMで行政事業を3軸に構造化し、AI活用機会を客観評価</a:t>
            </a:r>
          </a:p>
        </p:txBody>
      </p:sp>
      <p:sp>
        <p:nvSpPr>
          <p:cNvPr id="3" name="page-2">
            <a:extLst>
              <a:ext uri="{FF2B5EF4-FFF2-40B4-BE49-F238E27FC236}">
                <a16:creationId xmlns:a16="http://schemas.microsoft.com/office/drawing/2014/main" id="{A033F3F0-C5F5-4D0A-B6C2-4080A09FA0E9}"/>
              </a:ext>
            </a:extLst>
          </p:cNvPr>
          <p:cNvSpPr>
            <a:spLocks noGrp="1"/>
          </p:cNvSpPr>
          <p:nvPr/>
        </p:nvSpPr>
        <p:spPr>
          <a:xfrm>
            <a:off x="11334750" y="285750"/>
            <a:ext cx="438150" cy="209550"/>
          </a:xfrm>
          <a:prstGeom prst="rect">
            <a:avLst/>
          </a:prstGeom>
          <a:noFill/>
          <a:ln w="0">
            <a:noFill/>
            <a:prstDash val="solid"/>
          </a:ln>
        </p:spPr>
        <p:txBody>
          <a:bodyPr lIns="0" tIns="0" rIns="0" bIns="0" anchor="t">
            <a:normAutofit/>
          </a:bodyPr>
          <a:lstStyle/>
          <a:p>
            <a:pPr algn="r">
              <a:defRPr sz="1050" b="1">
                <a:solidFill>
                  <a:srgbClr val="586574"/>
                </a:solidFill>
                <a:latin typeface="Yu Gothic"/>
                <a:ea typeface="Yu Gothic"/>
                <a:cs typeface="Yu Gothic"/>
              </a:defRPr>
            </a:pPr>
            <a:r>
              <a:rPr sz="1050" b="1">
                <a:solidFill>
                  <a:srgbClr val="586574"/>
                </a:solidFill>
                <a:latin typeface="Yu Gothic"/>
                <a:ea typeface="Yu Gothic"/>
                <a:cs typeface="Yu Gothic"/>
              </a:rPr>
              <a:t>02</a:t>
            </a:r>
          </a:p>
        </p:txBody>
      </p:sp>
      <p:sp>
        <p:nvSpPr>
          <p:cNvPr id="4" name="header-rule-2">
            <a:extLst>
              <a:ext uri="{FF2B5EF4-FFF2-40B4-BE49-F238E27FC236}">
                <a16:creationId xmlns:a16="http://schemas.microsoft.com/office/drawing/2014/main" id="{E6F7AF23-0651-4397-8550-2613299125BD}"/>
              </a:ext>
            </a:extLst>
          </p:cNvPr>
          <p:cNvSpPr>
            <a:spLocks noGrp="1"/>
          </p:cNvSpPr>
          <p:nvPr/>
        </p:nvSpPr>
        <p:spPr>
          <a:xfrm>
            <a:off x="400050" y="1200150"/>
            <a:ext cx="11391900" cy="0"/>
          </a:xfrm>
          <a:prstGeom prst="line">
            <a:avLst/>
          </a:prstGeom>
          <a:noFill/>
          <a:ln w="9525">
            <a:solidFill>
              <a:srgbClr val="C9D0D8"/>
            </a:solidFill>
            <a:prstDash val="solid"/>
          </a:ln>
        </p:spPr>
        <p:txBody>
          <a:bodyPr/>
          <a:lstStyle/>
          <a:p>
            <a:endParaRPr lang="ja-JP" altLang="en-US"/>
          </a:p>
        </p:txBody>
      </p:sp>
      <p:sp>
        <p:nvSpPr>
          <p:cNvPr id="5" name="no-fit-note">
            <a:extLst>
              <a:ext uri="{FF2B5EF4-FFF2-40B4-BE49-F238E27FC236}">
                <a16:creationId xmlns:a16="http://schemas.microsoft.com/office/drawing/2014/main" id="{73FE63C1-4921-481B-A330-3E160C7F848B}"/>
              </a:ext>
            </a:extLst>
          </p:cNvPr>
          <p:cNvSpPr>
            <a:spLocks noGrp="1"/>
          </p:cNvSpPr>
          <p:nvPr/>
        </p:nvSpPr>
        <p:spPr>
          <a:xfrm>
            <a:off x="7810500" y="1314450"/>
            <a:ext cx="3905250" cy="285750"/>
          </a:xfrm>
          <a:prstGeom prst="rect">
            <a:avLst/>
          </a:prstGeom>
          <a:noFill/>
          <a:ln w="0">
            <a:noFill/>
            <a:prstDash val="solid"/>
          </a:ln>
        </p:spPr>
        <p:txBody>
          <a:bodyPr lIns="0" tIns="0" rIns="0" bIns="0" anchor="t">
            <a:normAutofit/>
          </a:bodyPr>
          <a:lstStyle/>
          <a:p>
            <a:pPr algn="r">
              <a:defRPr sz="1350" b="1">
                <a:solidFill>
                  <a:srgbClr val="087FB4"/>
                </a:solidFill>
                <a:latin typeface="Yu Gothic"/>
                <a:ea typeface="Yu Gothic"/>
                <a:cs typeface="Yu Gothic"/>
              </a:defRPr>
            </a:pPr>
            <a:r>
              <a:rPr sz="1350" b="1">
                <a:solidFill>
                  <a:srgbClr val="087FB4"/>
                </a:solidFill>
                <a:latin typeface="Yu Gothic"/>
                <a:ea typeface="Yu Gothic"/>
                <a:cs typeface="Yu Gothic"/>
              </a:rPr>
              <a:t>市場選定に AIU Fit は使わない</a:t>
            </a:r>
          </a:p>
        </p:txBody>
      </p:sp>
      <p:sp>
        <p:nvSpPr>
          <p:cNvPr id="6" name="arrow-input-to-taxonomy">
            <a:extLst>
              <a:ext uri="{FF2B5EF4-FFF2-40B4-BE49-F238E27FC236}">
                <a16:creationId xmlns:a16="http://schemas.microsoft.com/office/drawing/2014/main" id="{612D980B-F308-4EEE-A037-79CB7D99CB16}"/>
              </a:ext>
            </a:extLst>
          </p:cNvPr>
          <p:cNvSpPr>
            <a:spLocks noGrp="1"/>
          </p:cNvSpPr>
          <p:nvPr/>
        </p:nvSpPr>
        <p:spPr>
          <a:xfrm>
            <a:off x="2705100" y="2933700"/>
            <a:ext cx="685800" cy="323850"/>
          </a:xfrm>
          <a:prstGeom prst="rightArrow">
            <a:avLst/>
          </a:prstGeom>
          <a:solidFill>
            <a:srgbClr val="18A8E0"/>
          </a:solidFill>
          <a:ln w="0">
            <a:noFill/>
            <a:prstDash val="solid"/>
          </a:ln>
        </p:spPr>
        <p:txBody>
          <a:bodyPr/>
          <a:lstStyle/>
          <a:p>
            <a:endParaRPr lang="ja-JP" altLang="en-US"/>
          </a:p>
        </p:txBody>
      </p:sp>
      <p:sp>
        <p:nvSpPr>
          <p:cNvPr id="7" name="arrow-taxonomy-to-score">
            <a:extLst>
              <a:ext uri="{FF2B5EF4-FFF2-40B4-BE49-F238E27FC236}">
                <a16:creationId xmlns:a16="http://schemas.microsoft.com/office/drawing/2014/main" id="{2DC0F084-F6AE-4976-8047-D7CC35286E8D}"/>
              </a:ext>
            </a:extLst>
          </p:cNvPr>
          <p:cNvSpPr>
            <a:spLocks noGrp="1"/>
          </p:cNvSpPr>
          <p:nvPr/>
        </p:nvSpPr>
        <p:spPr>
          <a:xfrm>
            <a:off x="8210550" y="2933700"/>
            <a:ext cx="685800" cy="323850"/>
          </a:xfrm>
          <a:prstGeom prst="rightArrow">
            <a:avLst/>
          </a:prstGeom>
          <a:solidFill>
            <a:srgbClr val="18A8E0"/>
          </a:solidFill>
          <a:ln w="0">
            <a:noFill/>
            <a:prstDash val="solid"/>
          </a:ln>
        </p:spPr>
        <p:txBody>
          <a:bodyPr/>
          <a:lstStyle/>
          <a:p>
            <a:endParaRPr lang="ja-JP" altLang="en-US"/>
          </a:p>
        </p:txBody>
      </p:sp>
      <p:sp>
        <p:nvSpPr>
          <p:cNvPr id="8" name="input-node">
            <a:extLst>
              <a:ext uri="{FF2B5EF4-FFF2-40B4-BE49-F238E27FC236}">
                <a16:creationId xmlns:a16="http://schemas.microsoft.com/office/drawing/2014/main" id="{3C3F3166-4B24-4AF2-B51B-90956081C0F7}"/>
              </a:ext>
            </a:extLst>
          </p:cNvPr>
          <p:cNvSpPr>
            <a:spLocks noGrp="1"/>
          </p:cNvSpPr>
          <p:nvPr/>
        </p:nvSpPr>
        <p:spPr>
          <a:xfrm>
            <a:off x="457200" y="2133600"/>
            <a:ext cx="2247900" cy="1943100"/>
          </a:xfrm>
          <a:prstGeom prst="roundRect">
            <a:avLst>
              <a:gd name="adj" fmla="val 4902"/>
            </a:avLst>
          </a:prstGeom>
          <a:solidFill>
            <a:srgbClr val="F1F3F5"/>
          </a:solidFill>
          <a:ln w="9525">
            <a:solidFill>
              <a:srgbClr val="C9D0D8"/>
            </a:solidFill>
            <a:prstDash val="solid"/>
          </a:ln>
        </p:spPr>
        <p:txBody>
          <a:bodyPr/>
          <a:lstStyle/>
          <a:p>
            <a:endParaRPr lang="ja-JP" altLang="en-US" dirty="0"/>
          </a:p>
        </p:txBody>
      </p:sp>
      <p:sp>
        <p:nvSpPr>
          <p:cNvPr id="9" name="input-label">
            <a:extLst>
              <a:ext uri="{FF2B5EF4-FFF2-40B4-BE49-F238E27FC236}">
                <a16:creationId xmlns:a16="http://schemas.microsoft.com/office/drawing/2014/main" id="{350C47A7-0416-436D-9A77-4B6863117525}"/>
              </a:ext>
            </a:extLst>
          </p:cNvPr>
          <p:cNvSpPr>
            <a:spLocks noGrp="1"/>
          </p:cNvSpPr>
          <p:nvPr/>
        </p:nvSpPr>
        <p:spPr>
          <a:xfrm>
            <a:off x="666750" y="2352675"/>
            <a:ext cx="1809750" cy="238125"/>
          </a:xfrm>
          <a:prstGeom prst="rect">
            <a:avLst/>
          </a:prstGeom>
          <a:noFill/>
          <a:ln w="0">
            <a:noFill/>
            <a:prstDash val="solid"/>
          </a:ln>
        </p:spPr>
        <p:txBody>
          <a:bodyPr lIns="0" tIns="0" rIns="0" bIns="0" anchor="t">
            <a:normAutofit/>
          </a:bodyPr>
          <a:lstStyle/>
          <a:p>
            <a:pPr algn="l">
              <a:defRPr sz="1200" b="1">
                <a:solidFill>
                  <a:srgbClr val="586574"/>
                </a:solidFill>
                <a:latin typeface="Yu Gothic"/>
                <a:ea typeface="Yu Gothic"/>
                <a:cs typeface="Yu Gothic"/>
              </a:defRPr>
            </a:pPr>
            <a:r>
              <a:rPr sz="1200" b="1">
                <a:solidFill>
                  <a:srgbClr val="586574"/>
                </a:solidFill>
                <a:latin typeface="Yu Gothic"/>
                <a:ea typeface="Yu Gothic"/>
                <a:cs typeface="Yu Gothic"/>
              </a:rPr>
              <a:t>INPUT</a:t>
            </a:r>
          </a:p>
        </p:txBody>
      </p:sp>
      <p:sp>
        <p:nvSpPr>
          <p:cNvPr id="10" name="input-main">
            <a:extLst>
              <a:ext uri="{FF2B5EF4-FFF2-40B4-BE49-F238E27FC236}">
                <a16:creationId xmlns:a16="http://schemas.microsoft.com/office/drawing/2014/main" id="{C0C25A69-B0A3-4208-A9DF-2866A5CC4973}"/>
              </a:ext>
            </a:extLst>
          </p:cNvPr>
          <p:cNvSpPr>
            <a:spLocks noGrp="1"/>
          </p:cNvSpPr>
          <p:nvPr/>
        </p:nvSpPr>
        <p:spPr>
          <a:xfrm>
            <a:off x="666750" y="2781300"/>
            <a:ext cx="1809750" cy="685800"/>
          </a:xfrm>
          <a:prstGeom prst="rect">
            <a:avLst/>
          </a:prstGeom>
          <a:noFill/>
          <a:ln w="0">
            <a:noFill/>
            <a:prstDash val="solid"/>
          </a:ln>
        </p:spPr>
        <p:txBody>
          <a:bodyPr lIns="0" tIns="0" rIns="0" bIns="0" anchor="ctr">
            <a:normAutofit/>
          </a:bodyPr>
          <a:lstStyle/>
          <a:p>
            <a:pPr algn="l">
              <a:defRPr sz="2025" b="1">
                <a:solidFill>
                  <a:srgbClr val="111827"/>
                </a:solidFill>
                <a:latin typeface="Yu Gothic"/>
                <a:ea typeface="Yu Gothic"/>
                <a:cs typeface="Yu Gothic"/>
              </a:defRPr>
            </a:pPr>
            <a:r>
              <a:rPr sz="2025" b="1">
                <a:solidFill>
                  <a:srgbClr val="111827"/>
                </a:solidFill>
                <a:latin typeface="Yu Gothic"/>
                <a:ea typeface="Yu Gothic"/>
                <a:cs typeface="Yu Gothic"/>
              </a:rPr>
              <a:t>行政事業</a:t>
            </a:r>
          </a:p>
          <a:p>
            <a:pPr algn="l">
              <a:defRPr sz="2025" b="1">
                <a:solidFill>
                  <a:srgbClr val="111827"/>
                </a:solidFill>
                <a:latin typeface="Yu Gothic"/>
                <a:ea typeface="Yu Gothic"/>
                <a:cs typeface="Yu Gothic"/>
              </a:defRPr>
            </a:pPr>
            <a:r>
              <a:rPr sz="2025" b="1">
                <a:solidFill>
                  <a:srgbClr val="111827"/>
                </a:solidFill>
                <a:latin typeface="Yu Gothic"/>
                <a:ea typeface="Yu Gothic"/>
                <a:cs typeface="Yu Gothic"/>
              </a:rPr>
              <a:t>レビュー文書</a:t>
            </a:r>
          </a:p>
        </p:txBody>
      </p:sp>
      <p:sp>
        <p:nvSpPr>
          <p:cNvPr id="11" name="input-detail">
            <a:extLst>
              <a:ext uri="{FF2B5EF4-FFF2-40B4-BE49-F238E27FC236}">
                <a16:creationId xmlns:a16="http://schemas.microsoft.com/office/drawing/2014/main" id="{F213420F-0C60-4CDF-A9E8-2462C4F790CC}"/>
              </a:ext>
            </a:extLst>
          </p:cNvPr>
          <p:cNvSpPr>
            <a:spLocks noGrp="1"/>
          </p:cNvSpPr>
          <p:nvPr/>
        </p:nvSpPr>
        <p:spPr>
          <a:xfrm>
            <a:off x="666750" y="3638550"/>
            <a:ext cx="1809750" cy="228600"/>
          </a:xfrm>
          <a:prstGeom prst="rect">
            <a:avLst/>
          </a:prstGeom>
          <a:noFill/>
          <a:ln w="0">
            <a:noFill/>
            <a:prstDash val="solid"/>
          </a:ln>
        </p:spPr>
        <p:txBody>
          <a:bodyPr lIns="0" tIns="0" rIns="0" bIns="0" anchor="t">
            <a:normAutofit/>
          </a:bodyPr>
          <a:lstStyle/>
          <a:p>
            <a:pPr algn="l">
              <a:defRPr sz="1275" b="0">
                <a:solidFill>
                  <a:srgbClr val="586574"/>
                </a:solidFill>
                <a:latin typeface="Yu Gothic"/>
                <a:ea typeface="Yu Gothic"/>
                <a:cs typeface="Yu Gothic"/>
              </a:defRPr>
            </a:pPr>
            <a:r>
              <a:rPr sz="1275" b="0">
                <a:solidFill>
                  <a:srgbClr val="586574"/>
                </a:solidFill>
                <a:latin typeface="Yu Gothic"/>
                <a:ea typeface="Yu Gothic"/>
                <a:cs typeface="Yu Gothic"/>
              </a:rPr>
              <a:t>事業目的・概要・課題</a:t>
            </a:r>
          </a:p>
        </p:txBody>
      </p:sp>
      <p:sp>
        <p:nvSpPr>
          <p:cNvPr id="12" name="axis-0">
            <a:extLst>
              <a:ext uri="{FF2B5EF4-FFF2-40B4-BE49-F238E27FC236}">
                <a16:creationId xmlns:a16="http://schemas.microsoft.com/office/drawing/2014/main" id="{ACC116AA-0AED-4478-BD0B-F580D39FF5AF}"/>
              </a:ext>
            </a:extLst>
          </p:cNvPr>
          <p:cNvSpPr>
            <a:spLocks noGrp="1"/>
          </p:cNvSpPr>
          <p:nvPr/>
        </p:nvSpPr>
        <p:spPr>
          <a:xfrm>
            <a:off x="3486150" y="1885950"/>
            <a:ext cx="4533900" cy="838200"/>
          </a:xfrm>
          <a:prstGeom prst="roundRect">
            <a:avLst>
              <a:gd name="adj" fmla="val 9091"/>
            </a:avLst>
          </a:prstGeom>
          <a:solidFill>
            <a:srgbClr val="FFFFFF"/>
          </a:solidFill>
          <a:ln w="9525">
            <a:solidFill>
              <a:srgbClr val="C9D0D8"/>
            </a:solidFill>
            <a:prstDash val="solid"/>
          </a:ln>
        </p:spPr>
        <p:txBody>
          <a:bodyPr/>
          <a:lstStyle/>
          <a:p>
            <a:endParaRPr lang="ja-JP" altLang="en-US"/>
          </a:p>
        </p:txBody>
      </p:sp>
      <p:sp>
        <p:nvSpPr>
          <p:cNvPr id="13" name="axis-title-0">
            <a:extLst>
              <a:ext uri="{FF2B5EF4-FFF2-40B4-BE49-F238E27FC236}">
                <a16:creationId xmlns:a16="http://schemas.microsoft.com/office/drawing/2014/main" id="{8178DB29-3CE2-4AAE-9D9F-52663BCA5B80}"/>
              </a:ext>
            </a:extLst>
          </p:cNvPr>
          <p:cNvSpPr>
            <a:spLocks noGrp="1"/>
          </p:cNvSpPr>
          <p:nvPr/>
        </p:nvSpPr>
        <p:spPr>
          <a:xfrm>
            <a:off x="3676650" y="2028825"/>
            <a:ext cx="1809750" cy="285750"/>
          </a:xfrm>
          <a:prstGeom prst="rect">
            <a:avLst/>
          </a:prstGeom>
          <a:noFill/>
          <a:ln w="0">
            <a:noFill/>
            <a:prstDash val="solid"/>
          </a:ln>
        </p:spPr>
        <p:txBody>
          <a:bodyPr lIns="0" tIns="0" rIns="0" bIns="0" anchor="t">
            <a:normAutofit/>
          </a:bodyPr>
          <a:lstStyle/>
          <a:p>
            <a:pPr algn="l">
              <a:defRPr sz="1725" b="1">
                <a:solidFill>
                  <a:srgbClr val="111827"/>
                </a:solidFill>
                <a:latin typeface="Yu Gothic"/>
                <a:ea typeface="Yu Gothic"/>
                <a:cs typeface="Yu Gothic"/>
              </a:defRPr>
            </a:pPr>
            <a:r>
              <a:rPr sz="1725" b="1">
                <a:solidFill>
                  <a:srgbClr val="111827"/>
                </a:solidFill>
                <a:latin typeface="Yu Gothic"/>
                <a:ea typeface="Yu Gothic"/>
                <a:cs typeface="Yu Gothic"/>
              </a:rPr>
              <a:t>政策領域</a:t>
            </a:r>
          </a:p>
        </p:txBody>
      </p:sp>
      <p:sp>
        <p:nvSpPr>
          <p:cNvPr id="14" name="axis-code-0">
            <a:extLst>
              <a:ext uri="{FF2B5EF4-FFF2-40B4-BE49-F238E27FC236}">
                <a16:creationId xmlns:a16="http://schemas.microsoft.com/office/drawing/2014/main" id="{9EEDE9E5-F78F-47DF-97CC-35D401277F6D}"/>
              </a:ext>
            </a:extLst>
          </p:cNvPr>
          <p:cNvSpPr>
            <a:spLocks noGrp="1"/>
          </p:cNvSpPr>
          <p:nvPr/>
        </p:nvSpPr>
        <p:spPr>
          <a:xfrm>
            <a:off x="5619750" y="2047875"/>
            <a:ext cx="952500" cy="228600"/>
          </a:xfrm>
          <a:prstGeom prst="rect">
            <a:avLst/>
          </a:prstGeom>
          <a:noFill/>
          <a:ln w="0">
            <a:noFill/>
            <a:prstDash val="solid"/>
          </a:ln>
        </p:spPr>
        <p:txBody>
          <a:bodyPr lIns="0" tIns="0" rIns="0" bIns="0" anchor="t">
            <a:normAutofit/>
          </a:bodyPr>
          <a:lstStyle/>
          <a:p>
            <a:pPr algn="l">
              <a:defRPr sz="1275" b="1">
                <a:solidFill>
                  <a:srgbClr val="087FB4"/>
                </a:solidFill>
                <a:latin typeface="Yu Gothic"/>
                <a:ea typeface="Yu Gothic"/>
                <a:cs typeface="Yu Gothic"/>
              </a:defRPr>
            </a:pPr>
            <a:r>
              <a:rPr sz="1275" b="1">
                <a:solidFill>
                  <a:srgbClr val="087FB4"/>
                </a:solidFill>
                <a:latin typeface="Yu Gothic"/>
                <a:ea typeface="Yu Gothic"/>
                <a:cs typeface="Yu Gothic"/>
              </a:rPr>
              <a:t>D01–D15</a:t>
            </a:r>
          </a:p>
        </p:txBody>
      </p:sp>
      <p:sp>
        <p:nvSpPr>
          <p:cNvPr id="15" name="axis-desc-0">
            <a:extLst>
              <a:ext uri="{FF2B5EF4-FFF2-40B4-BE49-F238E27FC236}">
                <a16:creationId xmlns:a16="http://schemas.microsoft.com/office/drawing/2014/main" id="{9C6ED014-496A-497F-8852-818BD2A949D1}"/>
              </a:ext>
            </a:extLst>
          </p:cNvPr>
          <p:cNvSpPr>
            <a:spLocks noGrp="1"/>
          </p:cNvSpPr>
          <p:nvPr/>
        </p:nvSpPr>
        <p:spPr>
          <a:xfrm>
            <a:off x="5619750" y="2333625"/>
            <a:ext cx="2095500" cy="209550"/>
          </a:xfrm>
          <a:prstGeom prst="rect">
            <a:avLst/>
          </a:prstGeom>
          <a:noFill/>
          <a:ln w="0">
            <a:noFill/>
            <a:prstDash val="solid"/>
          </a:ln>
        </p:spPr>
        <p:txBody>
          <a:bodyPr lIns="0" tIns="0" rIns="0" bIns="0" anchor="t">
            <a:normAutofit/>
          </a:bodyPr>
          <a:lstStyle/>
          <a:p>
            <a:pPr algn="l">
              <a:defRPr sz="1275" b="0">
                <a:solidFill>
                  <a:srgbClr val="586574"/>
                </a:solidFill>
                <a:latin typeface="Yu Gothic"/>
                <a:ea typeface="Yu Gothic"/>
                <a:cs typeface="Yu Gothic"/>
              </a:defRPr>
            </a:pPr>
            <a:r>
              <a:rPr sz="1275" b="0">
                <a:solidFill>
                  <a:srgbClr val="586574"/>
                </a:solidFill>
                <a:latin typeface="Yu Gothic"/>
                <a:ea typeface="Yu Gothic"/>
                <a:cs typeface="Yu Gothic"/>
              </a:rPr>
              <a:t>どの政策課題か</a:t>
            </a:r>
          </a:p>
        </p:txBody>
      </p:sp>
      <p:sp>
        <p:nvSpPr>
          <p:cNvPr id="16" name="axis-1">
            <a:extLst>
              <a:ext uri="{FF2B5EF4-FFF2-40B4-BE49-F238E27FC236}">
                <a16:creationId xmlns:a16="http://schemas.microsoft.com/office/drawing/2014/main" id="{AE1050BE-E0B7-4B96-AA52-8C25E9C076E0}"/>
              </a:ext>
            </a:extLst>
          </p:cNvPr>
          <p:cNvSpPr>
            <a:spLocks noGrp="1"/>
          </p:cNvSpPr>
          <p:nvPr/>
        </p:nvSpPr>
        <p:spPr>
          <a:xfrm>
            <a:off x="3486150" y="2952750"/>
            <a:ext cx="4533900" cy="838200"/>
          </a:xfrm>
          <a:prstGeom prst="roundRect">
            <a:avLst>
              <a:gd name="adj" fmla="val 9091"/>
            </a:avLst>
          </a:prstGeom>
          <a:solidFill>
            <a:srgbClr val="FFFFFF"/>
          </a:solidFill>
          <a:ln w="9525">
            <a:solidFill>
              <a:srgbClr val="C9D0D8"/>
            </a:solidFill>
            <a:prstDash val="solid"/>
          </a:ln>
        </p:spPr>
        <p:txBody>
          <a:bodyPr/>
          <a:lstStyle/>
          <a:p>
            <a:endParaRPr lang="ja-JP" altLang="en-US"/>
          </a:p>
        </p:txBody>
      </p:sp>
      <p:sp>
        <p:nvSpPr>
          <p:cNvPr id="17" name="axis-title-1">
            <a:extLst>
              <a:ext uri="{FF2B5EF4-FFF2-40B4-BE49-F238E27FC236}">
                <a16:creationId xmlns:a16="http://schemas.microsoft.com/office/drawing/2014/main" id="{36D2F016-9443-42D1-B024-1194D8524051}"/>
              </a:ext>
            </a:extLst>
          </p:cNvPr>
          <p:cNvSpPr>
            <a:spLocks noGrp="1"/>
          </p:cNvSpPr>
          <p:nvPr/>
        </p:nvSpPr>
        <p:spPr>
          <a:xfrm>
            <a:off x="3676650" y="3095625"/>
            <a:ext cx="1809750" cy="285750"/>
          </a:xfrm>
          <a:prstGeom prst="rect">
            <a:avLst/>
          </a:prstGeom>
          <a:noFill/>
          <a:ln w="0">
            <a:noFill/>
            <a:prstDash val="solid"/>
          </a:ln>
        </p:spPr>
        <p:txBody>
          <a:bodyPr lIns="0" tIns="0" rIns="0" bIns="0" anchor="t">
            <a:normAutofit/>
          </a:bodyPr>
          <a:lstStyle/>
          <a:p>
            <a:pPr algn="l">
              <a:defRPr sz="1725" b="1">
                <a:solidFill>
                  <a:srgbClr val="111827"/>
                </a:solidFill>
                <a:latin typeface="Yu Gothic"/>
                <a:ea typeface="Yu Gothic"/>
                <a:cs typeface="Yu Gothic"/>
              </a:defRPr>
            </a:pPr>
            <a:r>
              <a:rPr sz="1725" b="1">
                <a:solidFill>
                  <a:srgbClr val="111827"/>
                </a:solidFill>
                <a:latin typeface="Yu Gothic"/>
                <a:ea typeface="Yu Gothic"/>
                <a:cs typeface="Yu Gothic"/>
              </a:rPr>
              <a:t>行政業務</a:t>
            </a:r>
          </a:p>
        </p:txBody>
      </p:sp>
      <p:sp>
        <p:nvSpPr>
          <p:cNvPr id="18" name="axis-code-1">
            <a:extLst>
              <a:ext uri="{FF2B5EF4-FFF2-40B4-BE49-F238E27FC236}">
                <a16:creationId xmlns:a16="http://schemas.microsoft.com/office/drawing/2014/main" id="{C9F0D83B-6727-449A-A0BF-6F501A84EB2E}"/>
              </a:ext>
            </a:extLst>
          </p:cNvPr>
          <p:cNvSpPr>
            <a:spLocks noGrp="1"/>
          </p:cNvSpPr>
          <p:nvPr/>
        </p:nvSpPr>
        <p:spPr>
          <a:xfrm>
            <a:off x="5619750" y="3114675"/>
            <a:ext cx="952500" cy="228600"/>
          </a:xfrm>
          <a:prstGeom prst="rect">
            <a:avLst/>
          </a:prstGeom>
          <a:noFill/>
          <a:ln w="0">
            <a:noFill/>
            <a:prstDash val="solid"/>
          </a:ln>
        </p:spPr>
        <p:txBody>
          <a:bodyPr lIns="0" tIns="0" rIns="0" bIns="0" anchor="t">
            <a:normAutofit/>
          </a:bodyPr>
          <a:lstStyle/>
          <a:p>
            <a:pPr algn="l">
              <a:defRPr sz="1275" b="1">
                <a:solidFill>
                  <a:srgbClr val="087FB4"/>
                </a:solidFill>
                <a:latin typeface="Yu Gothic"/>
                <a:ea typeface="Yu Gothic"/>
                <a:cs typeface="Yu Gothic"/>
              </a:defRPr>
            </a:pPr>
            <a:r>
              <a:rPr sz="1275" b="1">
                <a:solidFill>
                  <a:srgbClr val="087FB4"/>
                </a:solidFill>
                <a:latin typeface="Yu Gothic"/>
                <a:ea typeface="Yu Gothic"/>
                <a:cs typeface="Yu Gothic"/>
              </a:rPr>
              <a:t>A01–A13</a:t>
            </a:r>
          </a:p>
        </p:txBody>
      </p:sp>
      <p:sp>
        <p:nvSpPr>
          <p:cNvPr id="19" name="axis-desc-1">
            <a:extLst>
              <a:ext uri="{FF2B5EF4-FFF2-40B4-BE49-F238E27FC236}">
                <a16:creationId xmlns:a16="http://schemas.microsoft.com/office/drawing/2014/main" id="{9DB07CA5-3634-47B7-8345-1236375E1545}"/>
              </a:ext>
            </a:extLst>
          </p:cNvPr>
          <p:cNvSpPr>
            <a:spLocks noGrp="1"/>
          </p:cNvSpPr>
          <p:nvPr/>
        </p:nvSpPr>
        <p:spPr>
          <a:xfrm>
            <a:off x="5619750" y="3400425"/>
            <a:ext cx="2095500" cy="209550"/>
          </a:xfrm>
          <a:prstGeom prst="rect">
            <a:avLst/>
          </a:prstGeom>
          <a:noFill/>
          <a:ln w="0">
            <a:noFill/>
            <a:prstDash val="solid"/>
          </a:ln>
        </p:spPr>
        <p:txBody>
          <a:bodyPr lIns="0" tIns="0" rIns="0" bIns="0" anchor="t">
            <a:normAutofit/>
          </a:bodyPr>
          <a:lstStyle/>
          <a:p>
            <a:pPr algn="l">
              <a:defRPr sz="1275" b="0">
                <a:solidFill>
                  <a:srgbClr val="586574"/>
                </a:solidFill>
                <a:latin typeface="Yu Gothic"/>
                <a:ea typeface="Yu Gothic"/>
                <a:cs typeface="Yu Gothic"/>
              </a:defRPr>
            </a:pPr>
            <a:r>
              <a:rPr sz="1275" b="0">
                <a:solidFill>
                  <a:srgbClr val="586574"/>
                </a:solidFill>
                <a:latin typeface="Yu Gothic"/>
                <a:ea typeface="Yu Gothic"/>
                <a:cs typeface="Yu Gothic"/>
              </a:rPr>
              <a:t>行政の何の仕事か</a:t>
            </a:r>
          </a:p>
        </p:txBody>
      </p:sp>
      <p:sp>
        <p:nvSpPr>
          <p:cNvPr id="20" name="axis-2">
            <a:extLst>
              <a:ext uri="{FF2B5EF4-FFF2-40B4-BE49-F238E27FC236}">
                <a16:creationId xmlns:a16="http://schemas.microsoft.com/office/drawing/2014/main" id="{C3F707AE-E095-4FFC-B4D9-E5EB7C6A962A}"/>
              </a:ext>
            </a:extLst>
          </p:cNvPr>
          <p:cNvSpPr>
            <a:spLocks noGrp="1"/>
          </p:cNvSpPr>
          <p:nvPr/>
        </p:nvSpPr>
        <p:spPr>
          <a:xfrm>
            <a:off x="3486150" y="4019550"/>
            <a:ext cx="4533900" cy="838200"/>
          </a:xfrm>
          <a:prstGeom prst="roundRect">
            <a:avLst>
              <a:gd name="adj" fmla="val 9091"/>
            </a:avLst>
          </a:prstGeom>
          <a:solidFill>
            <a:srgbClr val="EAF7FC"/>
          </a:solidFill>
          <a:ln w="9525">
            <a:solidFill>
              <a:srgbClr val="18A8E0"/>
            </a:solidFill>
            <a:prstDash val="solid"/>
          </a:ln>
        </p:spPr>
        <p:txBody>
          <a:bodyPr/>
          <a:lstStyle/>
          <a:p>
            <a:endParaRPr lang="ja-JP" altLang="en-US"/>
          </a:p>
        </p:txBody>
      </p:sp>
      <p:sp>
        <p:nvSpPr>
          <p:cNvPr id="21" name="axis-title-2">
            <a:extLst>
              <a:ext uri="{FF2B5EF4-FFF2-40B4-BE49-F238E27FC236}">
                <a16:creationId xmlns:a16="http://schemas.microsoft.com/office/drawing/2014/main" id="{ED4D3B4B-1083-491F-BE08-DB57CECAD929}"/>
              </a:ext>
            </a:extLst>
          </p:cNvPr>
          <p:cNvSpPr>
            <a:spLocks noGrp="1"/>
          </p:cNvSpPr>
          <p:nvPr/>
        </p:nvSpPr>
        <p:spPr>
          <a:xfrm>
            <a:off x="3676650" y="4162425"/>
            <a:ext cx="1809750" cy="285750"/>
          </a:xfrm>
          <a:prstGeom prst="rect">
            <a:avLst/>
          </a:prstGeom>
          <a:noFill/>
          <a:ln w="0">
            <a:noFill/>
            <a:prstDash val="solid"/>
          </a:ln>
        </p:spPr>
        <p:txBody>
          <a:bodyPr lIns="0" tIns="0" rIns="0" bIns="0" anchor="t">
            <a:normAutofit/>
          </a:bodyPr>
          <a:lstStyle/>
          <a:p>
            <a:pPr algn="l">
              <a:defRPr sz="1725" b="1">
                <a:solidFill>
                  <a:srgbClr val="111827"/>
                </a:solidFill>
                <a:latin typeface="Yu Gothic"/>
                <a:ea typeface="Yu Gothic"/>
                <a:cs typeface="Yu Gothic"/>
              </a:defRPr>
            </a:pPr>
            <a:r>
              <a:rPr sz="1725" b="1">
                <a:solidFill>
                  <a:srgbClr val="111827"/>
                </a:solidFill>
                <a:latin typeface="Yu Gothic"/>
                <a:ea typeface="Yu Gothic"/>
                <a:cs typeface="Yu Gothic"/>
              </a:rPr>
              <a:t>AIユースケース</a:t>
            </a:r>
          </a:p>
        </p:txBody>
      </p:sp>
      <p:sp>
        <p:nvSpPr>
          <p:cNvPr id="22" name="axis-code-2">
            <a:extLst>
              <a:ext uri="{FF2B5EF4-FFF2-40B4-BE49-F238E27FC236}">
                <a16:creationId xmlns:a16="http://schemas.microsoft.com/office/drawing/2014/main" id="{93904465-B048-45CC-B679-BA040136FD99}"/>
              </a:ext>
            </a:extLst>
          </p:cNvPr>
          <p:cNvSpPr>
            <a:spLocks noGrp="1"/>
          </p:cNvSpPr>
          <p:nvPr/>
        </p:nvSpPr>
        <p:spPr>
          <a:xfrm>
            <a:off x="5619750" y="4181475"/>
            <a:ext cx="952500" cy="228600"/>
          </a:xfrm>
          <a:prstGeom prst="rect">
            <a:avLst/>
          </a:prstGeom>
          <a:noFill/>
          <a:ln w="0">
            <a:noFill/>
            <a:prstDash val="solid"/>
          </a:ln>
        </p:spPr>
        <p:txBody>
          <a:bodyPr lIns="0" tIns="0" rIns="0" bIns="0" anchor="t">
            <a:normAutofit/>
          </a:bodyPr>
          <a:lstStyle/>
          <a:p>
            <a:pPr algn="l">
              <a:defRPr sz="1275" b="1">
                <a:solidFill>
                  <a:srgbClr val="087FB4"/>
                </a:solidFill>
                <a:latin typeface="Yu Gothic"/>
                <a:ea typeface="Yu Gothic"/>
                <a:cs typeface="Yu Gothic"/>
              </a:defRPr>
            </a:pPr>
            <a:r>
              <a:rPr sz="1275" b="1">
                <a:solidFill>
                  <a:srgbClr val="087FB4"/>
                </a:solidFill>
                <a:latin typeface="Yu Gothic"/>
                <a:ea typeface="Yu Gothic"/>
                <a:cs typeface="Yu Gothic"/>
              </a:rPr>
              <a:t>U01–U11</a:t>
            </a:r>
          </a:p>
        </p:txBody>
      </p:sp>
      <p:sp>
        <p:nvSpPr>
          <p:cNvPr id="23" name="axis-desc-2">
            <a:extLst>
              <a:ext uri="{FF2B5EF4-FFF2-40B4-BE49-F238E27FC236}">
                <a16:creationId xmlns:a16="http://schemas.microsoft.com/office/drawing/2014/main" id="{371C3CA5-6540-4FF4-B00F-750819DEBEDA}"/>
              </a:ext>
            </a:extLst>
          </p:cNvPr>
          <p:cNvSpPr>
            <a:spLocks noGrp="1"/>
          </p:cNvSpPr>
          <p:nvPr/>
        </p:nvSpPr>
        <p:spPr>
          <a:xfrm>
            <a:off x="5619750" y="4467225"/>
            <a:ext cx="2095500" cy="209550"/>
          </a:xfrm>
          <a:prstGeom prst="rect">
            <a:avLst/>
          </a:prstGeom>
          <a:noFill/>
          <a:ln w="0">
            <a:noFill/>
            <a:prstDash val="solid"/>
          </a:ln>
        </p:spPr>
        <p:txBody>
          <a:bodyPr lIns="0" tIns="0" rIns="0" bIns="0" anchor="t">
            <a:normAutofit/>
          </a:bodyPr>
          <a:lstStyle/>
          <a:p>
            <a:pPr algn="l">
              <a:defRPr sz="1275" b="0">
                <a:solidFill>
                  <a:srgbClr val="586574"/>
                </a:solidFill>
                <a:latin typeface="Yu Gothic"/>
                <a:ea typeface="Yu Gothic"/>
                <a:cs typeface="Yu Gothic"/>
              </a:defRPr>
            </a:pPr>
            <a:r>
              <a:rPr sz="1275" b="0">
                <a:solidFill>
                  <a:srgbClr val="586574"/>
                </a:solidFill>
                <a:latin typeface="Yu Gothic"/>
                <a:ea typeface="Yu Gothic"/>
                <a:cs typeface="Yu Gothic"/>
              </a:rPr>
              <a:t>AIで何を行うか</a:t>
            </a:r>
          </a:p>
        </p:txBody>
      </p:sp>
      <p:sp>
        <p:nvSpPr>
          <p:cNvPr id="24" name="applicability-node">
            <a:extLst>
              <a:ext uri="{FF2B5EF4-FFF2-40B4-BE49-F238E27FC236}">
                <a16:creationId xmlns:a16="http://schemas.microsoft.com/office/drawing/2014/main" id="{E64E1B94-451B-48C4-B51F-FACF53C4C0D6}"/>
              </a:ext>
            </a:extLst>
          </p:cNvPr>
          <p:cNvSpPr>
            <a:spLocks noGrp="1"/>
          </p:cNvSpPr>
          <p:nvPr/>
        </p:nvSpPr>
        <p:spPr>
          <a:xfrm>
            <a:off x="8991600" y="2133600"/>
            <a:ext cx="2724150" cy="1943100"/>
          </a:xfrm>
          <a:prstGeom prst="roundRect">
            <a:avLst>
              <a:gd name="adj" fmla="val 4902"/>
            </a:avLst>
          </a:prstGeom>
          <a:solidFill>
            <a:srgbClr val="EAF7FC"/>
          </a:solidFill>
          <a:ln w="19050">
            <a:solidFill>
              <a:srgbClr val="18A8E0"/>
            </a:solidFill>
            <a:prstDash val="solid"/>
          </a:ln>
        </p:spPr>
        <p:txBody>
          <a:bodyPr/>
          <a:lstStyle/>
          <a:p>
            <a:endParaRPr lang="ja-JP" altLang="en-US"/>
          </a:p>
        </p:txBody>
      </p:sp>
      <p:sp>
        <p:nvSpPr>
          <p:cNvPr id="25" name="applicability-label">
            <a:extLst>
              <a:ext uri="{FF2B5EF4-FFF2-40B4-BE49-F238E27FC236}">
                <a16:creationId xmlns:a16="http://schemas.microsoft.com/office/drawing/2014/main" id="{254B2ED9-CCA0-47ED-895D-5EDC7FE50925}"/>
              </a:ext>
            </a:extLst>
          </p:cNvPr>
          <p:cNvSpPr>
            <a:spLocks noGrp="1"/>
          </p:cNvSpPr>
          <p:nvPr/>
        </p:nvSpPr>
        <p:spPr>
          <a:xfrm>
            <a:off x="9220200" y="2352675"/>
            <a:ext cx="2190750" cy="238125"/>
          </a:xfrm>
          <a:prstGeom prst="rect">
            <a:avLst/>
          </a:prstGeom>
          <a:noFill/>
          <a:ln w="0">
            <a:noFill/>
            <a:prstDash val="solid"/>
          </a:ln>
        </p:spPr>
        <p:txBody>
          <a:bodyPr lIns="0" tIns="0" rIns="0" bIns="0" anchor="t">
            <a:normAutofit/>
          </a:bodyPr>
          <a:lstStyle/>
          <a:p>
            <a:pPr algn="l">
              <a:defRPr sz="1200" b="1">
                <a:solidFill>
                  <a:srgbClr val="087FB4"/>
                </a:solidFill>
                <a:latin typeface="Yu Gothic"/>
                <a:ea typeface="Yu Gothic"/>
                <a:cs typeface="Yu Gothic"/>
              </a:defRPr>
            </a:pPr>
            <a:r>
              <a:rPr sz="1200" b="1">
                <a:solidFill>
                  <a:srgbClr val="087FB4"/>
                </a:solidFill>
                <a:latin typeface="Yu Gothic"/>
                <a:ea typeface="Yu Gothic"/>
                <a:cs typeface="Yu Gothic"/>
              </a:rPr>
              <a:t>AI APPLICABILITY</a:t>
            </a:r>
          </a:p>
        </p:txBody>
      </p:sp>
      <p:sp>
        <p:nvSpPr>
          <p:cNvPr id="26" name="applicability-main">
            <a:extLst>
              <a:ext uri="{FF2B5EF4-FFF2-40B4-BE49-F238E27FC236}">
                <a16:creationId xmlns:a16="http://schemas.microsoft.com/office/drawing/2014/main" id="{97662F6F-0B9A-4D1A-8DF5-558D869DE37E}"/>
              </a:ext>
            </a:extLst>
          </p:cNvPr>
          <p:cNvSpPr>
            <a:spLocks noGrp="1"/>
          </p:cNvSpPr>
          <p:nvPr/>
        </p:nvSpPr>
        <p:spPr>
          <a:xfrm>
            <a:off x="9220200" y="2781300"/>
            <a:ext cx="2190750" cy="685800"/>
          </a:xfrm>
          <a:prstGeom prst="rect">
            <a:avLst/>
          </a:prstGeom>
          <a:noFill/>
          <a:ln w="0">
            <a:noFill/>
            <a:prstDash val="solid"/>
          </a:ln>
        </p:spPr>
        <p:txBody>
          <a:bodyPr lIns="0" tIns="0" rIns="0" bIns="0" anchor="ctr">
            <a:normAutofit/>
          </a:bodyPr>
          <a:lstStyle/>
          <a:p>
            <a:pPr algn="l">
              <a:defRPr sz="2100" b="1">
                <a:solidFill>
                  <a:srgbClr val="111827"/>
                </a:solidFill>
                <a:latin typeface="Yu Gothic"/>
                <a:ea typeface="Yu Gothic"/>
                <a:cs typeface="Yu Gothic"/>
              </a:defRPr>
            </a:pPr>
            <a:r>
              <a:rPr sz="2100" b="1">
                <a:solidFill>
                  <a:srgbClr val="111827"/>
                </a:solidFill>
                <a:latin typeface="Yu Gothic"/>
                <a:ea typeface="Yu Gothic"/>
                <a:cs typeface="Yu Gothic"/>
              </a:rPr>
              <a:t>一般的な</a:t>
            </a:r>
          </a:p>
          <a:p>
            <a:pPr algn="l">
              <a:defRPr sz="2100" b="1">
                <a:solidFill>
                  <a:srgbClr val="111827"/>
                </a:solidFill>
                <a:latin typeface="Yu Gothic"/>
                <a:ea typeface="Yu Gothic"/>
                <a:cs typeface="Yu Gothic"/>
              </a:defRPr>
            </a:pPr>
            <a:r>
              <a:rPr sz="2100" b="1">
                <a:solidFill>
                  <a:srgbClr val="111827"/>
                </a:solidFill>
                <a:latin typeface="Yu Gothic"/>
                <a:ea typeface="Yu Gothic"/>
                <a:cs typeface="Yu Gothic"/>
              </a:rPr>
              <a:t>AI適用可能性</a:t>
            </a:r>
          </a:p>
        </p:txBody>
      </p:sp>
      <p:sp>
        <p:nvSpPr>
          <p:cNvPr id="27" name="applicability-scale">
            <a:extLst>
              <a:ext uri="{FF2B5EF4-FFF2-40B4-BE49-F238E27FC236}">
                <a16:creationId xmlns:a16="http://schemas.microsoft.com/office/drawing/2014/main" id="{7C901998-EA65-4D8A-A465-D1DADFAEF9D3}"/>
              </a:ext>
            </a:extLst>
          </p:cNvPr>
          <p:cNvSpPr>
            <a:spLocks noGrp="1"/>
          </p:cNvSpPr>
          <p:nvPr/>
        </p:nvSpPr>
        <p:spPr>
          <a:xfrm>
            <a:off x="9220200" y="3638550"/>
            <a:ext cx="2190750" cy="247650"/>
          </a:xfrm>
          <a:prstGeom prst="rect">
            <a:avLst/>
          </a:prstGeom>
          <a:noFill/>
          <a:ln w="0">
            <a:noFill/>
            <a:prstDash val="solid"/>
          </a:ln>
        </p:spPr>
        <p:txBody>
          <a:bodyPr lIns="0" tIns="0" rIns="0" bIns="0" anchor="t">
            <a:normAutofit/>
          </a:bodyPr>
          <a:lstStyle/>
          <a:p>
            <a:pPr algn="ctr">
              <a:defRPr sz="1500" b="1">
                <a:solidFill>
                  <a:srgbClr val="087FB4"/>
                </a:solidFill>
                <a:latin typeface="Yu Gothic"/>
                <a:ea typeface="Yu Gothic"/>
                <a:cs typeface="Yu Gothic"/>
              </a:defRPr>
            </a:pPr>
            <a:r>
              <a:rPr sz="1500" b="1">
                <a:solidFill>
                  <a:srgbClr val="087FB4"/>
                </a:solidFill>
                <a:latin typeface="Yu Gothic"/>
                <a:ea typeface="Yu Gothic"/>
                <a:cs typeface="Yu Gothic"/>
              </a:rPr>
              <a:t>0  ／  1  ／  2</a:t>
            </a:r>
          </a:p>
        </p:txBody>
      </p:sp>
      <p:sp>
        <p:nvSpPr>
          <p:cNvPr id="28" name="objective-band">
            <a:extLst>
              <a:ext uri="{FF2B5EF4-FFF2-40B4-BE49-F238E27FC236}">
                <a16:creationId xmlns:a16="http://schemas.microsoft.com/office/drawing/2014/main" id="{6B324075-0527-427B-837A-1DAD9D8295B3}"/>
              </a:ext>
            </a:extLst>
          </p:cNvPr>
          <p:cNvSpPr>
            <a:spLocks noGrp="1"/>
          </p:cNvSpPr>
          <p:nvPr/>
        </p:nvSpPr>
        <p:spPr>
          <a:xfrm>
            <a:off x="457200" y="5105400"/>
            <a:ext cx="11258550" cy="952500"/>
          </a:xfrm>
          <a:prstGeom prst="roundRect">
            <a:avLst>
              <a:gd name="adj" fmla="val 8000"/>
            </a:avLst>
          </a:prstGeom>
          <a:solidFill>
            <a:srgbClr val="111827"/>
          </a:solidFill>
          <a:ln w="0">
            <a:noFill/>
            <a:prstDash val="solid"/>
          </a:ln>
        </p:spPr>
        <p:txBody>
          <a:bodyPr/>
          <a:lstStyle/>
          <a:p>
            <a:endParaRPr lang="ja-JP" altLang="en-US"/>
          </a:p>
        </p:txBody>
      </p:sp>
      <p:sp>
        <p:nvSpPr>
          <p:cNvPr id="29" name="objective-text">
            <a:extLst>
              <a:ext uri="{FF2B5EF4-FFF2-40B4-BE49-F238E27FC236}">
                <a16:creationId xmlns:a16="http://schemas.microsoft.com/office/drawing/2014/main" id="{ABDBAA19-F473-421D-8D14-23D43DEACF74}"/>
              </a:ext>
            </a:extLst>
          </p:cNvPr>
          <p:cNvSpPr>
            <a:spLocks noGrp="1"/>
          </p:cNvSpPr>
          <p:nvPr/>
        </p:nvSpPr>
        <p:spPr>
          <a:xfrm>
            <a:off x="742950" y="5372100"/>
            <a:ext cx="10668000" cy="419100"/>
          </a:xfrm>
          <a:prstGeom prst="rect">
            <a:avLst/>
          </a:prstGeom>
          <a:noFill/>
          <a:ln w="0">
            <a:noFill/>
            <a:prstDash val="solid"/>
          </a:ln>
        </p:spPr>
        <p:txBody>
          <a:bodyPr lIns="0" tIns="0" rIns="0" bIns="0" anchor="ctr">
            <a:normAutofit/>
          </a:bodyPr>
          <a:lstStyle/>
          <a:p>
            <a:pPr algn="ctr">
              <a:defRPr sz="2025" b="1">
                <a:solidFill>
                  <a:srgbClr val="FFFFFF"/>
                </a:solidFill>
                <a:latin typeface="Yu Gothic"/>
                <a:ea typeface="Yu Gothic"/>
                <a:cs typeface="Yu Gothic"/>
              </a:defRPr>
            </a:pPr>
            <a:r>
              <a:rPr sz="2025" b="1">
                <a:solidFill>
                  <a:srgbClr val="FFFFFF"/>
                </a:solidFill>
                <a:latin typeface="Yu Gothic"/>
                <a:ea typeface="Yu Gothic"/>
                <a:cs typeface="Yu Gothic"/>
              </a:rPr>
              <a:t>『AIUが得意そう』ではなく、行政側に実在するAI活用機会から探索する</a:t>
            </a:r>
          </a:p>
        </p:txBody>
      </p:sp>
    </p:spTree>
    <p:extLst>
      <p:ext uri="{BB962C8B-B14F-4D97-AF65-F5344CB8AC3E}">
        <p14:creationId xmlns:p14="http://schemas.microsoft.com/office/powerpoint/2010/main" val="2106465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section-3">
            <a:extLst>
              <a:ext uri="{FF2B5EF4-FFF2-40B4-BE49-F238E27FC236}">
                <a16:creationId xmlns:a16="http://schemas.microsoft.com/office/drawing/2014/main" id="{A20AA247-5133-4C9B-98E5-47DBEC75342E}"/>
              </a:ext>
            </a:extLst>
          </p:cNvPr>
          <p:cNvSpPr>
            <a:spLocks noGrp="1"/>
          </p:cNvSpPr>
          <p:nvPr/>
        </p:nvSpPr>
        <p:spPr>
          <a:xfrm>
            <a:off x="400050" y="247650"/>
            <a:ext cx="2667000" cy="228600"/>
          </a:xfrm>
          <a:prstGeom prst="rect">
            <a:avLst/>
          </a:prstGeom>
          <a:noFill/>
          <a:ln w="0">
            <a:noFill/>
            <a:prstDash val="solid"/>
          </a:ln>
        </p:spPr>
        <p:txBody>
          <a:bodyPr lIns="0" tIns="0" rIns="0" bIns="0" anchor="t">
            <a:normAutofit/>
          </a:bodyPr>
          <a:lstStyle/>
          <a:p>
            <a:pPr algn="l">
              <a:defRPr sz="1200" b="1">
                <a:solidFill>
                  <a:srgbClr val="087FB4"/>
                </a:solidFill>
                <a:latin typeface="Yu Gothic"/>
                <a:ea typeface="Yu Gothic"/>
                <a:cs typeface="Yu Gothic"/>
              </a:defRPr>
            </a:pPr>
            <a:r>
              <a:rPr sz="1200" b="1">
                <a:solidFill>
                  <a:srgbClr val="087FB4"/>
                </a:solidFill>
                <a:latin typeface="Yu Gothic"/>
                <a:ea typeface="Yu Gothic"/>
                <a:cs typeface="Yu Gothic"/>
              </a:rPr>
              <a:t>02｜有望領域</a:t>
            </a:r>
          </a:p>
        </p:txBody>
      </p:sp>
      <p:sp>
        <p:nvSpPr>
          <p:cNvPr id="2" name="title-3">
            <a:extLst>
              <a:ext uri="{FF2B5EF4-FFF2-40B4-BE49-F238E27FC236}">
                <a16:creationId xmlns:a16="http://schemas.microsoft.com/office/drawing/2014/main" id="{2FE1EC7C-1F2C-4A98-975D-E06E435037B8}"/>
              </a:ext>
            </a:extLst>
          </p:cNvPr>
          <p:cNvSpPr>
            <a:spLocks noGrp="1"/>
          </p:cNvSpPr>
          <p:nvPr/>
        </p:nvSpPr>
        <p:spPr>
          <a:xfrm>
            <a:off x="400050" y="552450"/>
            <a:ext cx="10953750" cy="571500"/>
          </a:xfrm>
          <a:prstGeom prst="rect">
            <a:avLst/>
          </a:prstGeom>
          <a:noFill/>
          <a:ln w="0">
            <a:noFill/>
            <a:prstDash val="solid"/>
          </a:ln>
        </p:spPr>
        <p:txBody>
          <a:bodyPr lIns="0" tIns="0" rIns="0" bIns="0" anchor="ctr">
            <a:normAutofit/>
          </a:bodyPr>
          <a:lstStyle/>
          <a:p>
            <a:pPr algn="l">
              <a:defRPr sz="2850" b="1">
                <a:solidFill>
                  <a:srgbClr val="111827"/>
                </a:solidFill>
                <a:latin typeface="Yu Gothic"/>
                <a:ea typeface="Yu Gothic"/>
                <a:cs typeface="Yu Gothic"/>
              </a:defRPr>
            </a:pPr>
            <a:r>
              <a:rPr sz="2850" b="1">
                <a:solidFill>
                  <a:srgbClr val="111827"/>
                </a:solidFill>
                <a:latin typeface="Yu Gothic"/>
                <a:ea typeface="Yu Gothic"/>
                <a:cs typeface="Yu Gothic"/>
              </a:rPr>
              <a:t>横展開できる重点領域は A01 × U06</a:t>
            </a:r>
          </a:p>
        </p:txBody>
      </p:sp>
      <p:sp>
        <p:nvSpPr>
          <p:cNvPr id="3" name="page-3">
            <a:extLst>
              <a:ext uri="{FF2B5EF4-FFF2-40B4-BE49-F238E27FC236}">
                <a16:creationId xmlns:a16="http://schemas.microsoft.com/office/drawing/2014/main" id="{276DCC84-30CD-46E6-8708-FD2ACA4744FF}"/>
              </a:ext>
            </a:extLst>
          </p:cNvPr>
          <p:cNvSpPr>
            <a:spLocks noGrp="1"/>
          </p:cNvSpPr>
          <p:nvPr/>
        </p:nvSpPr>
        <p:spPr>
          <a:xfrm>
            <a:off x="11334750" y="285750"/>
            <a:ext cx="438150" cy="209550"/>
          </a:xfrm>
          <a:prstGeom prst="rect">
            <a:avLst/>
          </a:prstGeom>
          <a:noFill/>
          <a:ln w="0">
            <a:noFill/>
            <a:prstDash val="solid"/>
          </a:ln>
        </p:spPr>
        <p:txBody>
          <a:bodyPr lIns="0" tIns="0" rIns="0" bIns="0" anchor="t">
            <a:normAutofit/>
          </a:bodyPr>
          <a:lstStyle/>
          <a:p>
            <a:pPr algn="r">
              <a:defRPr sz="1050" b="1">
                <a:solidFill>
                  <a:srgbClr val="586574"/>
                </a:solidFill>
                <a:latin typeface="Yu Gothic"/>
                <a:ea typeface="Yu Gothic"/>
                <a:cs typeface="Yu Gothic"/>
              </a:defRPr>
            </a:pPr>
            <a:r>
              <a:rPr sz="1050" b="1">
                <a:solidFill>
                  <a:srgbClr val="586574"/>
                </a:solidFill>
                <a:latin typeface="Yu Gothic"/>
                <a:ea typeface="Yu Gothic"/>
                <a:cs typeface="Yu Gothic"/>
              </a:rPr>
              <a:t>03</a:t>
            </a:r>
          </a:p>
        </p:txBody>
      </p:sp>
      <p:sp>
        <p:nvSpPr>
          <p:cNvPr id="4" name="header-rule-3">
            <a:extLst>
              <a:ext uri="{FF2B5EF4-FFF2-40B4-BE49-F238E27FC236}">
                <a16:creationId xmlns:a16="http://schemas.microsoft.com/office/drawing/2014/main" id="{794FA102-6F7F-49E3-92F8-F82AA6D1433C}"/>
              </a:ext>
            </a:extLst>
          </p:cNvPr>
          <p:cNvSpPr>
            <a:spLocks noGrp="1"/>
          </p:cNvSpPr>
          <p:nvPr/>
        </p:nvSpPr>
        <p:spPr>
          <a:xfrm>
            <a:off x="400050" y="1200150"/>
            <a:ext cx="11391900" cy="0"/>
          </a:xfrm>
          <a:prstGeom prst="line">
            <a:avLst/>
          </a:prstGeom>
          <a:noFill/>
          <a:ln w="9525">
            <a:solidFill>
              <a:srgbClr val="C9D0D8"/>
            </a:solidFill>
            <a:prstDash val="solid"/>
          </a:ln>
        </p:spPr>
        <p:txBody>
          <a:bodyPr/>
          <a:lstStyle/>
          <a:p>
            <a:endParaRPr lang="ja-JP" altLang="en-US"/>
          </a:p>
        </p:txBody>
      </p:sp>
      <p:sp>
        <p:nvSpPr>
          <p:cNvPr id="5" name="left-cap">
            <a:extLst>
              <a:ext uri="{FF2B5EF4-FFF2-40B4-BE49-F238E27FC236}">
                <a16:creationId xmlns:a16="http://schemas.microsoft.com/office/drawing/2014/main" id="{731B0E8C-D5D0-44B2-AF81-6D24817E3725}"/>
              </a:ext>
            </a:extLst>
          </p:cNvPr>
          <p:cNvSpPr>
            <a:spLocks noGrp="1"/>
          </p:cNvSpPr>
          <p:nvPr/>
        </p:nvSpPr>
        <p:spPr>
          <a:xfrm>
            <a:off x="457200" y="1466850"/>
            <a:ext cx="4476750" cy="266700"/>
          </a:xfrm>
          <a:prstGeom prst="rect">
            <a:avLst/>
          </a:prstGeom>
          <a:noFill/>
          <a:ln w="0">
            <a:noFill/>
            <a:prstDash val="solid"/>
          </a:ln>
        </p:spPr>
        <p:txBody>
          <a:bodyPr lIns="0" tIns="0" rIns="0" bIns="0" anchor="t">
            <a:normAutofit/>
          </a:bodyPr>
          <a:lstStyle/>
          <a:p>
            <a:pPr algn="l">
              <a:defRPr sz="1500" b="1">
                <a:solidFill>
                  <a:srgbClr val="586574"/>
                </a:solidFill>
                <a:latin typeface="Yu Gothic"/>
                <a:ea typeface="Yu Gothic"/>
                <a:cs typeface="Yu Gothic"/>
              </a:defRPr>
            </a:pPr>
            <a:r>
              <a:rPr sz="1500" b="1">
                <a:solidFill>
                  <a:srgbClr val="586574"/>
                </a:solidFill>
                <a:latin typeface="Yu Gothic"/>
                <a:ea typeface="Yu Gothic"/>
                <a:cs typeface="Yu Gothic"/>
              </a:rPr>
              <a:t>行政業務で絞る</a:t>
            </a:r>
          </a:p>
        </p:txBody>
      </p:sp>
      <p:sp>
        <p:nvSpPr>
          <p:cNvPr id="6" name="a13-box">
            <a:extLst>
              <a:ext uri="{FF2B5EF4-FFF2-40B4-BE49-F238E27FC236}">
                <a16:creationId xmlns:a16="http://schemas.microsoft.com/office/drawing/2014/main" id="{A9DE3794-FE5F-4AA1-ADD8-60250F2EA6CD}"/>
              </a:ext>
            </a:extLst>
          </p:cNvPr>
          <p:cNvSpPr>
            <a:spLocks noGrp="1"/>
          </p:cNvSpPr>
          <p:nvPr/>
        </p:nvSpPr>
        <p:spPr>
          <a:xfrm>
            <a:off x="457200" y="1885950"/>
            <a:ext cx="4667250" cy="1219200"/>
          </a:xfrm>
          <a:prstGeom prst="roundRect">
            <a:avLst>
              <a:gd name="adj" fmla="val 6250"/>
            </a:avLst>
          </a:prstGeom>
          <a:solidFill>
            <a:srgbClr val="F1F3F5"/>
          </a:solidFill>
          <a:ln w="9525">
            <a:solidFill>
              <a:srgbClr val="C9D0D8"/>
            </a:solidFill>
            <a:prstDash val="solid"/>
          </a:ln>
        </p:spPr>
        <p:txBody>
          <a:bodyPr/>
          <a:lstStyle/>
          <a:p>
            <a:endParaRPr lang="ja-JP" altLang="en-US"/>
          </a:p>
        </p:txBody>
      </p:sp>
      <p:sp>
        <p:nvSpPr>
          <p:cNvPr id="7" name="a13-code">
            <a:extLst>
              <a:ext uri="{FF2B5EF4-FFF2-40B4-BE49-F238E27FC236}">
                <a16:creationId xmlns:a16="http://schemas.microsoft.com/office/drawing/2014/main" id="{22D30556-9FF2-45D2-A273-23DA96E155DB}"/>
              </a:ext>
            </a:extLst>
          </p:cNvPr>
          <p:cNvSpPr>
            <a:spLocks noGrp="1"/>
          </p:cNvSpPr>
          <p:nvPr/>
        </p:nvSpPr>
        <p:spPr>
          <a:xfrm>
            <a:off x="666750" y="2076450"/>
            <a:ext cx="800100" cy="323850"/>
          </a:xfrm>
          <a:prstGeom prst="rect">
            <a:avLst/>
          </a:prstGeom>
          <a:noFill/>
          <a:ln w="0">
            <a:noFill/>
            <a:prstDash val="solid"/>
          </a:ln>
        </p:spPr>
        <p:txBody>
          <a:bodyPr lIns="0" tIns="0" rIns="0" bIns="0" anchor="t">
            <a:normAutofit/>
          </a:bodyPr>
          <a:lstStyle/>
          <a:p>
            <a:pPr algn="l">
              <a:defRPr sz="2025" b="1">
                <a:solidFill>
                  <a:srgbClr val="586574"/>
                </a:solidFill>
                <a:latin typeface="Yu Gothic"/>
                <a:ea typeface="Yu Gothic"/>
                <a:cs typeface="Yu Gothic"/>
              </a:defRPr>
            </a:pPr>
            <a:r>
              <a:rPr sz="2025" b="1">
                <a:solidFill>
                  <a:srgbClr val="586574"/>
                </a:solidFill>
                <a:latin typeface="Yu Gothic"/>
                <a:ea typeface="Yu Gothic"/>
                <a:cs typeface="Yu Gothic"/>
              </a:rPr>
              <a:t>A13</a:t>
            </a:r>
          </a:p>
        </p:txBody>
      </p:sp>
      <p:sp>
        <p:nvSpPr>
          <p:cNvPr id="8" name="a13-name">
            <a:extLst>
              <a:ext uri="{FF2B5EF4-FFF2-40B4-BE49-F238E27FC236}">
                <a16:creationId xmlns:a16="http://schemas.microsoft.com/office/drawing/2014/main" id="{0CA4BFD3-2CED-4EB2-AB3D-468C2D471A0B}"/>
              </a:ext>
            </a:extLst>
          </p:cNvPr>
          <p:cNvSpPr>
            <a:spLocks noGrp="1"/>
          </p:cNvSpPr>
          <p:nvPr/>
        </p:nvSpPr>
        <p:spPr>
          <a:xfrm>
            <a:off x="1504950" y="2095500"/>
            <a:ext cx="3333750" cy="304800"/>
          </a:xfrm>
          <a:prstGeom prst="rect">
            <a:avLst/>
          </a:prstGeom>
          <a:noFill/>
          <a:ln w="0">
            <a:noFill/>
            <a:prstDash val="solid"/>
          </a:ln>
        </p:spPr>
        <p:txBody>
          <a:bodyPr lIns="0" tIns="0" rIns="0" bIns="0" anchor="t">
            <a:normAutofit/>
          </a:bodyPr>
          <a:lstStyle/>
          <a:p>
            <a:pPr algn="l">
              <a:defRPr sz="1650" b="1">
                <a:solidFill>
                  <a:srgbClr val="111827"/>
                </a:solidFill>
                <a:latin typeface="Yu Gothic"/>
                <a:ea typeface="Yu Gothic"/>
                <a:cs typeface="Yu Gothic"/>
              </a:defRPr>
            </a:pPr>
            <a:r>
              <a:rPr sz="1650" b="1">
                <a:solidFill>
                  <a:srgbClr val="111827"/>
                </a:solidFill>
                <a:latin typeface="Yu Gothic"/>
                <a:ea typeface="Yu Gothic"/>
                <a:cs typeface="Yu Gothic"/>
              </a:rPr>
              <a:t>研究開発・実証・社会実装</a:t>
            </a:r>
          </a:p>
        </p:txBody>
      </p:sp>
      <p:sp>
        <p:nvSpPr>
          <p:cNvPr id="9" name="a13-reason">
            <a:extLst>
              <a:ext uri="{FF2B5EF4-FFF2-40B4-BE49-F238E27FC236}">
                <a16:creationId xmlns:a16="http://schemas.microsoft.com/office/drawing/2014/main" id="{5795DEDB-5542-4587-B721-3597BE662CAA}"/>
              </a:ext>
            </a:extLst>
          </p:cNvPr>
          <p:cNvSpPr>
            <a:spLocks noGrp="1"/>
          </p:cNvSpPr>
          <p:nvPr/>
        </p:nvSpPr>
        <p:spPr>
          <a:xfrm>
            <a:off x="666750" y="2590800"/>
            <a:ext cx="4095750" cy="266700"/>
          </a:xfrm>
          <a:prstGeom prst="rect">
            <a:avLst/>
          </a:prstGeom>
          <a:noFill/>
          <a:ln w="0">
            <a:noFill/>
            <a:prstDash val="solid"/>
          </a:ln>
        </p:spPr>
        <p:txBody>
          <a:bodyPr lIns="0" tIns="0" rIns="0" bIns="0" anchor="t">
            <a:normAutofit/>
          </a:bodyPr>
          <a:lstStyle/>
          <a:p>
            <a:pPr algn="l">
              <a:defRPr sz="1350" b="0">
                <a:solidFill>
                  <a:srgbClr val="586574"/>
                </a:solidFill>
                <a:latin typeface="Yu Gothic"/>
                <a:ea typeface="Yu Gothic"/>
                <a:cs typeface="Yu Gothic"/>
              </a:defRPr>
            </a:pPr>
            <a:r>
              <a:rPr sz="1350" b="0">
                <a:solidFill>
                  <a:srgbClr val="586574"/>
                </a:solidFill>
                <a:latin typeface="Yu Gothic"/>
                <a:ea typeface="Yu Gothic"/>
                <a:cs typeface="Yu Gothic"/>
              </a:rPr>
              <a:t>機会は大きいが、技術そのものの開発寄り</a:t>
            </a:r>
          </a:p>
        </p:txBody>
      </p:sp>
      <p:sp>
        <p:nvSpPr>
          <p:cNvPr id="10" name="a01-box">
            <a:extLst>
              <a:ext uri="{FF2B5EF4-FFF2-40B4-BE49-F238E27FC236}">
                <a16:creationId xmlns:a16="http://schemas.microsoft.com/office/drawing/2014/main" id="{630C80A2-04D4-4337-8480-5340559FDC9A}"/>
              </a:ext>
            </a:extLst>
          </p:cNvPr>
          <p:cNvSpPr>
            <a:spLocks noGrp="1"/>
          </p:cNvSpPr>
          <p:nvPr/>
        </p:nvSpPr>
        <p:spPr>
          <a:xfrm>
            <a:off x="457200" y="3333750"/>
            <a:ext cx="4667250" cy="1485900"/>
          </a:xfrm>
          <a:prstGeom prst="roundRect">
            <a:avLst>
              <a:gd name="adj" fmla="val 5128"/>
            </a:avLst>
          </a:prstGeom>
          <a:solidFill>
            <a:srgbClr val="EAF7FC"/>
          </a:solidFill>
          <a:ln w="28575">
            <a:solidFill>
              <a:srgbClr val="18A8E0"/>
            </a:solidFill>
            <a:prstDash val="solid"/>
          </a:ln>
        </p:spPr>
        <p:txBody>
          <a:bodyPr/>
          <a:lstStyle/>
          <a:p>
            <a:endParaRPr lang="ja-JP" altLang="en-US"/>
          </a:p>
        </p:txBody>
      </p:sp>
      <p:sp>
        <p:nvSpPr>
          <p:cNvPr id="11" name="a01-code">
            <a:extLst>
              <a:ext uri="{FF2B5EF4-FFF2-40B4-BE49-F238E27FC236}">
                <a16:creationId xmlns:a16="http://schemas.microsoft.com/office/drawing/2014/main" id="{37DE04C6-2E97-44AB-AC93-5785E8BC4382}"/>
              </a:ext>
            </a:extLst>
          </p:cNvPr>
          <p:cNvSpPr>
            <a:spLocks noGrp="1"/>
          </p:cNvSpPr>
          <p:nvPr/>
        </p:nvSpPr>
        <p:spPr>
          <a:xfrm>
            <a:off x="666750" y="3543300"/>
            <a:ext cx="800100" cy="323850"/>
          </a:xfrm>
          <a:prstGeom prst="rect">
            <a:avLst/>
          </a:prstGeom>
          <a:noFill/>
          <a:ln w="0">
            <a:noFill/>
            <a:prstDash val="solid"/>
          </a:ln>
        </p:spPr>
        <p:txBody>
          <a:bodyPr lIns="0" tIns="0" rIns="0" bIns="0" anchor="t">
            <a:normAutofit fontScale="97701"/>
          </a:bodyPr>
          <a:lstStyle/>
          <a:p>
            <a:pPr algn="l">
              <a:defRPr sz="2175" b="1">
                <a:solidFill>
                  <a:srgbClr val="087FB4"/>
                </a:solidFill>
                <a:latin typeface="Yu Gothic"/>
                <a:ea typeface="Yu Gothic"/>
                <a:cs typeface="Yu Gothic"/>
              </a:defRPr>
            </a:pPr>
            <a:r>
              <a:rPr sz="2175" b="1">
                <a:solidFill>
                  <a:srgbClr val="087FB4"/>
                </a:solidFill>
                <a:latin typeface="Yu Gothic"/>
                <a:ea typeface="Yu Gothic"/>
                <a:cs typeface="Yu Gothic"/>
              </a:rPr>
              <a:t>A01</a:t>
            </a:r>
          </a:p>
        </p:txBody>
      </p:sp>
      <p:sp>
        <p:nvSpPr>
          <p:cNvPr id="12" name="a01-name">
            <a:extLst>
              <a:ext uri="{FF2B5EF4-FFF2-40B4-BE49-F238E27FC236}">
                <a16:creationId xmlns:a16="http://schemas.microsoft.com/office/drawing/2014/main" id="{91741C02-9B46-4597-BD5E-F8C2CEFE26DF}"/>
              </a:ext>
            </a:extLst>
          </p:cNvPr>
          <p:cNvSpPr>
            <a:spLocks noGrp="1"/>
          </p:cNvSpPr>
          <p:nvPr/>
        </p:nvSpPr>
        <p:spPr>
          <a:xfrm>
            <a:off x="1504950" y="3562350"/>
            <a:ext cx="3333750" cy="323850"/>
          </a:xfrm>
          <a:prstGeom prst="rect">
            <a:avLst/>
          </a:prstGeom>
          <a:noFill/>
          <a:ln w="0">
            <a:noFill/>
            <a:prstDash val="solid"/>
          </a:ln>
        </p:spPr>
        <p:txBody>
          <a:bodyPr lIns="0" tIns="0" rIns="0" bIns="0" anchor="t">
            <a:normAutofit/>
          </a:bodyPr>
          <a:lstStyle/>
          <a:p>
            <a:pPr algn="l">
              <a:defRPr sz="1875" b="1">
                <a:solidFill>
                  <a:srgbClr val="111827"/>
                </a:solidFill>
                <a:latin typeface="Yu Gothic"/>
                <a:ea typeface="Yu Gothic"/>
                <a:cs typeface="Yu Gothic"/>
              </a:defRPr>
            </a:pPr>
            <a:r>
              <a:rPr sz="1875" b="1">
                <a:solidFill>
                  <a:srgbClr val="111827"/>
                </a:solidFill>
                <a:latin typeface="Yu Gothic"/>
                <a:ea typeface="Yu Gothic"/>
                <a:cs typeface="Yu Gothic"/>
              </a:rPr>
              <a:t>調査・情報処理・分析</a:t>
            </a:r>
          </a:p>
        </p:txBody>
      </p:sp>
      <p:sp>
        <p:nvSpPr>
          <p:cNvPr id="13" name="a01-reason">
            <a:extLst>
              <a:ext uri="{FF2B5EF4-FFF2-40B4-BE49-F238E27FC236}">
                <a16:creationId xmlns:a16="http://schemas.microsoft.com/office/drawing/2014/main" id="{14998340-B6B9-4CB8-96FF-01813A499546}"/>
              </a:ext>
            </a:extLst>
          </p:cNvPr>
          <p:cNvSpPr>
            <a:spLocks noGrp="1"/>
          </p:cNvSpPr>
          <p:nvPr/>
        </p:nvSpPr>
        <p:spPr>
          <a:xfrm>
            <a:off x="666750" y="4114800"/>
            <a:ext cx="4095750" cy="514350"/>
          </a:xfrm>
          <a:prstGeom prst="rect">
            <a:avLst/>
          </a:prstGeom>
          <a:noFill/>
          <a:ln w="0">
            <a:noFill/>
            <a:prstDash val="solid"/>
          </a:ln>
        </p:spPr>
        <p:txBody>
          <a:bodyPr lIns="0" tIns="0" rIns="0" bIns="0" anchor="t">
            <a:normAutofit/>
          </a:bodyPr>
          <a:lstStyle/>
          <a:p>
            <a:pPr algn="l">
              <a:defRPr sz="1350" b="0">
                <a:solidFill>
                  <a:srgbClr val="586574"/>
                </a:solidFill>
                <a:latin typeface="Yu Gothic"/>
                <a:ea typeface="Yu Gothic"/>
                <a:cs typeface="Yu Gothic"/>
              </a:defRPr>
            </a:pPr>
            <a:r>
              <a:rPr sz="1350" b="0">
                <a:solidFill>
                  <a:srgbClr val="586574"/>
                </a:solidFill>
                <a:latin typeface="Yu Gothic"/>
                <a:ea typeface="Yu Gothic"/>
                <a:cs typeface="Yu Gothic"/>
              </a:rPr>
              <a:t>政策・行政業務の意思決定高度化へ</a:t>
            </a:r>
          </a:p>
          <a:p>
            <a:pPr algn="l">
              <a:defRPr sz="1350" b="0">
                <a:solidFill>
                  <a:srgbClr val="586574"/>
                </a:solidFill>
                <a:latin typeface="Yu Gothic"/>
                <a:ea typeface="Yu Gothic"/>
                <a:cs typeface="Yu Gothic"/>
              </a:defRPr>
            </a:pPr>
            <a:r>
              <a:rPr sz="1350" b="0">
                <a:solidFill>
                  <a:srgbClr val="586574"/>
                </a:solidFill>
                <a:latin typeface="Yu Gothic"/>
                <a:ea typeface="Yu Gothic"/>
                <a:cs typeface="Yu Gothic"/>
              </a:rPr>
              <a:t>コンサルティングとして横展開しやすい</a:t>
            </a:r>
          </a:p>
        </p:txBody>
      </p:sp>
      <p:sp>
        <p:nvSpPr>
          <p:cNvPr id="14" name="arrow-a01-u06">
            <a:extLst>
              <a:ext uri="{FF2B5EF4-FFF2-40B4-BE49-F238E27FC236}">
                <a16:creationId xmlns:a16="http://schemas.microsoft.com/office/drawing/2014/main" id="{43BB5653-BF01-4C62-8EDF-18F4F305CEA3}"/>
              </a:ext>
            </a:extLst>
          </p:cNvPr>
          <p:cNvSpPr>
            <a:spLocks noGrp="1"/>
          </p:cNvSpPr>
          <p:nvPr/>
        </p:nvSpPr>
        <p:spPr>
          <a:xfrm>
            <a:off x="5105400" y="3905250"/>
            <a:ext cx="628650" cy="361950"/>
          </a:xfrm>
          <a:prstGeom prst="rightArrow">
            <a:avLst/>
          </a:prstGeom>
          <a:solidFill>
            <a:srgbClr val="18A8E0"/>
          </a:solidFill>
          <a:ln w="0">
            <a:noFill/>
            <a:prstDash val="solid"/>
          </a:ln>
        </p:spPr>
        <p:txBody>
          <a:bodyPr/>
          <a:lstStyle/>
          <a:p>
            <a:endParaRPr lang="ja-JP" altLang="en-US"/>
          </a:p>
        </p:txBody>
      </p:sp>
      <p:sp>
        <p:nvSpPr>
          <p:cNvPr id="15" name="right-cap">
            <a:extLst>
              <a:ext uri="{FF2B5EF4-FFF2-40B4-BE49-F238E27FC236}">
                <a16:creationId xmlns:a16="http://schemas.microsoft.com/office/drawing/2014/main" id="{65E51001-B0A7-416D-AEF0-A8147AFEEAE4}"/>
              </a:ext>
            </a:extLst>
          </p:cNvPr>
          <p:cNvSpPr>
            <a:spLocks noGrp="1"/>
          </p:cNvSpPr>
          <p:nvPr/>
        </p:nvSpPr>
        <p:spPr>
          <a:xfrm>
            <a:off x="5962650" y="1466850"/>
            <a:ext cx="5753100" cy="266700"/>
          </a:xfrm>
          <a:prstGeom prst="rect">
            <a:avLst/>
          </a:prstGeom>
          <a:noFill/>
          <a:ln w="0">
            <a:noFill/>
            <a:prstDash val="solid"/>
          </a:ln>
        </p:spPr>
        <p:txBody>
          <a:bodyPr lIns="0" tIns="0" rIns="0" bIns="0" anchor="t">
            <a:normAutofit/>
          </a:bodyPr>
          <a:lstStyle/>
          <a:p>
            <a:pPr algn="l">
              <a:defRPr sz="1500" b="1">
                <a:solidFill>
                  <a:srgbClr val="586574"/>
                </a:solidFill>
                <a:latin typeface="Yu Gothic"/>
                <a:ea typeface="Yu Gothic"/>
                <a:cs typeface="Yu Gothic"/>
              </a:defRPr>
            </a:pPr>
            <a:r>
              <a:rPr sz="1500" b="1">
                <a:solidFill>
                  <a:srgbClr val="586574"/>
                </a:solidFill>
                <a:latin typeface="Yu Gothic"/>
                <a:ea typeface="Yu Gothic"/>
                <a:cs typeface="Yu Gothic"/>
              </a:rPr>
              <a:t>A01のAIユースケースで絞る</a:t>
            </a:r>
          </a:p>
        </p:txBody>
      </p:sp>
      <p:sp>
        <p:nvSpPr>
          <p:cNvPr id="16" name="other-candidates">
            <a:extLst>
              <a:ext uri="{FF2B5EF4-FFF2-40B4-BE49-F238E27FC236}">
                <a16:creationId xmlns:a16="http://schemas.microsoft.com/office/drawing/2014/main" id="{90C6CE2C-99ED-4A84-B8C4-23ADDB261BC0}"/>
              </a:ext>
            </a:extLst>
          </p:cNvPr>
          <p:cNvSpPr>
            <a:spLocks noGrp="1"/>
          </p:cNvSpPr>
          <p:nvPr/>
        </p:nvSpPr>
        <p:spPr>
          <a:xfrm>
            <a:off x="5962650" y="1885950"/>
            <a:ext cx="5753100" cy="304800"/>
          </a:xfrm>
          <a:prstGeom prst="rect">
            <a:avLst/>
          </a:prstGeom>
          <a:noFill/>
          <a:ln w="0">
            <a:noFill/>
            <a:prstDash val="solid"/>
          </a:ln>
        </p:spPr>
        <p:txBody>
          <a:bodyPr lIns="0" tIns="0" rIns="0" bIns="0" anchor="t">
            <a:normAutofit/>
          </a:bodyPr>
          <a:lstStyle/>
          <a:p>
            <a:pPr algn="l">
              <a:defRPr sz="1350" b="0">
                <a:solidFill>
                  <a:srgbClr val="586574"/>
                </a:solidFill>
                <a:latin typeface="Yu Gothic"/>
                <a:ea typeface="Yu Gothic"/>
                <a:cs typeface="Yu Gothic"/>
              </a:defRPr>
            </a:pPr>
            <a:r>
              <a:rPr sz="1350" b="0">
                <a:solidFill>
                  <a:srgbClr val="586574"/>
                </a:solidFill>
                <a:latin typeface="Yu Gothic"/>
                <a:ea typeface="Yu Gothic"/>
                <a:cs typeface="Yu Gothic"/>
              </a:rPr>
              <a:t>有力候補　U01 知識検索・RAG　／　U02 文書読解・構造化</a:t>
            </a:r>
          </a:p>
        </p:txBody>
      </p:sp>
      <p:sp>
        <p:nvSpPr>
          <p:cNvPr id="17" name="u06-box">
            <a:extLst>
              <a:ext uri="{FF2B5EF4-FFF2-40B4-BE49-F238E27FC236}">
                <a16:creationId xmlns:a16="http://schemas.microsoft.com/office/drawing/2014/main" id="{562A4A6E-5F30-40BB-8AA3-D1BFE8FC3AA2}"/>
              </a:ext>
            </a:extLst>
          </p:cNvPr>
          <p:cNvSpPr>
            <a:spLocks noGrp="1"/>
          </p:cNvSpPr>
          <p:nvPr/>
        </p:nvSpPr>
        <p:spPr>
          <a:xfrm>
            <a:off x="5962650" y="2362200"/>
            <a:ext cx="5753100" cy="2457450"/>
          </a:xfrm>
          <a:prstGeom prst="roundRect">
            <a:avLst>
              <a:gd name="adj" fmla="val 3876"/>
            </a:avLst>
          </a:prstGeom>
          <a:solidFill>
            <a:srgbClr val="111827"/>
          </a:solidFill>
          <a:ln w="0">
            <a:noFill/>
            <a:prstDash val="solid"/>
          </a:ln>
        </p:spPr>
        <p:txBody>
          <a:bodyPr/>
          <a:lstStyle/>
          <a:p>
            <a:endParaRPr lang="ja-JP" altLang="en-US"/>
          </a:p>
        </p:txBody>
      </p:sp>
      <p:sp>
        <p:nvSpPr>
          <p:cNvPr id="18" name="u06-title">
            <a:extLst>
              <a:ext uri="{FF2B5EF4-FFF2-40B4-BE49-F238E27FC236}">
                <a16:creationId xmlns:a16="http://schemas.microsoft.com/office/drawing/2014/main" id="{64F52089-A698-49E2-B054-9FA4875253BC}"/>
              </a:ext>
            </a:extLst>
          </p:cNvPr>
          <p:cNvSpPr>
            <a:spLocks noGrp="1"/>
          </p:cNvSpPr>
          <p:nvPr/>
        </p:nvSpPr>
        <p:spPr>
          <a:xfrm>
            <a:off x="6229350" y="2609850"/>
            <a:ext cx="5238750" cy="419100"/>
          </a:xfrm>
          <a:prstGeom prst="rect">
            <a:avLst/>
          </a:prstGeom>
          <a:noFill/>
          <a:ln w="0">
            <a:noFill/>
            <a:prstDash val="solid"/>
          </a:ln>
        </p:spPr>
        <p:txBody>
          <a:bodyPr lIns="0" tIns="0" rIns="0" bIns="0" anchor="t">
            <a:normAutofit/>
          </a:bodyPr>
          <a:lstStyle/>
          <a:p>
            <a:pPr algn="l">
              <a:defRPr sz="2550" b="1">
                <a:solidFill>
                  <a:srgbClr val="FFFFFF"/>
                </a:solidFill>
                <a:latin typeface="Yu Gothic"/>
                <a:ea typeface="Yu Gothic"/>
                <a:cs typeface="Yu Gothic"/>
              </a:defRPr>
            </a:pPr>
            <a:r>
              <a:rPr sz="2550" b="1">
                <a:solidFill>
                  <a:srgbClr val="FFFFFF"/>
                </a:solidFill>
                <a:latin typeface="Yu Gothic"/>
                <a:ea typeface="Yu Gothic"/>
                <a:cs typeface="Yu Gothic"/>
              </a:rPr>
              <a:t>U06  予測・将来推計</a:t>
            </a:r>
          </a:p>
        </p:txBody>
      </p:sp>
      <p:sp>
        <p:nvSpPr>
          <p:cNvPr id="19" name="u06-rule">
            <a:extLst>
              <a:ext uri="{FF2B5EF4-FFF2-40B4-BE49-F238E27FC236}">
                <a16:creationId xmlns:a16="http://schemas.microsoft.com/office/drawing/2014/main" id="{B4C10AEC-E90A-46AF-A2D6-26761BAD5E26}"/>
              </a:ext>
            </a:extLst>
          </p:cNvPr>
          <p:cNvSpPr>
            <a:spLocks noGrp="1"/>
          </p:cNvSpPr>
          <p:nvPr/>
        </p:nvSpPr>
        <p:spPr>
          <a:xfrm>
            <a:off x="6229350" y="3162300"/>
            <a:ext cx="5219700" cy="0"/>
          </a:xfrm>
          <a:prstGeom prst="line">
            <a:avLst/>
          </a:prstGeom>
          <a:noFill/>
          <a:ln w="9525">
            <a:solidFill>
              <a:srgbClr val="4A5563"/>
            </a:solidFill>
            <a:prstDash val="solid"/>
          </a:ln>
        </p:spPr>
        <p:txBody>
          <a:bodyPr/>
          <a:lstStyle/>
          <a:p>
            <a:endParaRPr lang="ja-JP" altLang="en-US"/>
          </a:p>
        </p:txBody>
      </p:sp>
      <p:sp>
        <p:nvSpPr>
          <p:cNvPr id="20" name="criterion-label-0">
            <a:extLst>
              <a:ext uri="{FF2B5EF4-FFF2-40B4-BE49-F238E27FC236}">
                <a16:creationId xmlns:a16="http://schemas.microsoft.com/office/drawing/2014/main" id="{87764ECE-8433-4349-BF26-2651317716B3}"/>
              </a:ext>
            </a:extLst>
          </p:cNvPr>
          <p:cNvSpPr>
            <a:spLocks noGrp="1"/>
          </p:cNvSpPr>
          <p:nvPr/>
        </p:nvSpPr>
        <p:spPr>
          <a:xfrm>
            <a:off x="6229350" y="3371850"/>
            <a:ext cx="1619250" cy="285750"/>
          </a:xfrm>
          <a:prstGeom prst="rect">
            <a:avLst/>
          </a:prstGeom>
          <a:noFill/>
          <a:ln w="0">
            <a:noFill/>
            <a:prstDash val="solid"/>
          </a:ln>
        </p:spPr>
        <p:txBody>
          <a:bodyPr lIns="0" tIns="0" rIns="0" bIns="0" anchor="t">
            <a:normAutofit/>
          </a:bodyPr>
          <a:lstStyle/>
          <a:p>
            <a:pPr algn="l">
              <a:defRPr sz="1500" b="1">
                <a:solidFill>
                  <a:srgbClr val="84D9F7"/>
                </a:solidFill>
                <a:latin typeface="Yu Gothic"/>
                <a:ea typeface="Yu Gothic"/>
                <a:cs typeface="Yu Gothic"/>
              </a:defRPr>
            </a:pPr>
            <a:r>
              <a:rPr sz="1500" b="1">
                <a:solidFill>
                  <a:srgbClr val="84D9F7"/>
                </a:solidFill>
                <a:latin typeface="Yu Gothic"/>
                <a:ea typeface="Yu Gothic"/>
                <a:cs typeface="Yu Gothic"/>
              </a:rPr>
              <a:t>AI適用密度</a:t>
            </a:r>
          </a:p>
        </p:txBody>
      </p:sp>
      <p:sp>
        <p:nvSpPr>
          <p:cNvPr id="21" name="criterion-body-0">
            <a:extLst>
              <a:ext uri="{FF2B5EF4-FFF2-40B4-BE49-F238E27FC236}">
                <a16:creationId xmlns:a16="http://schemas.microsoft.com/office/drawing/2014/main" id="{AC27F3CE-588F-455D-AD75-0FA6C9AA65F9}"/>
              </a:ext>
            </a:extLst>
          </p:cNvPr>
          <p:cNvSpPr>
            <a:spLocks noGrp="1"/>
          </p:cNvSpPr>
          <p:nvPr/>
        </p:nvSpPr>
        <p:spPr>
          <a:xfrm>
            <a:off x="7924800" y="3381375"/>
            <a:ext cx="3429000" cy="266700"/>
          </a:xfrm>
          <a:prstGeom prst="rect">
            <a:avLst/>
          </a:prstGeom>
          <a:noFill/>
          <a:ln w="0">
            <a:noFill/>
            <a:prstDash val="solid"/>
          </a:ln>
        </p:spPr>
        <p:txBody>
          <a:bodyPr lIns="0" tIns="0" rIns="0" bIns="0" anchor="t">
            <a:normAutofit/>
          </a:bodyPr>
          <a:lstStyle/>
          <a:p>
            <a:pPr algn="l">
              <a:defRPr sz="1350" b="0">
                <a:solidFill>
                  <a:srgbClr val="FFFFFF"/>
                </a:solidFill>
                <a:latin typeface="Yu Gothic"/>
                <a:ea typeface="Yu Gothic"/>
                <a:cs typeface="Yu Gothic"/>
              </a:defRPr>
            </a:pPr>
            <a:r>
              <a:rPr sz="1350" b="0">
                <a:solidFill>
                  <a:srgbClr val="FFFFFF"/>
                </a:solidFill>
                <a:latin typeface="Yu Gothic"/>
                <a:ea typeface="Yu Gothic"/>
                <a:cs typeface="Yu Gothic"/>
              </a:rPr>
              <a:t>AIを活用できる案件が多い</a:t>
            </a:r>
          </a:p>
        </p:txBody>
      </p:sp>
      <p:sp>
        <p:nvSpPr>
          <p:cNvPr id="22" name="criterion-label-1">
            <a:extLst>
              <a:ext uri="{FF2B5EF4-FFF2-40B4-BE49-F238E27FC236}">
                <a16:creationId xmlns:a16="http://schemas.microsoft.com/office/drawing/2014/main" id="{33EEF485-DD74-4DF0-97C5-EA59E28F7795}"/>
              </a:ext>
            </a:extLst>
          </p:cNvPr>
          <p:cNvSpPr>
            <a:spLocks noGrp="1"/>
          </p:cNvSpPr>
          <p:nvPr/>
        </p:nvSpPr>
        <p:spPr>
          <a:xfrm>
            <a:off x="6229350" y="3829050"/>
            <a:ext cx="1619250" cy="285750"/>
          </a:xfrm>
          <a:prstGeom prst="rect">
            <a:avLst/>
          </a:prstGeom>
          <a:noFill/>
          <a:ln w="0">
            <a:noFill/>
            <a:prstDash val="solid"/>
          </a:ln>
        </p:spPr>
        <p:txBody>
          <a:bodyPr lIns="0" tIns="0" rIns="0" bIns="0" anchor="t">
            <a:normAutofit/>
          </a:bodyPr>
          <a:lstStyle/>
          <a:p>
            <a:pPr algn="l">
              <a:defRPr sz="1500" b="1">
                <a:solidFill>
                  <a:srgbClr val="84D9F7"/>
                </a:solidFill>
                <a:latin typeface="Yu Gothic"/>
                <a:ea typeface="Yu Gothic"/>
                <a:cs typeface="Yu Gothic"/>
              </a:defRPr>
            </a:pPr>
            <a:r>
              <a:rPr sz="1500" b="1">
                <a:solidFill>
                  <a:srgbClr val="84D9F7"/>
                </a:solidFill>
                <a:latin typeface="Yu Gothic"/>
                <a:ea typeface="Yu Gothic"/>
                <a:cs typeface="Yu Gothic"/>
              </a:rPr>
              <a:t>需要の継続性</a:t>
            </a:r>
          </a:p>
        </p:txBody>
      </p:sp>
      <p:sp>
        <p:nvSpPr>
          <p:cNvPr id="23" name="criterion-body-1">
            <a:extLst>
              <a:ext uri="{FF2B5EF4-FFF2-40B4-BE49-F238E27FC236}">
                <a16:creationId xmlns:a16="http://schemas.microsoft.com/office/drawing/2014/main" id="{04A4D11C-7676-4D86-8CAA-F7659240BB47}"/>
              </a:ext>
            </a:extLst>
          </p:cNvPr>
          <p:cNvSpPr>
            <a:spLocks noGrp="1"/>
          </p:cNvSpPr>
          <p:nvPr/>
        </p:nvSpPr>
        <p:spPr>
          <a:xfrm>
            <a:off x="7924800" y="3838575"/>
            <a:ext cx="3429000" cy="266700"/>
          </a:xfrm>
          <a:prstGeom prst="rect">
            <a:avLst/>
          </a:prstGeom>
          <a:noFill/>
          <a:ln w="0">
            <a:noFill/>
            <a:prstDash val="solid"/>
          </a:ln>
        </p:spPr>
        <p:txBody>
          <a:bodyPr lIns="0" tIns="0" rIns="0" bIns="0" anchor="t">
            <a:normAutofit/>
          </a:bodyPr>
          <a:lstStyle/>
          <a:p>
            <a:pPr algn="l">
              <a:defRPr sz="1350" b="0">
                <a:solidFill>
                  <a:srgbClr val="FFFFFF"/>
                </a:solidFill>
                <a:latin typeface="Yu Gothic"/>
                <a:ea typeface="Yu Gothic"/>
                <a:cs typeface="Yu Gothic"/>
              </a:defRPr>
            </a:pPr>
            <a:r>
              <a:rPr sz="1350" b="0">
                <a:solidFill>
                  <a:srgbClr val="FFFFFF"/>
                </a:solidFill>
                <a:latin typeface="Yu Gothic"/>
                <a:ea typeface="Yu Gothic"/>
                <a:cs typeface="Yu Gothic"/>
              </a:rPr>
              <a:t>単発ではなく継続需要が見込める</a:t>
            </a:r>
          </a:p>
        </p:txBody>
      </p:sp>
      <p:sp>
        <p:nvSpPr>
          <p:cNvPr id="24" name="criterion-label-2">
            <a:extLst>
              <a:ext uri="{FF2B5EF4-FFF2-40B4-BE49-F238E27FC236}">
                <a16:creationId xmlns:a16="http://schemas.microsoft.com/office/drawing/2014/main" id="{947D8BD6-6261-4ADE-B244-3EF886966E9D}"/>
              </a:ext>
            </a:extLst>
          </p:cNvPr>
          <p:cNvSpPr>
            <a:spLocks noGrp="1"/>
          </p:cNvSpPr>
          <p:nvPr/>
        </p:nvSpPr>
        <p:spPr>
          <a:xfrm>
            <a:off x="6229350" y="4286250"/>
            <a:ext cx="1619250" cy="285750"/>
          </a:xfrm>
          <a:prstGeom prst="rect">
            <a:avLst/>
          </a:prstGeom>
          <a:noFill/>
          <a:ln w="0">
            <a:noFill/>
            <a:prstDash val="solid"/>
          </a:ln>
        </p:spPr>
        <p:txBody>
          <a:bodyPr lIns="0" tIns="0" rIns="0" bIns="0" anchor="t">
            <a:normAutofit/>
          </a:bodyPr>
          <a:lstStyle/>
          <a:p>
            <a:pPr algn="l">
              <a:defRPr sz="1500" b="1">
                <a:solidFill>
                  <a:srgbClr val="84D9F7"/>
                </a:solidFill>
                <a:latin typeface="Yu Gothic"/>
                <a:ea typeface="Yu Gothic"/>
                <a:cs typeface="Yu Gothic"/>
              </a:defRPr>
            </a:pPr>
            <a:r>
              <a:rPr sz="1500" b="1">
                <a:solidFill>
                  <a:srgbClr val="84D9F7"/>
                </a:solidFill>
                <a:latin typeface="Yu Gothic"/>
                <a:ea typeface="Yu Gothic"/>
                <a:cs typeface="Yu Gothic"/>
              </a:rPr>
              <a:t>共通業務の実在性</a:t>
            </a:r>
          </a:p>
        </p:txBody>
      </p:sp>
      <p:sp>
        <p:nvSpPr>
          <p:cNvPr id="25" name="criterion-body-2">
            <a:extLst>
              <a:ext uri="{FF2B5EF4-FFF2-40B4-BE49-F238E27FC236}">
                <a16:creationId xmlns:a16="http://schemas.microsoft.com/office/drawing/2014/main" id="{B9D398BE-1C6B-418E-8355-F39AB166AED2}"/>
              </a:ext>
            </a:extLst>
          </p:cNvPr>
          <p:cNvSpPr>
            <a:spLocks noGrp="1"/>
          </p:cNvSpPr>
          <p:nvPr/>
        </p:nvSpPr>
        <p:spPr>
          <a:xfrm>
            <a:off x="7924800" y="4295775"/>
            <a:ext cx="3429000" cy="266700"/>
          </a:xfrm>
          <a:prstGeom prst="rect">
            <a:avLst/>
          </a:prstGeom>
          <a:noFill/>
          <a:ln w="0">
            <a:noFill/>
            <a:prstDash val="solid"/>
          </a:ln>
        </p:spPr>
        <p:txBody>
          <a:bodyPr lIns="0" tIns="0" rIns="0" bIns="0" anchor="t">
            <a:normAutofit/>
          </a:bodyPr>
          <a:lstStyle/>
          <a:p>
            <a:pPr algn="l">
              <a:defRPr sz="1350" b="0">
                <a:solidFill>
                  <a:srgbClr val="FFFFFF"/>
                </a:solidFill>
                <a:latin typeface="Yu Gothic"/>
                <a:ea typeface="Yu Gothic"/>
                <a:cs typeface="Yu Gothic"/>
              </a:defRPr>
            </a:pPr>
            <a:r>
              <a:rPr sz="1350" b="0">
                <a:solidFill>
                  <a:srgbClr val="FFFFFF"/>
                </a:solidFill>
                <a:latin typeface="Yu Gothic"/>
                <a:ea typeface="Yu Gothic"/>
                <a:cs typeface="Yu Gothic"/>
              </a:rPr>
              <a:t>標準化し、複数案件へ横展開できる</a:t>
            </a:r>
          </a:p>
        </p:txBody>
      </p:sp>
      <p:sp>
        <p:nvSpPr>
          <p:cNvPr id="26" name="business-meaning">
            <a:extLst>
              <a:ext uri="{FF2B5EF4-FFF2-40B4-BE49-F238E27FC236}">
                <a16:creationId xmlns:a16="http://schemas.microsoft.com/office/drawing/2014/main" id="{51F1EE5B-697B-4301-8C3E-79635B9B7AEA}"/>
              </a:ext>
            </a:extLst>
          </p:cNvPr>
          <p:cNvSpPr>
            <a:spLocks noGrp="1"/>
          </p:cNvSpPr>
          <p:nvPr/>
        </p:nvSpPr>
        <p:spPr>
          <a:xfrm>
            <a:off x="457200" y="5257800"/>
            <a:ext cx="11258550" cy="781050"/>
          </a:xfrm>
          <a:prstGeom prst="roundRect">
            <a:avLst>
              <a:gd name="adj" fmla="val 9756"/>
            </a:avLst>
          </a:prstGeom>
          <a:solidFill>
            <a:srgbClr val="EAF7FC"/>
          </a:solidFill>
          <a:ln w="0">
            <a:noFill/>
            <a:prstDash val="solid"/>
          </a:ln>
        </p:spPr>
        <p:txBody>
          <a:bodyPr/>
          <a:lstStyle/>
          <a:p>
            <a:endParaRPr lang="ja-JP" altLang="en-US"/>
          </a:p>
        </p:txBody>
      </p:sp>
      <p:sp>
        <p:nvSpPr>
          <p:cNvPr id="27" name="business-meaning-text">
            <a:extLst>
              <a:ext uri="{FF2B5EF4-FFF2-40B4-BE49-F238E27FC236}">
                <a16:creationId xmlns:a16="http://schemas.microsoft.com/office/drawing/2014/main" id="{B9ADB1B5-9BB2-4893-A5FE-A3DBF4912212}"/>
              </a:ext>
            </a:extLst>
          </p:cNvPr>
          <p:cNvSpPr>
            <a:spLocks noGrp="1"/>
          </p:cNvSpPr>
          <p:nvPr/>
        </p:nvSpPr>
        <p:spPr>
          <a:xfrm>
            <a:off x="704850" y="5467350"/>
            <a:ext cx="10744200" cy="381000"/>
          </a:xfrm>
          <a:prstGeom prst="rect">
            <a:avLst/>
          </a:prstGeom>
          <a:noFill/>
          <a:ln w="0">
            <a:noFill/>
            <a:prstDash val="solid"/>
          </a:ln>
        </p:spPr>
        <p:txBody>
          <a:bodyPr lIns="0" tIns="0" rIns="0" bIns="0" anchor="ctr">
            <a:normAutofit/>
          </a:bodyPr>
          <a:lstStyle/>
          <a:p>
            <a:pPr algn="ctr">
              <a:defRPr sz="2025" b="1">
                <a:solidFill>
                  <a:srgbClr val="087FB4"/>
                </a:solidFill>
                <a:latin typeface="Yu Gothic"/>
                <a:ea typeface="Yu Gothic"/>
                <a:cs typeface="Yu Gothic"/>
              </a:defRPr>
            </a:pPr>
            <a:r>
              <a:rPr sz="2025" b="1">
                <a:solidFill>
                  <a:srgbClr val="087FB4"/>
                </a:solidFill>
                <a:latin typeface="Yu Gothic"/>
                <a:ea typeface="Yu Gothic"/>
                <a:cs typeface="Yu Gothic"/>
              </a:rPr>
              <a:t>案件化しやすい　×　継続需要がある　×　サービスとして横展開できる</a:t>
            </a:r>
          </a:p>
        </p:txBody>
      </p:sp>
    </p:spTree>
    <p:extLst>
      <p:ext uri="{BB962C8B-B14F-4D97-AF65-F5344CB8AC3E}">
        <p14:creationId xmlns:p14="http://schemas.microsoft.com/office/powerpoint/2010/main" val="714213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ection-4">
            <a:extLst>
              <a:ext uri="{FF2B5EF4-FFF2-40B4-BE49-F238E27FC236}">
                <a16:creationId xmlns:a16="http://schemas.microsoft.com/office/drawing/2014/main" id="{6B7F1E0E-E49D-4256-8865-DDDC6C3F5C98}"/>
              </a:ext>
            </a:extLst>
          </p:cNvPr>
          <p:cNvSpPr>
            <a:spLocks noGrp="1"/>
          </p:cNvSpPr>
          <p:nvPr/>
        </p:nvSpPr>
        <p:spPr>
          <a:xfrm>
            <a:off x="400050" y="247650"/>
            <a:ext cx="2667000" cy="228600"/>
          </a:xfrm>
          <a:prstGeom prst="rect">
            <a:avLst/>
          </a:prstGeom>
          <a:noFill/>
          <a:ln w="0">
            <a:noFill/>
            <a:prstDash val="solid"/>
          </a:ln>
        </p:spPr>
        <p:txBody>
          <a:bodyPr lIns="0" tIns="0" rIns="0" bIns="0" anchor="t">
            <a:normAutofit/>
          </a:bodyPr>
          <a:lstStyle/>
          <a:p>
            <a:pPr algn="l">
              <a:defRPr sz="1200" b="1">
                <a:solidFill>
                  <a:srgbClr val="087FB4"/>
                </a:solidFill>
                <a:latin typeface="Yu Gothic"/>
                <a:ea typeface="Yu Gothic"/>
                <a:cs typeface="Yu Gothic"/>
              </a:defRPr>
            </a:pPr>
            <a:r>
              <a:rPr sz="1200" b="1">
                <a:solidFill>
                  <a:srgbClr val="087FB4"/>
                </a:solidFill>
                <a:latin typeface="Yu Gothic"/>
                <a:ea typeface="Yu Gothic"/>
                <a:cs typeface="Yu Gothic"/>
              </a:rPr>
              <a:t>03｜攻略市場</a:t>
            </a:r>
          </a:p>
        </p:txBody>
      </p:sp>
      <p:sp>
        <p:nvSpPr>
          <p:cNvPr id="2" name="title-4">
            <a:extLst>
              <a:ext uri="{FF2B5EF4-FFF2-40B4-BE49-F238E27FC236}">
                <a16:creationId xmlns:a16="http://schemas.microsoft.com/office/drawing/2014/main" id="{F82A4345-7A6A-4857-B7DD-A75ED59C5557}"/>
              </a:ext>
            </a:extLst>
          </p:cNvPr>
          <p:cNvSpPr>
            <a:spLocks noGrp="1"/>
          </p:cNvSpPr>
          <p:nvPr/>
        </p:nvSpPr>
        <p:spPr>
          <a:xfrm>
            <a:off x="400050" y="552450"/>
            <a:ext cx="10953750" cy="571500"/>
          </a:xfrm>
          <a:prstGeom prst="rect">
            <a:avLst/>
          </a:prstGeom>
          <a:noFill/>
          <a:ln w="0">
            <a:noFill/>
            <a:prstDash val="solid"/>
          </a:ln>
        </p:spPr>
        <p:txBody>
          <a:bodyPr lIns="0" tIns="0" rIns="0" bIns="0" anchor="ctr">
            <a:normAutofit/>
          </a:bodyPr>
          <a:lstStyle/>
          <a:p>
            <a:pPr algn="l">
              <a:defRPr sz="2850" b="1">
                <a:solidFill>
                  <a:srgbClr val="111827"/>
                </a:solidFill>
                <a:latin typeface="Yu Gothic"/>
                <a:ea typeface="Yu Gothic"/>
                <a:cs typeface="Yu Gothic"/>
              </a:defRPr>
            </a:pPr>
            <a:r>
              <a:rPr sz="2850" b="1">
                <a:solidFill>
                  <a:srgbClr val="111827"/>
                </a:solidFill>
                <a:latin typeface="Yu Gothic"/>
                <a:ea typeface="Yu Gothic"/>
                <a:cs typeface="Yu Gothic"/>
              </a:rPr>
              <a:t>最初の攻略市場は、厚生労働省 × 医療・健康</a:t>
            </a:r>
          </a:p>
        </p:txBody>
      </p:sp>
      <p:sp>
        <p:nvSpPr>
          <p:cNvPr id="3" name="page-4">
            <a:extLst>
              <a:ext uri="{FF2B5EF4-FFF2-40B4-BE49-F238E27FC236}">
                <a16:creationId xmlns:a16="http://schemas.microsoft.com/office/drawing/2014/main" id="{38B0777C-2FEF-4D7E-BFF7-6D38592A477A}"/>
              </a:ext>
            </a:extLst>
          </p:cNvPr>
          <p:cNvSpPr>
            <a:spLocks noGrp="1"/>
          </p:cNvSpPr>
          <p:nvPr/>
        </p:nvSpPr>
        <p:spPr>
          <a:xfrm>
            <a:off x="11334750" y="285750"/>
            <a:ext cx="438150" cy="209550"/>
          </a:xfrm>
          <a:prstGeom prst="rect">
            <a:avLst/>
          </a:prstGeom>
          <a:noFill/>
          <a:ln w="0">
            <a:noFill/>
            <a:prstDash val="solid"/>
          </a:ln>
        </p:spPr>
        <p:txBody>
          <a:bodyPr lIns="0" tIns="0" rIns="0" bIns="0" anchor="t">
            <a:normAutofit/>
          </a:bodyPr>
          <a:lstStyle/>
          <a:p>
            <a:pPr algn="r">
              <a:defRPr sz="1050" b="1">
                <a:solidFill>
                  <a:srgbClr val="586574"/>
                </a:solidFill>
                <a:latin typeface="Yu Gothic"/>
                <a:ea typeface="Yu Gothic"/>
                <a:cs typeface="Yu Gothic"/>
              </a:defRPr>
            </a:pPr>
            <a:r>
              <a:rPr sz="1050" b="1">
                <a:solidFill>
                  <a:srgbClr val="586574"/>
                </a:solidFill>
                <a:latin typeface="Yu Gothic"/>
                <a:ea typeface="Yu Gothic"/>
                <a:cs typeface="Yu Gothic"/>
              </a:rPr>
              <a:t>04</a:t>
            </a:r>
          </a:p>
        </p:txBody>
      </p:sp>
      <p:sp>
        <p:nvSpPr>
          <p:cNvPr id="4" name="header-rule-4">
            <a:extLst>
              <a:ext uri="{FF2B5EF4-FFF2-40B4-BE49-F238E27FC236}">
                <a16:creationId xmlns:a16="http://schemas.microsoft.com/office/drawing/2014/main" id="{00D4EFB4-81B1-453F-96E4-929E03409440}"/>
              </a:ext>
            </a:extLst>
          </p:cNvPr>
          <p:cNvSpPr>
            <a:spLocks noGrp="1"/>
          </p:cNvSpPr>
          <p:nvPr/>
        </p:nvSpPr>
        <p:spPr>
          <a:xfrm>
            <a:off x="400050" y="1200150"/>
            <a:ext cx="11391900" cy="0"/>
          </a:xfrm>
          <a:prstGeom prst="line">
            <a:avLst/>
          </a:prstGeom>
          <a:noFill/>
          <a:ln w="9525">
            <a:solidFill>
              <a:srgbClr val="C9D0D8"/>
            </a:solidFill>
            <a:prstDash val="solid"/>
          </a:ln>
        </p:spPr>
        <p:txBody>
          <a:bodyPr/>
          <a:lstStyle/>
          <a:p>
            <a:endParaRPr lang="ja-JP" altLang="en-US"/>
          </a:p>
        </p:txBody>
      </p:sp>
      <p:sp>
        <p:nvSpPr>
          <p:cNvPr id="5" name="policy-label">
            <a:extLst>
              <a:ext uri="{FF2B5EF4-FFF2-40B4-BE49-F238E27FC236}">
                <a16:creationId xmlns:a16="http://schemas.microsoft.com/office/drawing/2014/main" id="{2D26F792-A2ED-4C5C-BD33-26748F71D3C5}"/>
              </a:ext>
            </a:extLst>
          </p:cNvPr>
          <p:cNvSpPr>
            <a:spLocks noGrp="1"/>
          </p:cNvSpPr>
          <p:nvPr/>
        </p:nvSpPr>
        <p:spPr>
          <a:xfrm>
            <a:off x="457200" y="1504950"/>
            <a:ext cx="2857500" cy="266700"/>
          </a:xfrm>
          <a:prstGeom prst="rect">
            <a:avLst/>
          </a:prstGeom>
          <a:noFill/>
          <a:ln w="0">
            <a:noFill/>
            <a:prstDash val="solid"/>
          </a:ln>
        </p:spPr>
        <p:txBody>
          <a:bodyPr lIns="0" tIns="0" rIns="0" bIns="0" anchor="t">
            <a:normAutofit/>
          </a:bodyPr>
          <a:lstStyle/>
          <a:p>
            <a:pPr algn="l">
              <a:defRPr sz="1500" b="1">
                <a:solidFill>
                  <a:srgbClr val="586574"/>
                </a:solidFill>
                <a:latin typeface="Yu Gothic"/>
                <a:ea typeface="Yu Gothic"/>
                <a:cs typeface="Yu Gothic"/>
              </a:defRPr>
            </a:pPr>
            <a:r>
              <a:rPr sz="1500" b="1">
                <a:solidFill>
                  <a:srgbClr val="586574"/>
                </a:solidFill>
                <a:latin typeface="Yu Gothic"/>
                <a:ea typeface="Yu Gothic"/>
                <a:cs typeface="Yu Gothic"/>
              </a:rPr>
              <a:t>政策領域別</a:t>
            </a:r>
          </a:p>
        </p:txBody>
      </p:sp>
      <p:graphicFrame>
        <p:nvGraphicFramePr>
          <p:cNvPr id="20" name="Chart"/>
          <p:cNvGraphicFramePr/>
          <p:nvPr/>
        </p:nvGraphicFramePr>
        <p:xfrm>
          <a:off x="533400" y="1866900"/>
          <a:ext cx="4095750" cy="2857500"/>
        </p:xfrm>
        <a:graphic>
          <a:graphicData uri="http://schemas.openxmlformats.org/drawingml/2006/chart">
            <c:chart xmlns:c="http://schemas.openxmlformats.org/drawingml/2006/chart" xmlns:r="http://schemas.openxmlformats.org/officeDocument/2006/relationships" r:id="rId3"/>
          </a:graphicData>
        </a:graphic>
      </p:graphicFrame>
      <p:sp>
        <p:nvSpPr>
          <p:cNvPr id="7" name="policy-number">
            <a:extLst>
              <a:ext uri="{FF2B5EF4-FFF2-40B4-BE49-F238E27FC236}">
                <a16:creationId xmlns:a16="http://schemas.microsoft.com/office/drawing/2014/main" id="{F86B1415-F44B-457C-B36A-0A518D49E85A}"/>
              </a:ext>
            </a:extLst>
          </p:cNvPr>
          <p:cNvSpPr>
            <a:spLocks noGrp="1"/>
          </p:cNvSpPr>
          <p:nvPr/>
        </p:nvSpPr>
        <p:spPr>
          <a:xfrm>
            <a:off x="1504950" y="2781300"/>
            <a:ext cx="2095500" cy="514350"/>
          </a:xfrm>
          <a:prstGeom prst="rect">
            <a:avLst/>
          </a:prstGeom>
          <a:noFill/>
          <a:ln w="0">
            <a:noFill/>
            <a:prstDash val="solid"/>
          </a:ln>
        </p:spPr>
        <p:txBody>
          <a:bodyPr lIns="0" tIns="0" rIns="0" bIns="0" anchor="ctr">
            <a:normAutofit/>
          </a:bodyPr>
          <a:lstStyle/>
          <a:p>
            <a:pPr algn="ctr">
              <a:defRPr sz="3150" b="1">
                <a:solidFill>
                  <a:srgbClr val="087FB4"/>
                </a:solidFill>
                <a:latin typeface="Yu Gothic"/>
                <a:ea typeface="Yu Gothic"/>
                <a:cs typeface="Yu Gothic"/>
              </a:defRPr>
            </a:pPr>
            <a:r>
              <a:rPr sz="3150" b="1">
                <a:solidFill>
                  <a:srgbClr val="087FB4"/>
                </a:solidFill>
                <a:latin typeface="Yu Gothic"/>
                <a:ea typeface="Yu Gothic"/>
                <a:cs typeface="Yu Gothic"/>
              </a:rPr>
              <a:t>約3割</a:t>
            </a:r>
          </a:p>
        </p:txBody>
      </p:sp>
      <p:sp>
        <p:nvSpPr>
          <p:cNvPr id="8" name="policy-meaning">
            <a:extLst>
              <a:ext uri="{FF2B5EF4-FFF2-40B4-BE49-F238E27FC236}">
                <a16:creationId xmlns:a16="http://schemas.microsoft.com/office/drawing/2014/main" id="{24068CED-8651-4643-8691-7F1875D2DC28}"/>
              </a:ext>
            </a:extLst>
          </p:cNvPr>
          <p:cNvSpPr>
            <a:spLocks noGrp="1"/>
          </p:cNvSpPr>
          <p:nvPr/>
        </p:nvSpPr>
        <p:spPr>
          <a:xfrm>
            <a:off x="838200" y="4857750"/>
            <a:ext cx="3429000" cy="323850"/>
          </a:xfrm>
          <a:prstGeom prst="rect">
            <a:avLst/>
          </a:prstGeom>
          <a:noFill/>
          <a:ln w="0">
            <a:noFill/>
            <a:prstDash val="solid"/>
          </a:ln>
        </p:spPr>
        <p:txBody>
          <a:bodyPr lIns="0" tIns="0" rIns="0" bIns="0" anchor="t">
            <a:normAutofit/>
          </a:bodyPr>
          <a:lstStyle/>
          <a:p>
            <a:pPr algn="ctr">
              <a:defRPr sz="1650" b="1">
                <a:solidFill>
                  <a:srgbClr val="111827"/>
                </a:solidFill>
                <a:latin typeface="Yu Gothic"/>
                <a:ea typeface="Yu Gothic"/>
                <a:cs typeface="Yu Gothic"/>
              </a:defRPr>
            </a:pPr>
            <a:r>
              <a:rPr sz="1650" b="1">
                <a:solidFill>
                  <a:srgbClr val="111827"/>
                </a:solidFill>
                <a:latin typeface="Yu Gothic"/>
                <a:ea typeface="Yu Gothic"/>
                <a:cs typeface="Yu Gothic"/>
              </a:rPr>
              <a:t>D05 医療・健康が最大</a:t>
            </a:r>
          </a:p>
        </p:txBody>
      </p:sp>
      <p:sp>
        <p:nvSpPr>
          <p:cNvPr id="9" name="ministry-label">
            <a:extLst>
              <a:ext uri="{FF2B5EF4-FFF2-40B4-BE49-F238E27FC236}">
                <a16:creationId xmlns:a16="http://schemas.microsoft.com/office/drawing/2014/main" id="{6AAC9694-EFDD-4DD3-87DD-2C8FE85DE3E1}"/>
              </a:ext>
            </a:extLst>
          </p:cNvPr>
          <p:cNvSpPr>
            <a:spLocks noGrp="1"/>
          </p:cNvSpPr>
          <p:nvPr/>
        </p:nvSpPr>
        <p:spPr>
          <a:xfrm>
            <a:off x="5715000" y="1504950"/>
            <a:ext cx="2857500" cy="266700"/>
          </a:xfrm>
          <a:prstGeom prst="rect">
            <a:avLst/>
          </a:prstGeom>
          <a:noFill/>
          <a:ln w="0">
            <a:noFill/>
            <a:prstDash val="solid"/>
          </a:ln>
        </p:spPr>
        <p:txBody>
          <a:bodyPr lIns="0" tIns="0" rIns="0" bIns="0" anchor="t">
            <a:normAutofit/>
          </a:bodyPr>
          <a:lstStyle/>
          <a:p>
            <a:pPr algn="l">
              <a:defRPr sz="1500" b="1">
                <a:solidFill>
                  <a:srgbClr val="586574"/>
                </a:solidFill>
                <a:latin typeface="Yu Gothic"/>
                <a:ea typeface="Yu Gothic"/>
                <a:cs typeface="Yu Gothic"/>
              </a:defRPr>
            </a:pPr>
            <a:r>
              <a:rPr sz="1500" b="1">
                <a:solidFill>
                  <a:srgbClr val="586574"/>
                </a:solidFill>
                <a:latin typeface="Yu Gothic"/>
                <a:ea typeface="Yu Gothic"/>
                <a:cs typeface="Yu Gothic"/>
              </a:rPr>
              <a:t>省庁別</a:t>
            </a:r>
          </a:p>
        </p:txBody>
      </p:sp>
      <p:graphicFrame>
        <p:nvGraphicFramePr>
          <p:cNvPr id="24" name="Chart"/>
          <p:cNvGraphicFramePr/>
          <p:nvPr/>
        </p:nvGraphicFramePr>
        <p:xfrm>
          <a:off x="5715000" y="2133600"/>
          <a:ext cx="5619750" cy="1524000"/>
        </p:xfrm>
        <a:graphic>
          <a:graphicData uri="http://schemas.openxmlformats.org/drawingml/2006/chart">
            <c:chart xmlns:c="http://schemas.openxmlformats.org/drawingml/2006/chart" xmlns:r="http://schemas.openxmlformats.org/officeDocument/2006/relationships" r:id="rId4"/>
          </a:graphicData>
        </a:graphic>
      </p:graphicFrame>
      <p:sp>
        <p:nvSpPr>
          <p:cNvPr id="11" name="ministry-number">
            <a:extLst>
              <a:ext uri="{FF2B5EF4-FFF2-40B4-BE49-F238E27FC236}">
                <a16:creationId xmlns:a16="http://schemas.microsoft.com/office/drawing/2014/main" id="{E9904DC1-B424-4A40-9FD2-5B9630D7559A}"/>
              </a:ext>
            </a:extLst>
          </p:cNvPr>
          <p:cNvSpPr>
            <a:spLocks noGrp="1"/>
          </p:cNvSpPr>
          <p:nvPr/>
        </p:nvSpPr>
        <p:spPr>
          <a:xfrm>
            <a:off x="5981700" y="3829050"/>
            <a:ext cx="5143500" cy="457200"/>
          </a:xfrm>
          <a:prstGeom prst="rect">
            <a:avLst/>
          </a:prstGeom>
          <a:noFill/>
          <a:ln w="0">
            <a:noFill/>
            <a:prstDash val="solid"/>
          </a:ln>
        </p:spPr>
        <p:txBody>
          <a:bodyPr lIns="0" tIns="0" rIns="0" bIns="0" anchor="t">
            <a:normAutofit/>
          </a:bodyPr>
          <a:lstStyle/>
          <a:p>
            <a:pPr algn="ctr">
              <a:defRPr sz="2550" b="1">
                <a:solidFill>
                  <a:srgbClr val="087FB4"/>
                </a:solidFill>
                <a:latin typeface="Yu Gothic"/>
                <a:ea typeface="Yu Gothic"/>
                <a:cs typeface="Yu Gothic"/>
              </a:defRPr>
            </a:pPr>
            <a:r>
              <a:rPr sz="2550" b="1">
                <a:solidFill>
                  <a:srgbClr val="087FB4"/>
                </a:solidFill>
                <a:latin typeface="Yu Gothic"/>
                <a:ea typeface="Yu Gothic"/>
                <a:cs typeface="Yu Gothic"/>
              </a:rPr>
              <a:t>上位2省で 約半数</a:t>
            </a:r>
          </a:p>
        </p:txBody>
      </p:sp>
      <p:sp>
        <p:nvSpPr>
          <p:cNvPr id="12" name="ministry-order">
            <a:extLst>
              <a:ext uri="{FF2B5EF4-FFF2-40B4-BE49-F238E27FC236}">
                <a16:creationId xmlns:a16="http://schemas.microsoft.com/office/drawing/2014/main" id="{596901AA-AA25-4793-9FCC-4C288007C5CF}"/>
              </a:ext>
            </a:extLst>
          </p:cNvPr>
          <p:cNvSpPr>
            <a:spLocks noGrp="1"/>
          </p:cNvSpPr>
          <p:nvPr/>
        </p:nvSpPr>
        <p:spPr>
          <a:xfrm>
            <a:off x="5981700" y="4343400"/>
            <a:ext cx="5143500" cy="304800"/>
          </a:xfrm>
          <a:prstGeom prst="rect">
            <a:avLst/>
          </a:prstGeom>
          <a:noFill/>
          <a:ln w="0">
            <a:noFill/>
            <a:prstDash val="solid"/>
          </a:ln>
        </p:spPr>
        <p:txBody>
          <a:bodyPr lIns="0" tIns="0" rIns="0" bIns="0" anchor="t">
            <a:normAutofit/>
          </a:bodyPr>
          <a:lstStyle/>
          <a:p>
            <a:pPr algn="ctr">
              <a:defRPr sz="1575" b="1">
                <a:solidFill>
                  <a:srgbClr val="111827"/>
                </a:solidFill>
                <a:latin typeface="Yu Gothic"/>
                <a:ea typeface="Yu Gothic"/>
                <a:cs typeface="Yu Gothic"/>
              </a:defRPr>
            </a:pPr>
            <a:r>
              <a:rPr sz="1575" b="1">
                <a:solidFill>
                  <a:srgbClr val="111827"/>
                </a:solidFill>
                <a:latin typeface="Yu Gothic"/>
                <a:ea typeface="Yu Gothic"/>
                <a:cs typeface="Yu Gothic"/>
              </a:rPr>
              <a:t>厚生労働省が最多、国土交通省が次点</a:t>
            </a:r>
          </a:p>
        </p:txBody>
      </p:sp>
      <p:sp>
        <p:nvSpPr>
          <p:cNvPr id="13" name="beachhead-band">
            <a:extLst>
              <a:ext uri="{FF2B5EF4-FFF2-40B4-BE49-F238E27FC236}">
                <a16:creationId xmlns:a16="http://schemas.microsoft.com/office/drawing/2014/main" id="{46E85ADC-663A-4C8C-9BBB-4106FB14D10C}"/>
              </a:ext>
            </a:extLst>
          </p:cNvPr>
          <p:cNvSpPr>
            <a:spLocks noGrp="1"/>
          </p:cNvSpPr>
          <p:nvPr/>
        </p:nvSpPr>
        <p:spPr>
          <a:xfrm>
            <a:off x="457200" y="5372100"/>
            <a:ext cx="11258550" cy="819150"/>
          </a:xfrm>
          <a:prstGeom prst="roundRect">
            <a:avLst>
              <a:gd name="adj" fmla="val 9302"/>
            </a:avLst>
          </a:prstGeom>
          <a:solidFill>
            <a:srgbClr val="111827"/>
          </a:solidFill>
          <a:ln w="0">
            <a:noFill/>
            <a:prstDash val="solid"/>
          </a:ln>
        </p:spPr>
        <p:txBody>
          <a:bodyPr/>
          <a:lstStyle/>
          <a:p>
            <a:endParaRPr lang="ja-JP" altLang="en-US"/>
          </a:p>
        </p:txBody>
      </p:sp>
      <p:sp>
        <p:nvSpPr>
          <p:cNvPr id="14" name="beachhead-main">
            <a:extLst>
              <a:ext uri="{FF2B5EF4-FFF2-40B4-BE49-F238E27FC236}">
                <a16:creationId xmlns:a16="http://schemas.microsoft.com/office/drawing/2014/main" id="{16A0F3FD-1E66-4C3F-9D5E-82B59286DE96}"/>
              </a:ext>
            </a:extLst>
          </p:cNvPr>
          <p:cNvSpPr>
            <a:spLocks noGrp="1"/>
          </p:cNvSpPr>
          <p:nvPr/>
        </p:nvSpPr>
        <p:spPr>
          <a:xfrm>
            <a:off x="704850" y="5562600"/>
            <a:ext cx="10744200" cy="419100"/>
          </a:xfrm>
          <a:prstGeom prst="rect">
            <a:avLst/>
          </a:prstGeom>
          <a:noFill/>
          <a:ln w="0">
            <a:noFill/>
            <a:prstDash val="solid"/>
          </a:ln>
        </p:spPr>
        <p:txBody>
          <a:bodyPr lIns="0" tIns="0" rIns="0" bIns="0" anchor="ctr">
            <a:normAutofit/>
          </a:bodyPr>
          <a:lstStyle/>
          <a:p>
            <a:pPr algn="ctr">
              <a:defRPr sz="1875" b="1">
                <a:solidFill>
                  <a:srgbClr val="FFFFFF"/>
                </a:solidFill>
                <a:latin typeface="Yu Gothic"/>
                <a:ea typeface="Yu Gothic"/>
                <a:cs typeface="Yu Gothic"/>
              </a:defRPr>
            </a:pPr>
            <a:r>
              <a:rPr sz="1875" b="1">
                <a:solidFill>
                  <a:srgbClr val="FFFFFF"/>
                </a:solidFill>
                <a:latin typeface="Yu Gothic"/>
                <a:ea typeface="Yu Gothic"/>
                <a:cs typeface="Yu Gothic"/>
              </a:rPr>
              <a:t>医療専用AIではなく、『予測を政策判断につなげる型』を需要の厚い医療で確立</a:t>
            </a:r>
          </a:p>
        </p:txBody>
      </p:sp>
    </p:spTree>
    <p:extLst>
      <p:ext uri="{BB962C8B-B14F-4D97-AF65-F5344CB8AC3E}">
        <p14:creationId xmlns:p14="http://schemas.microsoft.com/office/powerpoint/2010/main" val="262030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ection-5">
            <a:extLst>
              <a:ext uri="{FF2B5EF4-FFF2-40B4-BE49-F238E27FC236}">
                <a16:creationId xmlns:a16="http://schemas.microsoft.com/office/drawing/2014/main" id="{D48195CE-33B9-4533-A9DD-14C4D66114FE}"/>
              </a:ext>
            </a:extLst>
          </p:cNvPr>
          <p:cNvSpPr>
            <a:spLocks noGrp="1"/>
          </p:cNvSpPr>
          <p:nvPr/>
        </p:nvSpPr>
        <p:spPr>
          <a:xfrm>
            <a:off x="400050" y="247650"/>
            <a:ext cx="2667000" cy="228600"/>
          </a:xfrm>
          <a:prstGeom prst="rect">
            <a:avLst/>
          </a:prstGeom>
          <a:noFill/>
          <a:ln w="0">
            <a:noFill/>
            <a:prstDash val="solid"/>
          </a:ln>
        </p:spPr>
        <p:txBody>
          <a:bodyPr lIns="0" tIns="0" rIns="0" bIns="0" anchor="t">
            <a:normAutofit/>
          </a:bodyPr>
          <a:lstStyle/>
          <a:p>
            <a:pPr algn="l">
              <a:defRPr sz="1200" b="1">
                <a:solidFill>
                  <a:srgbClr val="087FB4"/>
                </a:solidFill>
                <a:latin typeface="Yu Gothic"/>
                <a:ea typeface="Yu Gothic"/>
                <a:cs typeface="Yu Gothic"/>
              </a:defRPr>
            </a:pPr>
            <a:r>
              <a:rPr sz="1200" b="1">
                <a:solidFill>
                  <a:srgbClr val="087FB4"/>
                </a:solidFill>
                <a:latin typeface="Yu Gothic"/>
                <a:ea typeface="Yu Gothic"/>
                <a:cs typeface="Yu Gothic"/>
              </a:rPr>
              <a:t>04｜将来性検証</a:t>
            </a:r>
          </a:p>
        </p:txBody>
      </p:sp>
      <p:sp>
        <p:nvSpPr>
          <p:cNvPr id="2" name="title-5">
            <a:extLst>
              <a:ext uri="{FF2B5EF4-FFF2-40B4-BE49-F238E27FC236}">
                <a16:creationId xmlns:a16="http://schemas.microsoft.com/office/drawing/2014/main" id="{A8605347-7024-4318-9D2A-BFD8BBC087A6}"/>
              </a:ext>
            </a:extLst>
          </p:cNvPr>
          <p:cNvSpPr>
            <a:spLocks noGrp="1"/>
          </p:cNvSpPr>
          <p:nvPr/>
        </p:nvSpPr>
        <p:spPr>
          <a:xfrm>
            <a:off x="400050" y="552450"/>
            <a:ext cx="10953750" cy="571500"/>
          </a:xfrm>
          <a:prstGeom prst="rect">
            <a:avLst/>
          </a:prstGeom>
          <a:noFill/>
          <a:ln w="0">
            <a:noFill/>
            <a:prstDash val="solid"/>
          </a:ln>
        </p:spPr>
        <p:txBody>
          <a:bodyPr lIns="0" tIns="0" rIns="0" bIns="0" anchor="ctr">
            <a:normAutofit/>
          </a:bodyPr>
          <a:lstStyle/>
          <a:p>
            <a:pPr algn="l">
              <a:defRPr sz="2850" b="1">
                <a:solidFill>
                  <a:srgbClr val="111827"/>
                </a:solidFill>
                <a:latin typeface="Yu Gothic"/>
                <a:ea typeface="Yu Gothic"/>
                <a:cs typeface="Yu Gothic"/>
              </a:defRPr>
            </a:pPr>
            <a:r>
              <a:rPr sz="2850" b="1">
                <a:solidFill>
                  <a:srgbClr val="111827"/>
                </a:solidFill>
                <a:latin typeface="Yu Gothic"/>
                <a:ea typeface="Yu Gothic"/>
                <a:cs typeface="Yu Gothic"/>
              </a:rPr>
              <a:t>2040年に向け、需要は政策として継続する</a:t>
            </a:r>
          </a:p>
        </p:txBody>
      </p:sp>
      <p:sp>
        <p:nvSpPr>
          <p:cNvPr id="3" name="page-5">
            <a:extLst>
              <a:ext uri="{FF2B5EF4-FFF2-40B4-BE49-F238E27FC236}">
                <a16:creationId xmlns:a16="http://schemas.microsoft.com/office/drawing/2014/main" id="{4A754437-3219-444B-AB2B-6B2A4DA843DA}"/>
              </a:ext>
            </a:extLst>
          </p:cNvPr>
          <p:cNvSpPr>
            <a:spLocks noGrp="1"/>
          </p:cNvSpPr>
          <p:nvPr/>
        </p:nvSpPr>
        <p:spPr>
          <a:xfrm>
            <a:off x="11334750" y="285750"/>
            <a:ext cx="438150" cy="209550"/>
          </a:xfrm>
          <a:prstGeom prst="rect">
            <a:avLst/>
          </a:prstGeom>
          <a:noFill/>
          <a:ln w="0">
            <a:noFill/>
            <a:prstDash val="solid"/>
          </a:ln>
        </p:spPr>
        <p:txBody>
          <a:bodyPr lIns="0" tIns="0" rIns="0" bIns="0" anchor="t">
            <a:normAutofit/>
          </a:bodyPr>
          <a:lstStyle/>
          <a:p>
            <a:pPr algn="r">
              <a:defRPr sz="1050" b="1">
                <a:solidFill>
                  <a:srgbClr val="586574"/>
                </a:solidFill>
                <a:latin typeface="Yu Gothic"/>
                <a:ea typeface="Yu Gothic"/>
                <a:cs typeface="Yu Gothic"/>
              </a:defRPr>
            </a:pPr>
            <a:r>
              <a:rPr sz="1050" b="1">
                <a:solidFill>
                  <a:srgbClr val="586574"/>
                </a:solidFill>
                <a:latin typeface="Yu Gothic"/>
                <a:ea typeface="Yu Gothic"/>
                <a:cs typeface="Yu Gothic"/>
              </a:rPr>
              <a:t>05</a:t>
            </a:r>
          </a:p>
        </p:txBody>
      </p:sp>
      <p:sp>
        <p:nvSpPr>
          <p:cNvPr id="4" name="header-rule-5">
            <a:extLst>
              <a:ext uri="{FF2B5EF4-FFF2-40B4-BE49-F238E27FC236}">
                <a16:creationId xmlns:a16="http://schemas.microsoft.com/office/drawing/2014/main" id="{058D7D69-3519-4CAB-BA83-FB200E7DB7E1}"/>
              </a:ext>
            </a:extLst>
          </p:cNvPr>
          <p:cNvSpPr>
            <a:spLocks noGrp="1"/>
          </p:cNvSpPr>
          <p:nvPr/>
        </p:nvSpPr>
        <p:spPr>
          <a:xfrm>
            <a:off x="400050" y="1200150"/>
            <a:ext cx="11391900" cy="0"/>
          </a:xfrm>
          <a:prstGeom prst="line">
            <a:avLst/>
          </a:prstGeom>
          <a:noFill/>
          <a:ln w="9525">
            <a:solidFill>
              <a:srgbClr val="C9D0D8"/>
            </a:solidFill>
            <a:prstDash val="solid"/>
          </a:ln>
        </p:spPr>
        <p:txBody>
          <a:bodyPr/>
          <a:lstStyle/>
          <a:p>
            <a:endParaRPr lang="ja-JP" altLang="en-US"/>
          </a:p>
        </p:txBody>
      </p:sp>
      <p:sp>
        <p:nvSpPr>
          <p:cNvPr id="5" name="timeline-line">
            <a:extLst>
              <a:ext uri="{FF2B5EF4-FFF2-40B4-BE49-F238E27FC236}">
                <a16:creationId xmlns:a16="http://schemas.microsoft.com/office/drawing/2014/main" id="{298E2647-320F-4BB5-9471-1FEB45992474}"/>
              </a:ext>
            </a:extLst>
          </p:cNvPr>
          <p:cNvSpPr>
            <a:spLocks noGrp="1"/>
          </p:cNvSpPr>
          <p:nvPr/>
        </p:nvSpPr>
        <p:spPr>
          <a:xfrm>
            <a:off x="914400" y="3105150"/>
            <a:ext cx="10363200" cy="0"/>
          </a:xfrm>
          <a:prstGeom prst="line">
            <a:avLst/>
          </a:prstGeom>
          <a:noFill/>
          <a:ln w="28575">
            <a:solidFill>
              <a:srgbClr val="18A8E0"/>
            </a:solidFill>
            <a:prstDash val="solid"/>
          </a:ln>
        </p:spPr>
        <p:txBody>
          <a:bodyPr/>
          <a:lstStyle/>
          <a:p>
            <a:endParaRPr lang="ja-JP" altLang="en-US"/>
          </a:p>
        </p:txBody>
      </p:sp>
      <p:sp>
        <p:nvSpPr>
          <p:cNvPr id="6" name="timeline-node-0">
            <a:extLst>
              <a:ext uri="{FF2B5EF4-FFF2-40B4-BE49-F238E27FC236}">
                <a16:creationId xmlns:a16="http://schemas.microsoft.com/office/drawing/2014/main" id="{F0E81326-B75F-40D3-811C-AE447DBE4D25}"/>
              </a:ext>
            </a:extLst>
          </p:cNvPr>
          <p:cNvSpPr>
            <a:spLocks noGrp="1"/>
          </p:cNvSpPr>
          <p:nvPr/>
        </p:nvSpPr>
        <p:spPr>
          <a:xfrm>
            <a:off x="1047750" y="2952750"/>
            <a:ext cx="304800" cy="304800"/>
          </a:xfrm>
          <a:prstGeom prst="ellipse">
            <a:avLst/>
          </a:prstGeom>
          <a:solidFill>
            <a:srgbClr val="18A8E0"/>
          </a:solidFill>
          <a:ln w="0">
            <a:noFill/>
            <a:prstDash val="solid"/>
          </a:ln>
        </p:spPr>
        <p:txBody>
          <a:bodyPr/>
          <a:lstStyle/>
          <a:p>
            <a:endParaRPr lang="ja-JP" altLang="en-US"/>
          </a:p>
        </p:txBody>
      </p:sp>
      <p:sp>
        <p:nvSpPr>
          <p:cNvPr id="7" name="timeline-node-1">
            <a:extLst>
              <a:ext uri="{FF2B5EF4-FFF2-40B4-BE49-F238E27FC236}">
                <a16:creationId xmlns:a16="http://schemas.microsoft.com/office/drawing/2014/main" id="{E1B82C97-02D9-4C66-BD68-FF4F0C15AB33}"/>
              </a:ext>
            </a:extLst>
          </p:cNvPr>
          <p:cNvSpPr>
            <a:spLocks noGrp="1"/>
          </p:cNvSpPr>
          <p:nvPr/>
        </p:nvSpPr>
        <p:spPr>
          <a:xfrm>
            <a:off x="3829050" y="2952750"/>
            <a:ext cx="304800" cy="304800"/>
          </a:xfrm>
          <a:prstGeom prst="ellipse">
            <a:avLst/>
          </a:prstGeom>
          <a:solidFill>
            <a:srgbClr val="18A8E0"/>
          </a:solidFill>
          <a:ln w="0">
            <a:noFill/>
            <a:prstDash val="solid"/>
          </a:ln>
        </p:spPr>
        <p:txBody>
          <a:bodyPr/>
          <a:lstStyle/>
          <a:p>
            <a:endParaRPr lang="ja-JP" altLang="en-US"/>
          </a:p>
        </p:txBody>
      </p:sp>
      <p:sp>
        <p:nvSpPr>
          <p:cNvPr id="8" name="timeline-node-2">
            <a:extLst>
              <a:ext uri="{FF2B5EF4-FFF2-40B4-BE49-F238E27FC236}">
                <a16:creationId xmlns:a16="http://schemas.microsoft.com/office/drawing/2014/main" id="{14775282-1F33-4C03-812C-3969AC965155}"/>
              </a:ext>
            </a:extLst>
          </p:cNvPr>
          <p:cNvSpPr>
            <a:spLocks noGrp="1"/>
          </p:cNvSpPr>
          <p:nvPr/>
        </p:nvSpPr>
        <p:spPr>
          <a:xfrm>
            <a:off x="6610350" y="2952750"/>
            <a:ext cx="304800" cy="304800"/>
          </a:xfrm>
          <a:prstGeom prst="ellipse">
            <a:avLst/>
          </a:prstGeom>
          <a:solidFill>
            <a:srgbClr val="18A8E0"/>
          </a:solidFill>
          <a:ln w="0">
            <a:noFill/>
            <a:prstDash val="solid"/>
          </a:ln>
        </p:spPr>
        <p:txBody>
          <a:bodyPr/>
          <a:lstStyle/>
          <a:p>
            <a:endParaRPr lang="ja-JP" altLang="en-US"/>
          </a:p>
        </p:txBody>
      </p:sp>
      <p:sp>
        <p:nvSpPr>
          <p:cNvPr id="9" name="timeline-node-3">
            <a:extLst>
              <a:ext uri="{FF2B5EF4-FFF2-40B4-BE49-F238E27FC236}">
                <a16:creationId xmlns:a16="http://schemas.microsoft.com/office/drawing/2014/main" id="{A2B84E3E-69EC-4AF6-8B71-875A15C988B0}"/>
              </a:ext>
            </a:extLst>
          </p:cNvPr>
          <p:cNvSpPr>
            <a:spLocks noGrp="1"/>
          </p:cNvSpPr>
          <p:nvPr/>
        </p:nvSpPr>
        <p:spPr>
          <a:xfrm>
            <a:off x="9391650" y="2952750"/>
            <a:ext cx="304800" cy="304800"/>
          </a:xfrm>
          <a:prstGeom prst="ellipse">
            <a:avLst/>
          </a:prstGeom>
          <a:solidFill>
            <a:srgbClr val="087FB4"/>
          </a:solidFill>
          <a:ln w="0">
            <a:noFill/>
            <a:prstDash val="solid"/>
          </a:ln>
        </p:spPr>
        <p:txBody>
          <a:bodyPr/>
          <a:lstStyle/>
          <a:p>
            <a:endParaRPr lang="ja-JP" altLang="en-US"/>
          </a:p>
        </p:txBody>
      </p:sp>
      <p:sp>
        <p:nvSpPr>
          <p:cNvPr id="10" name="evidence-tag-0">
            <a:extLst>
              <a:ext uri="{FF2B5EF4-FFF2-40B4-BE49-F238E27FC236}">
                <a16:creationId xmlns:a16="http://schemas.microsoft.com/office/drawing/2014/main" id="{E7A6F823-FE3D-45D5-A05E-6130F48F9DB9}"/>
              </a:ext>
            </a:extLst>
          </p:cNvPr>
          <p:cNvSpPr>
            <a:spLocks noGrp="1"/>
          </p:cNvSpPr>
          <p:nvPr/>
        </p:nvSpPr>
        <p:spPr>
          <a:xfrm>
            <a:off x="666750" y="1676400"/>
            <a:ext cx="2286000" cy="457200"/>
          </a:xfrm>
          <a:prstGeom prst="rect">
            <a:avLst/>
          </a:prstGeom>
          <a:noFill/>
          <a:ln w="0">
            <a:noFill/>
            <a:prstDash val="solid"/>
          </a:ln>
        </p:spPr>
        <p:txBody>
          <a:bodyPr lIns="0" tIns="0" rIns="0" bIns="0" anchor="t">
            <a:normAutofit/>
          </a:bodyPr>
          <a:lstStyle/>
          <a:p>
            <a:pPr algn="ctr">
              <a:defRPr sz="2250" b="1">
                <a:solidFill>
                  <a:srgbClr val="087FB4"/>
                </a:solidFill>
                <a:latin typeface="Yu Gothic"/>
                <a:ea typeface="Yu Gothic"/>
                <a:cs typeface="Yu Gothic"/>
              </a:defRPr>
            </a:pPr>
            <a:r>
              <a:rPr sz="2250" b="1">
                <a:solidFill>
                  <a:srgbClr val="087FB4"/>
                </a:solidFill>
                <a:latin typeface="Yu Gothic"/>
                <a:ea typeface="Yu Gothic"/>
                <a:cs typeface="Yu Gothic"/>
              </a:rPr>
              <a:t>2040</a:t>
            </a:r>
          </a:p>
        </p:txBody>
      </p:sp>
      <p:sp>
        <p:nvSpPr>
          <p:cNvPr id="11" name="evidence-title-0">
            <a:extLst>
              <a:ext uri="{FF2B5EF4-FFF2-40B4-BE49-F238E27FC236}">
                <a16:creationId xmlns:a16="http://schemas.microsoft.com/office/drawing/2014/main" id="{CC0F3FE0-DEE3-458C-8F94-83DE92EACF14}"/>
              </a:ext>
            </a:extLst>
          </p:cNvPr>
          <p:cNvSpPr>
            <a:spLocks noGrp="1"/>
          </p:cNvSpPr>
          <p:nvPr/>
        </p:nvSpPr>
        <p:spPr>
          <a:xfrm>
            <a:off x="666750" y="2209800"/>
            <a:ext cx="2286000" cy="304800"/>
          </a:xfrm>
          <a:prstGeom prst="rect">
            <a:avLst/>
          </a:prstGeom>
          <a:noFill/>
          <a:ln w="0">
            <a:noFill/>
            <a:prstDash val="solid"/>
          </a:ln>
        </p:spPr>
        <p:txBody>
          <a:bodyPr lIns="0" tIns="0" rIns="0" bIns="0" anchor="t">
            <a:normAutofit/>
          </a:bodyPr>
          <a:lstStyle/>
          <a:p>
            <a:pPr algn="ctr">
              <a:defRPr sz="1575" b="1">
                <a:solidFill>
                  <a:srgbClr val="111827"/>
                </a:solidFill>
                <a:latin typeface="Yu Gothic"/>
                <a:ea typeface="Yu Gothic"/>
                <a:cs typeface="Yu Gothic"/>
              </a:defRPr>
            </a:pPr>
            <a:r>
              <a:rPr sz="1575" b="1">
                <a:solidFill>
                  <a:srgbClr val="111827"/>
                </a:solidFill>
                <a:latin typeface="Yu Gothic"/>
                <a:ea typeface="Yu Gothic"/>
                <a:cs typeface="Yu Gothic"/>
              </a:rPr>
              <a:t>地域医療構想</a:t>
            </a:r>
          </a:p>
        </p:txBody>
      </p:sp>
      <p:sp>
        <p:nvSpPr>
          <p:cNvPr id="12" name="evidence-body-0">
            <a:extLst>
              <a:ext uri="{FF2B5EF4-FFF2-40B4-BE49-F238E27FC236}">
                <a16:creationId xmlns:a16="http://schemas.microsoft.com/office/drawing/2014/main" id="{180B4E35-027F-4D6D-A9A7-BB7A00FCC54A}"/>
              </a:ext>
            </a:extLst>
          </p:cNvPr>
          <p:cNvSpPr>
            <a:spLocks noGrp="1"/>
          </p:cNvSpPr>
          <p:nvPr/>
        </p:nvSpPr>
        <p:spPr>
          <a:xfrm>
            <a:off x="666750" y="3524250"/>
            <a:ext cx="2286000" cy="876300"/>
          </a:xfrm>
          <a:prstGeom prst="rect">
            <a:avLst/>
          </a:prstGeom>
          <a:noFill/>
          <a:ln w="0">
            <a:noFill/>
            <a:prstDash val="solid"/>
          </a:ln>
        </p:spPr>
        <p:txBody>
          <a:bodyPr lIns="0" tIns="0" rIns="0" bIns="0" anchor="t">
            <a:normAutofit/>
          </a:bodyPr>
          <a:lstStyle/>
          <a:p>
            <a:pPr algn="ctr">
              <a:defRPr sz="1275" b="0">
                <a:solidFill>
                  <a:srgbClr val="586574"/>
                </a:solidFill>
                <a:latin typeface="Yu Gothic"/>
                <a:ea typeface="Yu Gothic"/>
                <a:cs typeface="Yu Gothic"/>
              </a:defRPr>
            </a:pPr>
            <a:r>
              <a:rPr sz="1275" b="0">
                <a:solidFill>
                  <a:srgbClr val="586574"/>
                </a:solidFill>
                <a:latin typeface="Yu Gothic"/>
                <a:ea typeface="Yu Gothic"/>
                <a:cs typeface="Yu Gothic"/>
              </a:rPr>
              <a:t>人口構造と医療需要を踏まえ、</a:t>
            </a:r>
          </a:p>
          <a:p>
            <a:pPr algn="ctr">
              <a:defRPr sz="1275" b="0">
                <a:solidFill>
                  <a:srgbClr val="586574"/>
                </a:solidFill>
                <a:latin typeface="Yu Gothic"/>
                <a:ea typeface="Yu Gothic"/>
                <a:cs typeface="Yu Gothic"/>
              </a:defRPr>
            </a:pPr>
            <a:r>
              <a:rPr sz="1275" b="0">
                <a:solidFill>
                  <a:srgbClr val="586574"/>
                </a:solidFill>
                <a:latin typeface="Yu Gothic"/>
                <a:ea typeface="Yu Gothic"/>
                <a:cs typeface="Yu Gothic"/>
              </a:rPr>
              <a:t>必要病床数と提供体制を再設計</a:t>
            </a:r>
          </a:p>
        </p:txBody>
      </p:sp>
      <p:sp>
        <p:nvSpPr>
          <p:cNvPr id="13" name="evidence-tag-1">
            <a:extLst>
              <a:ext uri="{FF2B5EF4-FFF2-40B4-BE49-F238E27FC236}">
                <a16:creationId xmlns:a16="http://schemas.microsoft.com/office/drawing/2014/main" id="{A477499E-C09C-42CB-A511-509EAE8B522B}"/>
              </a:ext>
            </a:extLst>
          </p:cNvPr>
          <p:cNvSpPr>
            <a:spLocks noGrp="1"/>
          </p:cNvSpPr>
          <p:nvPr/>
        </p:nvSpPr>
        <p:spPr>
          <a:xfrm>
            <a:off x="3448050" y="1676400"/>
            <a:ext cx="2286000" cy="457200"/>
          </a:xfrm>
          <a:prstGeom prst="rect">
            <a:avLst/>
          </a:prstGeom>
          <a:noFill/>
          <a:ln w="0">
            <a:noFill/>
            <a:prstDash val="solid"/>
          </a:ln>
        </p:spPr>
        <p:txBody>
          <a:bodyPr lIns="0" tIns="0" rIns="0" bIns="0" anchor="t">
            <a:normAutofit/>
          </a:bodyPr>
          <a:lstStyle/>
          <a:p>
            <a:pPr algn="ctr">
              <a:defRPr sz="2250" b="1">
                <a:solidFill>
                  <a:srgbClr val="087FB4"/>
                </a:solidFill>
                <a:latin typeface="Yu Gothic"/>
                <a:ea typeface="Yu Gothic"/>
                <a:cs typeface="Yu Gothic"/>
              </a:defRPr>
            </a:pPr>
            <a:r>
              <a:rPr sz="2250" b="1">
                <a:solidFill>
                  <a:srgbClr val="087FB4"/>
                </a:solidFill>
                <a:latin typeface="Yu Gothic"/>
                <a:ea typeface="Yu Gothic"/>
                <a:cs typeface="Yu Gothic"/>
              </a:rPr>
              <a:t>4.4億円</a:t>
            </a:r>
          </a:p>
        </p:txBody>
      </p:sp>
      <p:sp>
        <p:nvSpPr>
          <p:cNvPr id="14" name="evidence-title-1">
            <a:extLst>
              <a:ext uri="{FF2B5EF4-FFF2-40B4-BE49-F238E27FC236}">
                <a16:creationId xmlns:a16="http://schemas.microsoft.com/office/drawing/2014/main" id="{D272E0D6-6C7F-48BB-9EB5-BD854DD7ED04}"/>
              </a:ext>
            </a:extLst>
          </p:cNvPr>
          <p:cNvSpPr>
            <a:spLocks noGrp="1"/>
          </p:cNvSpPr>
          <p:nvPr/>
        </p:nvSpPr>
        <p:spPr>
          <a:xfrm>
            <a:off x="3448050" y="2209800"/>
            <a:ext cx="2286000" cy="304800"/>
          </a:xfrm>
          <a:prstGeom prst="rect">
            <a:avLst/>
          </a:prstGeom>
          <a:noFill/>
          <a:ln w="0">
            <a:noFill/>
            <a:prstDash val="solid"/>
          </a:ln>
        </p:spPr>
        <p:txBody>
          <a:bodyPr lIns="0" tIns="0" rIns="0" bIns="0" anchor="t">
            <a:normAutofit/>
          </a:bodyPr>
          <a:lstStyle/>
          <a:p>
            <a:pPr algn="ctr">
              <a:defRPr sz="1575" b="1">
                <a:solidFill>
                  <a:srgbClr val="111827"/>
                </a:solidFill>
                <a:latin typeface="Yu Gothic"/>
                <a:ea typeface="Yu Gothic"/>
                <a:cs typeface="Yu Gothic"/>
              </a:defRPr>
            </a:pPr>
            <a:r>
              <a:rPr sz="1575" b="1">
                <a:solidFill>
                  <a:srgbClr val="111827"/>
                </a:solidFill>
                <a:latin typeface="Yu Gothic"/>
                <a:ea typeface="Yu Gothic"/>
                <a:cs typeface="Yu Gothic"/>
              </a:rPr>
              <a:t>データ収集・分析</a:t>
            </a:r>
          </a:p>
        </p:txBody>
      </p:sp>
      <p:sp>
        <p:nvSpPr>
          <p:cNvPr id="15" name="evidence-body-1">
            <a:extLst>
              <a:ext uri="{FF2B5EF4-FFF2-40B4-BE49-F238E27FC236}">
                <a16:creationId xmlns:a16="http://schemas.microsoft.com/office/drawing/2014/main" id="{0F8B4ACC-F5F7-4E07-815B-9F9AD2FA4536}"/>
              </a:ext>
            </a:extLst>
          </p:cNvPr>
          <p:cNvSpPr>
            <a:spLocks noGrp="1"/>
          </p:cNvSpPr>
          <p:nvPr/>
        </p:nvSpPr>
        <p:spPr>
          <a:xfrm>
            <a:off x="3448050" y="3524250"/>
            <a:ext cx="2286000" cy="876300"/>
          </a:xfrm>
          <a:prstGeom prst="rect">
            <a:avLst/>
          </a:prstGeom>
          <a:noFill/>
          <a:ln w="0">
            <a:noFill/>
            <a:prstDash val="solid"/>
          </a:ln>
        </p:spPr>
        <p:txBody>
          <a:bodyPr lIns="0" tIns="0" rIns="0" bIns="0" anchor="t">
            <a:normAutofit/>
          </a:bodyPr>
          <a:lstStyle/>
          <a:p>
            <a:pPr algn="ctr">
              <a:defRPr sz="1275" b="0">
                <a:solidFill>
                  <a:srgbClr val="586574"/>
                </a:solidFill>
                <a:latin typeface="Yu Gothic"/>
                <a:ea typeface="Yu Gothic"/>
                <a:cs typeface="Yu Gothic"/>
              </a:defRPr>
            </a:pPr>
            <a:r>
              <a:rPr sz="1275" b="0">
                <a:solidFill>
                  <a:srgbClr val="586574"/>
                </a:solidFill>
                <a:latin typeface="Yu Gothic"/>
                <a:ea typeface="Yu Gothic"/>
                <a:cs typeface="Yu Gothic"/>
              </a:rPr>
              <a:t>令和7年度概算要求。</a:t>
            </a:r>
          </a:p>
          <a:p>
            <a:pPr algn="ctr">
              <a:defRPr sz="1275" b="0">
                <a:solidFill>
                  <a:srgbClr val="586574"/>
                </a:solidFill>
                <a:latin typeface="Yu Gothic"/>
                <a:ea typeface="Yu Gothic"/>
                <a:cs typeface="Yu Gothic"/>
              </a:defRPr>
            </a:pPr>
            <a:r>
              <a:rPr sz="1275" b="0">
                <a:solidFill>
                  <a:srgbClr val="586574"/>
                </a:solidFill>
                <a:latin typeface="Yu Gothic"/>
                <a:ea typeface="Yu Gothic"/>
                <a:cs typeface="Yu Gothic"/>
              </a:rPr>
              <a:t>構想策定に必要な分析を支援</a:t>
            </a:r>
          </a:p>
        </p:txBody>
      </p:sp>
      <p:sp>
        <p:nvSpPr>
          <p:cNvPr id="16" name="evidence-tag-2">
            <a:extLst>
              <a:ext uri="{FF2B5EF4-FFF2-40B4-BE49-F238E27FC236}">
                <a16:creationId xmlns:a16="http://schemas.microsoft.com/office/drawing/2014/main" id="{04DB7171-9272-4C59-826E-2C9B19221590}"/>
              </a:ext>
            </a:extLst>
          </p:cNvPr>
          <p:cNvSpPr>
            <a:spLocks noGrp="1"/>
          </p:cNvSpPr>
          <p:nvPr/>
        </p:nvSpPr>
        <p:spPr>
          <a:xfrm>
            <a:off x="6229350" y="1676400"/>
            <a:ext cx="2286000" cy="457200"/>
          </a:xfrm>
          <a:prstGeom prst="rect">
            <a:avLst/>
          </a:prstGeom>
          <a:noFill/>
          <a:ln w="0">
            <a:noFill/>
            <a:prstDash val="solid"/>
          </a:ln>
        </p:spPr>
        <p:txBody>
          <a:bodyPr lIns="0" tIns="0" rIns="0" bIns="0" anchor="t">
            <a:normAutofit/>
          </a:bodyPr>
          <a:lstStyle/>
          <a:p>
            <a:pPr algn="ctr">
              <a:defRPr sz="2250" b="1">
                <a:solidFill>
                  <a:srgbClr val="087FB4"/>
                </a:solidFill>
                <a:latin typeface="Yu Gothic"/>
                <a:ea typeface="Yu Gothic"/>
                <a:cs typeface="Yu Gothic"/>
              </a:defRPr>
            </a:pPr>
            <a:r>
              <a:rPr sz="2250" b="1">
                <a:solidFill>
                  <a:srgbClr val="087FB4"/>
                </a:solidFill>
                <a:latin typeface="Yu Gothic"/>
                <a:ea typeface="Yu Gothic"/>
                <a:cs typeface="Yu Gothic"/>
              </a:rPr>
              <a:t>外部委託可</a:t>
            </a:r>
          </a:p>
        </p:txBody>
      </p:sp>
      <p:sp>
        <p:nvSpPr>
          <p:cNvPr id="17" name="evidence-title-2">
            <a:extLst>
              <a:ext uri="{FF2B5EF4-FFF2-40B4-BE49-F238E27FC236}">
                <a16:creationId xmlns:a16="http://schemas.microsoft.com/office/drawing/2014/main" id="{FA664FEC-EE3B-4A54-9C1E-89A5B74E6FAA}"/>
              </a:ext>
            </a:extLst>
          </p:cNvPr>
          <p:cNvSpPr>
            <a:spLocks noGrp="1"/>
          </p:cNvSpPr>
          <p:nvPr/>
        </p:nvSpPr>
        <p:spPr>
          <a:xfrm>
            <a:off x="6229350" y="2209800"/>
            <a:ext cx="2286000" cy="304800"/>
          </a:xfrm>
          <a:prstGeom prst="rect">
            <a:avLst/>
          </a:prstGeom>
          <a:noFill/>
          <a:ln w="0">
            <a:noFill/>
            <a:prstDash val="solid"/>
          </a:ln>
        </p:spPr>
        <p:txBody>
          <a:bodyPr lIns="0" tIns="0" rIns="0" bIns="0" anchor="t">
            <a:normAutofit/>
          </a:bodyPr>
          <a:lstStyle/>
          <a:p>
            <a:pPr algn="ctr">
              <a:defRPr sz="1575" b="1">
                <a:solidFill>
                  <a:srgbClr val="111827"/>
                </a:solidFill>
                <a:latin typeface="Yu Gothic"/>
                <a:ea typeface="Yu Gothic"/>
                <a:cs typeface="Yu Gothic"/>
              </a:defRPr>
            </a:pPr>
            <a:r>
              <a:rPr sz="1575" b="1">
                <a:solidFill>
                  <a:srgbClr val="111827"/>
                </a:solidFill>
                <a:latin typeface="Yu Gothic"/>
                <a:ea typeface="Yu Gothic"/>
                <a:cs typeface="Yu Gothic"/>
              </a:rPr>
              <a:t>都道府県の分析体制</a:t>
            </a:r>
          </a:p>
        </p:txBody>
      </p:sp>
      <p:sp>
        <p:nvSpPr>
          <p:cNvPr id="18" name="evidence-body-2">
            <a:extLst>
              <a:ext uri="{FF2B5EF4-FFF2-40B4-BE49-F238E27FC236}">
                <a16:creationId xmlns:a16="http://schemas.microsoft.com/office/drawing/2014/main" id="{D9A17654-0535-403C-B770-EF7E1BE791C5}"/>
              </a:ext>
            </a:extLst>
          </p:cNvPr>
          <p:cNvSpPr>
            <a:spLocks noGrp="1"/>
          </p:cNvSpPr>
          <p:nvPr/>
        </p:nvSpPr>
        <p:spPr>
          <a:xfrm>
            <a:off x="6229350" y="3524250"/>
            <a:ext cx="2286000" cy="876300"/>
          </a:xfrm>
          <a:prstGeom prst="rect">
            <a:avLst/>
          </a:prstGeom>
          <a:noFill/>
          <a:ln w="0">
            <a:noFill/>
            <a:prstDash val="solid"/>
          </a:ln>
        </p:spPr>
        <p:txBody>
          <a:bodyPr lIns="0" tIns="0" rIns="0" bIns="0" anchor="t">
            <a:normAutofit/>
          </a:bodyPr>
          <a:lstStyle/>
          <a:p>
            <a:pPr algn="ctr">
              <a:defRPr sz="1275" b="0">
                <a:solidFill>
                  <a:srgbClr val="586574"/>
                </a:solidFill>
                <a:latin typeface="Yu Gothic"/>
                <a:ea typeface="Yu Gothic"/>
                <a:cs typeface="Yu Gothic"/>
              </a:defRPr>
            </a:pPr>
            <a:r>
              <a:rPr sz="1275" b="0">
                <a:solidFill>
                  <a:srgbClr val="586574"/>
                </a:solidFill>
                <a:latin typeface="Yu Gothic"/>
                <a:ea typeface="Yu Gothic"/>
                <a:cs typeface="Yu Gothic"/>
              </a:rPr>
              <a:t>データ分析と政策立案体制の</a:t>
            </a:r>
          </a:p>
          <a:p>
            <a:pPr algn="ctr">
              <a:defRPr sz="1275" b="0">
                <a:solidFill>
                  <a:srgbClr val="586574"/>
                </a:solidFill>
                <a:latin typeface="Yu Gothic"/>
                <a:ea typeface="Yu Gothic"/>
                <a:cs typeface="Yu Gothic"/>
              </a:defRPr>
            </a:pPr>
            <a:r>
              <a:rPr sz="1275" b="0">
                <a:solidFill>
                  <a:srgbClr val="586574"/>
                </a:solidFill>
                <a:latin typeface="Yu Gothic"/>
                <a:ea typeface="Yu Gothic"/>
                <a:cs typeface="Yu Gothic"/>
              </a:rPr>
              <a:t>構築を事業として支援</a:t>
            </a:r>
          </a:p>
        </p:txBody>
      </p:sp>
      <p:sp>
        <p:nvSpPr>
          <p:cNvPr id="19" name="evidence-tag-3">
            <a:extLst>
              <a:ext uri="{FF2B5EF4-FFF2-40B4-BE49-F238E27FC236}">
                <a16:creationId xmlns:a16="http://schemas.microsoft.com/office/drawing/2014/main" id="{E9A866EB-29FF-4F1A-A66D-3BD4AA2AA546}"/>
              </a:ext>
            </a:extLst>
          </p:cNvPr>
          <p:cNvSpPr>
            <a:spLocks noGrp="1"/>
          </p:cNvSpPr>
          <p:nvPr/>
        </p:nvSpPr>
        <p:spPr>
          <a:xfrm>
            <a:off x="9010650" y="1676400"/>
            <a:ext cx="2286000" cy="457200"/>
          </a:xfrm>
          <a:prstGeom prst="rect">
            <a:avLst/>
          </a:prstGeom>
          <a:noFill/>
          <a:ln w="0">
            <a:noFill/>
            <a:prstDash val="solid"/>
          </a:ln>
        </p:spPr>
        <p:txBody>
          <a:bodyPr lIns="0" tIns="0" rIns="0" bIns="0" anchor="t">
            <a:normAutofit/>
          </a:bodyPr>
          <a:lstStyle/>
          <a:p>
            <a:pPr algn="ctr">
              <a:defRPr sz="2250" b="1">
                <a:solidFill>
                  <a:srgbClr val="087FB4"/>
                </a:solidFill>
                <a:latin typeface="Yu Gothic"/>
                <a:ea typeface="Yu Gothic"/>
                <a:cs typeface="Yu Gothic"/>
              </a:defRPr>
            </a:pPr>
            <a:r>
              <a:rPr sz="2250" b="1">
                <a:solidFill>
                  <a:srgbClr val="087FB4"/>
                </a:solidFill>
                <a:latin typeface="Yu Gothic"/>
                <a:ea typeface="Yu Gothic"/>
                <a:cs typeface="Yu Gothic"/>
              </a:rPr>
              <a:t>推計を具体化</a:t>
            </a:r>
          </a:p>
        </p:txBody>
      </p:sp>
      <p:sp>
        <p:nvSpPr>
          <p:cNvPr id="20" name="evidence-title-3">
            <a:extLst>
              <a:ext uri="{FF2B5EF4-FFF2-40B4-BE49-F238E27FC236}">
                <a16:creationId xmlns:a16="http://schemas.microsoft.com/office/drawing/2014/main" id="{E8481468-5B5B-461D-BFC8-49A841CB9DF6}"/>
              </a:ext>
            </a:extLst>
          </p:cNvPr>
          <p:cNvSpPr>
            <a:spLocks noGrp="1"/>
          </p:cNvSpPr>
          <p:nvPr/>
        </p:nvSpPr>
        <p:spPr>
          <a:xfrm>
            <a:off x="9010650" y="2209800"/>
            <a:ext cx="2286000" cy="304800"/>
          </a:xfrm>
          <a:prstGeom prst="rect">
            <a:avLst/>
          </a:prstGeom>
          <a:noFill/>
          <a:ln w="0">
            <a:noFill/>
            <a:prstDash val="solid"/>
          </a:ln>
        </p:spPr>
        <p:txBody>
          <a:bodyPr lIns="0" tIns="0" rIns="0" bIns="0" anchor="t">
            <a:normAutofit/>
          </a:bodyPr>
          <a:lstStyle/>
          <a:p>
            <a:pPr algn="ctr">
              <a:defRPr sz="1575" b="1">
                <a:solidFill>
                  <a:srgbClr val="111827"/>
                </a:solidFill>
                <a:latin typeface="Yu Gothic"/>
                <a:ea typeface="Yu Gothic"/>
                <a:cs typeface="Yu Gothic"/>
              </a:defRPr>
            </a:pPr>
            <a:r>
              <a:rPr sz="1575" b="1">
                <a:solidFill>
                  <a:srgbClr val="111827"/>
                </a:solidFill>
                <a:latin typeface="Yu Gothic"/>
                <a:ea typeface="Yu Gothic"/>
                <a:cs typeface="Yu Gothic"/>
              </a:rPr>
              <a:t>人口 × 診療実績</a:t>
            </a:r>
          </a:p>
        </p:txBody>
      </p:sp>
      <p:sp>
        <p:nvSpPr>
          <p:cNvPr id="21" name="evidence-body-3">
            <a:extLst>
              <a:ext uri="{FF2B5EF4-FFF2-40B4-BE49-F238E27FC236}">
                <a16:creationId xmlns:a16="http://schemas.microsoft.com/office/drawing/2014/main" id="{87796E58-C7BD-4430-AA59-24D94F2608C0}"/>
              </a:ext>
            </a:extLst>
          </p:cNvPr>
          <p:cNvSpPr>
            <a:spLocks noGrp="1"/>
          </p:cNvSpPr>
          <p:nvPr/>
        </p:nvSpPr>
        <p:spPr>
          <a:xfrm>
            <a:off x="9010650" y="3524250"/>
            <a:ext cx="2286000" cy="876300"/>
          </a:xfrm>
          <a:prstGeom prst="rect">
            <a:avLst/>
          </a:prstGeom>
          <a:noFill/>
          <a:ln w="0">
            <a:noFill/>
            <a:prstDash val="solid"/>
          </a:ln>
        </p:spPr>
        <p:txBody>
          <a:bodyPr lIns="0" tIns="0" rIns="0" bIns="0" anchor="t">
            <a:normAutofit/>
          </a:bodyPr>
          <a:lstStyle/>
          <a:p>
            <a:pPr algn="ctr">
              <a:defRPr sz="1275" b="0">
                <a:solidFill>
                  <a:srgbClr val="586574"/>
                </a:solidFill>
                <a:latin typeface="Yu Gothic"/>
                <a:ea typeface="Yu Gothic"/>
                <a:cs typeface="Yu Gothic"/>
              </a:defRPr>
            </a:pPr>
            <a:r>
              <a:rPr sz="1275" b="0">
                <a:solidFill>
                  <a:srgbClr val="586574"/>
                </a:solidFill>
                <a:latin typeface="Yu Gothic"/>
                <a:ea typeface="Yu Gothic"/>
                <a:cs typeface="Yu Gothic"/>
              </a:rPr>
              <a:t>将来医療需要を機能別に推計し、</a:t>
            </a:r>
          </a:p>
          <a:p>
            <a:pPr algn="ctr">
              <a:defRPr sz="1275" b="0">
                <a:solidFill>
                  <a:srgbClr val="586574"/>
                </a:solidFill>
                <a:latin typeface="Yu Gothic"/>
                <a:ea typeface="Yu Gothic"/>
                <a:cs typeface="Yu Gothic"/>
              </a:defRPr>
            </a:pPr>
            <a:r>
              <a:rPr sz="1275" b="0">
                <a:solidFill>
                  <a:srgbClr val="586574"/>
                </a:solidFill>
                <a:latin typeface="Yu Gothic"/>
                <a:ea typeface="Yu Gothic"/>
                <a:cs typeface="Yu Gothic"/>
              </a:rPr>
              <a:t>必要病床数を定期的に見直す</a:t>
            </a:r>
          </a:p>
        </p:txBody>
      </p:sp>
      <p:sp>
        <p:nvSpPr>
          <p:cNvPr id="22" name="policy-validation-band">
            <a:extLst>
              <a:ext uri="{FF2B5EF4-FFF2-40B4-BE49-F238E27FC236}">
                <a16:creationId xmlns:a16="http://schemas.microsoft.com/office/drawing/2014/main" id="{E86EFBE1-BC4C-4B96-9637-E9D7850C8003}"/>
              </a:ext>
            </a:extLst>
          </p:cNvPr>
          <p:cNvSpPr>
            <a:spLocks noGrp="1"/>
          </p:cNvSpPr>
          <p:nvPr/>
        </p:nvSpPr>
        <p:spPr>
          <a:xfrm>
            <a:off x="666750" y="4933950"/>
            <a:ext cx="10858500" cy="971550"/>
          </a:xfrm>
          <a:prstGeom prst="roundRect">
            <a:avLst>
              <a:gd name="adj" fmla="val 7843"/>
            </a:avLst>
          </a:prstGeom>
          <a:solidFill>
            <a:srgbClr val="EAF7FC"/>
          </a:solidFill>
          <a:ln w="9525">
            <a:solidFill>
              <a:srgbClr val="18A8E0"/>
            </a:solidFill>
            <a:prstDash val="solid"/>
          </a:ln>
        </p:spPr>
        <p:txBody>
          <a:bodyPr/>
          <a:lstStyle/>
          <a:p>
            <a:endParaRPr lang="ja-JP" altLang="en-US"/>
          </a:p>
        </p:txBody>
      </p:sp>
      <p:sp>
        <p:nvSpPr>
          <p:cNvPr id="23" name="policy-validation-text">
            <a:extLst>
              <a:ext uri="{FF2B5EF4-FFF2-40B4-BE49-F238E27FC236}">
                <a16:creationId xmlns:a16="http://schemas.microsoft.com/office/drawing/2014/main" id="{3A356E00-890E-4DC7-B8D8-008C27BC107C}"/>
              </a:ext>
            </a:extLst>
          </p:cNvPr>
          <p:cNvSpPr>
            <a:spLocks noGrp="1"/>
          </p:cNvSpPr>
          <p:nvPr/>
        </p:nvSpPr>
        <p:spPr>
          <a:xfrm>
            <a:off x="952500" y="5143500"/>
            <a:ext cx="10287000" cy="571500"/>
          </a:xfrm>
          <a:prstGeom prst="rect">
            <a:avLst/>
          </a:prstGeom>
          <a:noFill/>
          <a:ln w="0">
            <a:noFill/>
            <a:prstDash val="solid"/>
          </a:ln>
        </p:spPr>
        <p:txBody>
          <a:bodyPr lIns="0" tIns="0" rIns="0" bIns="0" anchor="ctr">
            <a:normAutofit/>
          </a:bodyPr>
          <a:lstStyle/>
          <a:p>
            <a:pPr algn="ctr">
              <a:defRPr sz="1875" b="1">
                <a:solidFill>
                  <a:srgbClr val="087FB4"/>
                </a:solidFill>
                <a:latin typeface="Yu Gothic"/>
                <a:ea typeface="Yu Gothic"/>
                <a:cs typeface="Yu Gothic"/>
              </a:defRPr>
            </a:pPr>
            <a:r>
              <a:rPr sz="1875" b="1">
                <a:solidFill>
                  <a:srgbClr val="087FB4"/>
                </a:solidFill>
                <a:latin typeface="Yu Gothic"/>
                <a:ea typeface="Yu Gothic"/>
                <a:cs typeface="Yu Gothic"/>
              </a:rPr>
              <a:t>過去データで発見した A01 × U06 と、現在の政策方向性が一致</a:t>
            </a:r>
          </a:p>
          <a:p>
            <a:pPr algn="ctr">
              <a:defRPr sz="1875" b="1">
                <a:solidFill>
                  <a:srgbClr val="087FB4"/>
                </a:solidFill>
                <a:latin typeface="Yu Gothic"/>
                <a:ea typeface="Yu Gothic"/>
                <a:cs typeface="Yu Gothic"/>
              </a:defRPr>
            </a:pPr>
            <a:r>
              <a:rPr sz="1875" b="1">
                <a:solidFill>
                  <a:srgbClr val="087FB4"/>
                </a:solidFill>
                <a:latin typeface="Yu Gothic"/>
                <a:ea typeface="Yu Gothic"/>
                <a:cs typeface="Yu Gothic"/>
              </a:rPr>
              <a:t>→ 継続的な需要が期待できる</a:t>
            </a:r>
          </a:p>
        </p:txBody>
      </p:sp>
      <p:sp>
        <p:nvSpPr>
          <p:cNvPr id="24" name="source-footer">
            <a:extLst>
              <a:ext uri="{FF2B5EF4-FFF2-40B4-BE49-F238E27FC236}">
                <a16:creationId xmlns:a16="http://schemas.microsoft.com/office/drawing/2014/main" id="{F4784F32-7323-40DB-AF2A-2B47A0B2205D}"/>
              </a:ext>
            </a:extLst>
          </p:cNvPr>
          <p:cNvSpPr>
            <a:spLocks noGrp="1"/>
          </p:cNvSpPr>
          <p:nvPr/>
        </p:nvSpPr>
        <p:spPr>
          <a:xfrm>
            <a:off x="666750" y="6210300"/>
            <a:ext cx="10477500" cy="190500"/>
          </a:xfrm>
          <a:prstGeom prst="rect">
            <a:avLst/>
          </a:prstGeom>
          <a:noFill/>
          <a:ln w="0">
            <a:noFill/>
            <a:prstDash val="solid"/>
          </a:ln>
        </p:spPr>
        <p:txBody>
          <a:bodyPr lIns="0" tIns="0" rIns="0" bIns="0" anchor="t">
            <a:normAutofit/>
          </a:bodyPr>
          <a:lstStyle/>
          <a:p>
            <a:pPr algn="l">
              <a:defRPr sz="825" b="0">
                <a:solidFill>
                  <a:srgbClr val="586574"/>
                </a:solidFill>
                <a:latin typeface="Yu Gothic"/>
                <a:ea typeface="Yu Gothic"/>
                <a:cs typeface="Yu Gothic"/>
              </a:defRPr>
            </a:pPr>
            <a:r>
              <a:rPr sz="825" b="0">
                <a:solidFill>
                  <a:srgbClr val="586574"/>
                </a:solidFill>
                <a:latin typeface="Yu Gothic"/>
                <a:ea typeface="Yu Gothic"/>
                <a:cs typeface="Yu Gothic"/>
              </a:rPr>
              <a:t>出典：厚生労働省（2040年に向けた地域医療構想、関連事業実施要綱、予算概算要求、検討会資料）</a:t>
            </a:r>
          </a:p>
        </p:txBody>
      </p:sp>
    </p:spTree>
    <p:extLst>
      <p:ext uri="{BB962C8B-B14F-4D97-AF65-F5344CB8AC3E}">
        <p14:creationId xmlns:p14="http://schemas.microsoft.com/office/powerpoint/2010/main" val="2080817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section-6">
            <a:extLst>
              <a:ext uri="{FF2B5EF4-FFF2-40B4-BE49-F238E27FC236}">
                <a16:creationId xmlns:a16="http://schemas.microsoft.com/office/drawing/2014/main" id="{9DCEFB39-2578-43C7-A23D-1E96AA4E71D1}"/>
              </a:ext>
            </a:extLst>
          </p:cNvPr>
          <p:cNvSpPr>
            <a:spLocks noGrp="1"/>
          </p:cNvSpPr>
          <p:nvPr/>
        </p:nvSpPr>
        <p:spPr>
          <a:xfrm>
            <a:off x="400050" y="247650"/>
            <a:ext cx="2667000" cy="228600"/>
          </a:xfrm>
          <a:prstGeom prst="rect">
            <a:avLst/>
          </a:prstGeom>
          <a:noFill/>
          <a:ln w="0">
            <a:noFill/>
            <a:prstDash val="solid"/>
          </a:ln>
        </p:spPr>
        <p:txBody>
          <a:bodyPr lIns="0" tIns="0" rIns="0" bIns="0" anchor="t">
            <a:normAutofit/>
          </a:bodyPr>
          <a:lstStyle/>
          <a:p>
            <a:pPr algn="l">
              <a:defRPr sz="1200" b="1">
                <a:solidFill>
                  <a:srgbClr val="087FB4"/>
                </a:solidFill>
                <a:latin typeface="Yu Gothic"/>
                <a:ea typeface="Yu Gothic"/>
                <a:cs typeface="Yu Gothic"/>
              </a:defRPr>
            </a:pPr>
            <a:r>
              <a:rPr sz="1200" b="1">
                <a:solidFill>
                  <a:srgbClr val="087FB4"/>
                </a:solidFill>
                <a:latin typeface="Yu Gothic"/>
                <a:ea typeface="Yu Gothic"/>
                <a:cs typeface="Yu Gothic"/>
              </a:rPr>
              <a:t>05｜サービス提案</a:t>
            </a:r>
          </a:p>
        </p:txBody>
      </p:sp>
      <p:sp>
        <p:nvSpPr>
          <p:cNvPr id="2" name="title-6">
            <a:extLst>
              <a:ext uri="{FF2B5EF4-FFF2-40B4-BE49-F238E27FC236}">
                <a16:creationId xmlns:a16="http://schemas.microsoft.com/office/drawing/2014/main" id="{64206174-E5BA-4E35-A719-5673CB8B6B7C}"/>
              </a:ext>
            </a:extLst>
          </p:cNvPr>
          <p:cNvSpPr>
            <a:spLocks noGrp="1"/>
          </p:cNvSpPr>
          <p:nvPr/>
        </p:nvSpPr>
        <p:spPr>
          <a:xfrm>
            <a:off x="400050" y="552450"/>
            <a:ext cx="10953750" cy="571500"/>
          </a:xfrm>
          <a:prstGeom prst="rect">
            <a:avLst/>
          </a:prstGeom>
          <a:noFill/>
          <a:ln w="0">
            <a:noFill/>
            <a:prstDash val="solid"/>
          </a:ln>
        </p:spPr>
        <p:txBody>
          <a:bodyPr lIns="0" tIns="0" rIns="0" bIns="0" anchor="ctr">
            <a:normAutofit/>
          </a:bodyPr>
          <a:lstStyle/>
          <a:p>
            <a:pPr algn="l">
              <a:defRPr sz="2850" b="1">
                <a:solidFill>
                  <a:srgbClr val="111827"/>
                </a:solidFill>
                <a:latin typeface="Yu Gothic"/>
                <a:ea typeface="Yu Gothic"/>
                <a:cs typeface="Yu Gothic"/>
              </a:defRPr>
            </a:pPr>
            <a:r>
              <a:rPr sz="2850" b="1">
                <a:solidFill>
                  <a:srgbClr val="111827"/>
                </a:solidFill>
                <a:latin typeface="Yu Gothic"/>
                <a:ea typeface="Yu Gothic"/>
                <a:cs typeface="Yu Gothic"/>
              </a:rPr>
              <a:t>地域医療需要の将来予測・政策シナリオ分析支援</a:t>
            </a:r>
          </a:p>
        </p:txBody>
      </p:sp>
      <p:sp>
        <p:nvSpPr>
          <p:cNvPr id="3" name="page-6">
            <a:extLst>
              <a:ext uri="{FF2B5EF4-FFF2-40B4-BE49-F238E27FC236}">
                <a16:creationId xmlns:a16="http://schemas.microsoft.com/office/drawing/2014/main" id="{A95D96A6-70DF-4B2F-90A2-B559BDDFC4BC}"/>
              </a:ext>
            </a:extLst>
          </p:cNvPr>
          <p:cNvSpPr>
            <a:spLocks noGrp="1"/>
          </p:cNvSpPr>
          <p:nvPr/>
        </p:nvSpPr>
        <p:spPr>
          <a:xfrm>
            <a:off x="11334750" y="285750"/>
            <a:ext cx="438150" cy="209550"/>
          </a:xfrm>
          <a:prstGeom prst="rect">
            <a:avLst/>
          </a:prstGeom>
          <a:noFill/>
          <a:ln w="0">
            <a:noFill/>
            <a:prstDash val="solid"/>
          </a:ln>
        </p:spPr>
        <p:txBody>
          <a:bodyPr lIns="0" tIns="0" rIns="0" bIns="0" anchor="t">
            <a:normAutofit/>
          </a:bodyPr>
          <a:lstStyle/>
          <a:p>
            <a:pPr algn="r">
              <a:defRPr sz="1050" b="1">
                <a:solidFill>
                  <a:srgbClr val="586574"/>
                </a:solidFill>
                <a:latin typeface="Yu Gothic"/>
                <a:ea typeface="Yu Gothic"/>
                <a:cs typeface="Yu Gothic"/>
              </a:defRPr>
            </a:pPr>
            <a:r>
              <a:rPr sz="1050" b="1">
                <a:solidFill>
                  <a:srgbClr val="586574"/>
                </a:solidFill>
                <a:latin typeface="Yu Gothic"/>
                <a:ea typeface="Yu Gothic"/>
                <a:cs typeface="Yu Gothic"/>
              </a:rPr>
              <a:t>06</a:t>
            </a:r>
          </a:p>
        </p:txBody>
      </p:sp>
      <p:sp>
        <p:nvSpPr>
          <p:cNvPr id="4" name="header-rule-6">
            <a:extLst>
              <a:ext uri="{FF2B5EF4-FFF2-40B4-BE49-F238E27FC236}">
                <a16:creationId xmlns:a16="http://schemas.microsoft.com/office/drawing/2014/main" id="{67BEC34A-266E-4B78-AFD9-C60FD6D3BB70}"/>
              </a:ext>
            </a:extLst>
          </p:cNvPr>
          <p:cNvSpPr>
            <a:spLocks noGrp="1"/>
          </p:cNvSpPr>
          <p:nvPr/>
        </p:nvSpPr>
        <p:spPr>
          <a:xfrm>
            <a:off x="400050" y="1200150"/>
            <a:ext cx="11391900" cy="0"/>
          </a:xfrm>
          <a:prstGeom prst="line">
            <a:avLst/>
          </a:prstGeom>
          <a:noFill/>
          <a:ln w="9525">
            <a:solidFill>
              <a:srgbClr val="C9D0D8"/>
            </a:solidFill>
            <a:prstDash val="solid"/>
          </a:ln>
        </p:spPr>
        <p:txBody>
          <a:bodyPr/>
          <a:lstStyle/>
          <a:p>
            <a:endParaRPr lang="ja-JP" altLang="en-US"/>
          </a:p>
        </p:txBody>
      </p:sp>
      <p:sp>
        <p:nvSpPr>
          <p:cNvPr id="5" name="service-thesis">
            <a:extLst>
              <a:ext uri="{FF2B5EF4-FFF2-40B4-BE49-F238E27FC236}">
                <a16:creationId xmlns:a16="http://schemas.microsoft.com/office/drawing/2014/main" id="{A7601F7C-77F5-4D23-97FD-E205429F08D6}"/>
              </a:ext>
            </a:extLst>
          </p:cNvPr>
          <p:cNvSpPr>
            <a:spLocks noGrp="1"/>
          </p:cNvSpPr>
          <p:nvPr/>
        </p:nvSpPr>
        <p:spPr>
          <a:xfrm>
            <a:off x="457200" y="1409700"/>
            <a:ext cx="11258550" cy="400050"/>
          </a:xfrm>
          <a:prstGeom prst="rect">
            <a:avLst/>
          </a:prstGeom>
          <a:noFill/>
          <a:ln w="0">
            <a:noFill/>
            <a:prstDash val="solid"/>
          </a:ln>
        </p:spPr>
        <p:txBody>
          <a:bodyPr lIns="0" tIns="0" rIns="0" bIns="0" anchor="t">
            <a:normAutofit/>
          </a:bodyPr>
          <a:lstStyle/>
          <a:p>
            <a:pPr algn="ctr">
              <a:defRPr sz="2025" b="1">
                <a:solidFill>
                  <a:srgbClr val="087FB4"/>
                </a:solidFill>
                <a:latin typeface="Yu Gothic"/>
                <a:ea typeface="Yu Gothic"/>
                <a:cs typeface="Yu Gothic"/>
              </a:defRPr>
            </a:pPr>
            <a:r>
              <a:rPr sz="2025" b="1">
                <a:solidFill>
                  <a:srgbClr val="087FB4"/>
                </a:solidFill>
                <a:latin typeface="Yu Gothic"/>
                <a:ea typeface="Yu Gothic"/>
                <a:cs typeface="Yu Gothic"/>
              </a:rPr>
              <a:t>予測モデルを作って終わらず、予測を使った政策判断まで支援する</a:t>
            </a:r>
          </a:p>
        </p:txBody>
      </p:sp>
      <p:sp>
        <p:nvSpPr>
          <p:cNvPr id="6" name="process-arrow-0">
            <a:extLst>
              <a:ext uri="{FF2B5EF4-FFF2-40B4-BE49-F238E27FC236}">
                <a16:creationId xmlns:a16="http://schemas.microsoft.com/office/drawing/2014/main" id="{A4AE8C4E-04EC-45D8-AACC-24D7E621D42D}"/>
              </a:ext>
            </a:extLst>
          </p:cNvPr>
          <p:cNvSpPr>
            <a:spLocks noGrp="1"/>
          </p:cNvSpPr>
          <p:nvPr/>
        </p:nvSpPr>
        <p:spPr>
          <a:xfrm>
            <a:off x="2400300" y="2876550"/>
            <a:ext cx="400050" cy="247650"/>
          </a:xfrm>
          <a:prstGeom prst="rightArrow">
            <a:avLst/>
          </a:prstGeom>
          <a:solidFill>
            <a:srgbClr val="18A8E0"/>
          </a:solidFill>
          <a:ln w="0">
            <a:noFill/>
            <a:prstDash val="solid"/>
          </a:ln>
        </p:spPr>
        <p:txBody>
          <a:bodyPr/>
          <a:lstStyle/>
          <a:p>
            <a:endParaRPr lang="ja-JP" altLang="en-US"/>
          </a:p>
        </p:txBody>
      </p:sp>
      <p:sp>
        <p:nvSpPr>
          <p:cNvPr id="7" name="process-arrow-1">
            <a:extLst>
              <a:ext uri="{FF2B5EF4-FFF2-40B4-BE49-F238E27FC236}">
                <a16:creationId xmlns:a16="http://schemas.microsoft.com/office/drawing/2014/main" id="{7E6B2AF8-98FB-4DD1-B0CA-0676ABFE67EB}"/>
              </a:ext>
            </a:extLst>
          </p:cNvPr>
          <p:cNvSpPr>
            <a:spLocks noGrp="1"/>
          </p:cNvSpPr>
          <p:nvPr/>
        </p:nvSpPr>
        <p:spPr>
          <a:xfrm>
            <a:off x="4648200" y="2876550"/>
            <a:ext cx="400050" cy="247650"/>
          </a:xfrm>
          <a:prstGeom prst="rightArrow">
            <a:avLst/>
          </a:prstGeom>
          <a:solidFill>
            <a:srgbClr val="18A8E0"/>
          </a:solidFill>
          <a:ln w="0">
            <a:noFill/>
            <a:prstDash val="solid"/>
          </a:ln>
        </p:spPr>
        <p:txBody>
          <a:bodyPr/>
          <a:lstStyle/>
          <a:p>
            <a:endParaRPr lang="ja-JP" altLang="en-US"/>
          </a:p>
        </p:txBody>
      </p:sp>
      <p:sp>
        <p:nvSpPr>
          <p:cNvPr id="8" name="process-arrow-2">
            <a:extLst>
              <a:ext uri="{FF2B5EF4-FFF2-40B4-BE49-F238E27FC236}">
                <a16:creationId xmlns:a16="http://schemas.microsoft.com/office/drawing/2014/main" id="{E64CB896-8BB6-42C3-8FBF-9DFF05A491DB}"/>
              </a:ext>
            </a:extLst>
          </p:cNvPr>
          <p:cNvSpPr>
            <a:spLocks noGrp="1"/>
          </p:cNvSpPr>
          <p:nvPr/>
        </p:nvSpPr>
        <p:spPr>
          <a:xfrm>
            <a:off x="6896100" y="2876550"/>
            <a:ext cx="400050" cy="247650"/>
          </a:xfrm>
          <a:prstGeom prst="rightArrow">
            <a:avLst/>
          </a:prstGeom>
          <a:solidFill>
            <a:srgbClr val="18A8E0"/>
          </a:solidFill>
          <a:ln w="0">
            <a:noFill/>
            <a:prstDash val="solid"/>
          </a:ln>
        </p:spPr>
        <p:txBody>
          <a:bodyPr/>
          <a:lstStyle/>
          <a:p>
            <a:endParaRPr lang="ja-JP" altLang="en-US"/>
          </a:p>
        </p:txBody>
      </p:sp>
      <p:sp>
        <p:nvSpPr>
          <p:cNvPr id="9" name="process-arrow-3">
            <a:extLst>
              <a:ext uri="{FF2B5EF4-FFF2-40B4-BE49-F238E27FC236}">
                <a16:creationId xmlns:a16="http://schemas.microsoft.com/office/drawing/2014/main" id="{C2DEDA00-2486-4A2A-89B5-F26BBF5B6F61}"/>
              </a:ext>
            </a:extLst>
          </p:cNvPr>
          <p:cNvSpPr>
            <a:spLocks noGrp="1"/>
          </p:cNvSpPr>
          <p:nvPr/>
        </p:nvSpPr>
        <p:spPr>
          <a:xfrm>
            <a:off x="9144000" y="2876550"/>
            <a:ext cx="400050" cy="247650"/>
          </a:xfrm>
          <a:prstGeom prst="rightArrow">
            <a:avLst/>
          </a:prstGeom>
          <a:solidFill>
            <a:srgbClr val="18A8E0"/>
          </a:solidFill>
          <a:ln w="0">
            <a:noFill/>
            <a:prstDash val="solid"/>
          </a:ln>
        </p:spPr>
        <p:txBody>
          <a:bodyPr/>
          <a:lstStyle/>
          <a:p>
            <a:endParaRPr lang="ja-JP" altLang="en-US"/>
          </a:p>
        </p:txBody>
      </p:sp>
      <p:sp>
        <p:nvSpPr>
          <p:cNvPr id="10" name="step-box-0">
            <a:extLst>
              <a:ext uri="{FF2B5EF4-FFF2-40B4-BE49-F238E27FC236}">
                <a16:creationId xmlns:a16="http://schemas.microsoft.com/office/drawing/2014/main" id="{47566DF7-4738-488B-B9D5-30C43714D3AC}"/>
              </a:ext>
            </a:extLst>
          </p:cNvPr>
          <p:cNvSpPr>
            <a:spLocks noGrp="1"/>
          </p:cNvSpPr>
          <p:nvPr/>
        </p:nvSpPr>
        <p:spPr>
          <a:xfrm>
            <a:off x="457200" y="2133600"/>
            <a:ext cx="1943100" cy="2057400"/>
          </a:xfrm>
          <a:prstGeom prst="roundRect">
            <a:avLst>
              <a:gd name="adj" fmla="val 3922"/>
            </a:avLst>
          </a:prstGeom>
          <a:solidFill>
            <a:srgbClr val="FFFFFF"/>
          </a:solidFill>
          <a:ln w="9525">
            <a:solidFill>
              <a:srgbClr val="18A8E0"/>
            </a:solidFill>
            <a:prstDash val="solid"/>
          </a:ln>
        </p:spPr>
        <p:txBody>
          <a:bodyPr/>
          <a:lstStyle/>
          <a:p>
            <a:endParaRPr lang="ja-JP" altLang="en-US"/>
          </a:p>
        </p:txBody>
      </p:sp>
      <p:sp>
        <p:nvSpPr>
          <p:cNvPr id="11" name="step-num-0">
            <a:extLst>
              <a:ext uri="{FF2B5EF4-FFF2-40B4-BE49-F238E27FC236}">
                <a16:creationId xmlns:a16="http://schemas.microsoft.com/office/drawing/2014/main" id="{4D1B32BD-B7BF-4BFD-8179-FD0D3629AD96}"/>
              </a:ext>
            </a:extLst>
          </p:cNvPr>
          <p:cNvSpPr>
            <a:spLocks noGrp="1"/>
          </p:cNvSpPr>
          <p:nvPr/>
        </p:nvSpPr>
        <p:spPr>
          <a:xfrm>
            <a:off x="628650" y="2324100"/>
            <a:ext cx="514350" cy="266700"/>
          </a:xfrm>
          <a:prstGeom prst="rect">
            <a:avLst/>
          </a:prstGeom>
          <a:noFill/>
          <a:ln w="0">
            <a:noFill/>
            <a:prstDash val="solid"/>
          </a:ln>
        </p:spPr>
        <p:txBody>
          <a:bodyPr lIns="0" tIns="0" rIns="0" bIns="0" anchor="t">
            <a:normAutofit/>
          </a:bodyPr>
          <a:lstStyle/>
          <a:p>
            <a:pPr algn="l">
              <a:defRPr sz="1350" b="1">
                <a:solidFill>
                  <a:srgbClr val="087FB4"/>
                </a:solidFill>
                <a:latin typeface="Yu Gothic"/>
                <a:ea typeface="Yu Gothic"/>
                <a:cs typeface="Yu Gothic"/>
              </a:defRPr>
            </a:pPr>
            <a:r>
              <a:rPr sz="1350" b="1">
                <a:solidFill>
                  <a:srgbClr val="087FB4"/>
                </a:solidFill>
                <a:latin typeface="Yu Gothic"/>
                <a:ea typeface="Yu Gothic"/>
                <a:cs typeface="Yu Gothic"/>
              </a:rPr>
              <a:t>01</a:t>
            </a:r>
          </a:p>
        </p:txBody>
      </p:sp>
      <p:sp>
        <p:nvSpPr>
          <p:cNvPr id="12" name="step-title-0">
            <a:extLst>
              <a:ext uri="{FF2B5EF4-FFF2-40B4-BE49-F238E27FC236}">
                <a16:creationId xmlns:a16="http://schemas.microsoft.com/office/drawing/2014/main" id="{4335919A-9C97-4B77-8CFD-1F0C7B64164B}"/>
              </a:ext>
            </a:extLst>
          </p:cNvPr>
          <p:cNvSpPr>
            <a:spLocks noGrp="1"/>
          </p:cNvSpPr>
          <p:nvPr/>
        </p:nvSpPr>
        <p:spPr>
          <a:xfrm>
            <a:off x="628650" y="2743200"/>
            <a:ext cx="1600200" cy="533400"/>
          </a:xfrm>
          <a:prstGeom prst="rect">
            <a:avLst/>
          </a:prstGeom>
          <a:noFill/>
          <a:ln w="0">
            <a:noFill/>
            <a:prstDash val="solid"/>
          </a:ln>
        </p:spPr>
        <p:txBody>
          <a:bodyPr lIns="0" tIns="0" rIns="0" bIns="0" anchor="ctr">
            <a:normAutofit/>
          </a:bodyPr>
          <a:lstStyle/>
          <a:p>
            <a:pPr algn="l">
              <a:defRPr sz="1650" b="1">
                <a:solidFill>
                  <a:srgbClr val="111827"/>
                </a:solidFill>
                <a:latin typeface="Yu Gothic"/>
                <a:ea typeface="Yu Gothic"/>
                <a:cs typeface="Yu Gothic"/>
              </a:defRPr>
            </a:pPr>
            <a:r>
              <a:rPr sz="1650" b="1">
                <a:solidFill>
                  <a:srgbClr val="111827"/>
                </a:solidFill>
                <a:latin typeface="Yu Gothic"/>
                <a:ea typeface="Yu Gothic"/>
                <a:cs typeface="Yu Gothic"/>
              </a:rPr>
              <a:t>現状分析</a:t>
            </a:r>
          </a:p>
        </p:txBody>
      </p:sp>
      <p:sp>
        <p:nvSpPr>
          <p:cNvPr id="13" name="step-body-0">
            <a:extLst>
              <a:ext uri="{FF2B5EF4-FFF2-40B4-BE49-F238E27FC236}">
                <a16:creationId xmlns:a16="http://schemas.microsoft.com/office/drawing/2014/main" id="{3076D36E-8C8C-4225-8E28-BE64E525B5B2}"/>
              </a:ext>
            </a:extLst>
          </p:cNvPr>
          <p:cNvSpPr>
            <a:spLocks noGrp="1"/>
          </p:cNvSpPr>
          <p:nvPr/>
        </p:nvSpPr>
        <p:spPr>
          <a:xfrm>
            <a:off x="628650" y="3429000"/>
            <a:ext cx="1600200" cy="552450"/>
          </a:xfrm>
          <a:prstGeom prst="rect">
            <a:avLst/>
          </a:prstGeom>
          <a:noFill/>
          <a:ln w="0">
            <a:noFill/>
            <a:prstDash val="solid"/>
          </a:ln>
        </p:spPr>
        <p:txBody>
          <a:bodyPr lIns="0" tIns="0" rIns="0" bIns="0" anchor="ctr">
            <a:normAutofit/>
          </a:bodyPr>
          <a:lstStyle/>
          <a:p>
            <a:pPr algn="l">
              <a:defRPr sz="1200" b="0">
                <a:solidFill>
                  <a:srgbClr val="586574"/>
                </a:solidFill>
                <a:latin typeface="Yu Gothic"/>
                <a:ea typeface="Yu Gothic"/>
                <a:cs typeface="Yu Gothic"/>
              </a:defRPr>
            </a:pPr>
            <a:r>
              <a:rPr sz="1200" b="0">
                <a:solidFill>
                  <a:srgbClr val="586574"/>
                </a:solidFill>
                <a:latin typeface="Yu Gothic"/>
                <a:ea typeface="Yu Gothic"/>
                <a:cs typeface="Yu Gothic"/>
              </a:rPr>
              <a:t>患者・人口・病床・</a:t>
            </a:r>
          </a:p>
          <a:p>
            <a:pPr algn="l">
              <a:defRPr sz="1200" b="0">
                <a:solidFill>
                  <a:srgbClr val="586574"/>
                </a:solidFill>
                <a:latin typeface="Yu Gothic"/>
                <a:ea typeface="Yu Gothic"/>
                <a:cs typeface="Yu Gothic"/>
              </a:defRPr>
            </a:pPr>
            <a:r>
              <a:rPr sz="1200" b="0">
                <a:solidFill>
                  <a:srgbClr val="586574"/>
                </a:solidFill>
                <a:latin typeface="Yu Gothic"/>
                <a:ea typeface="Yu Gothic"/>
                <a:cs typeface="Yu Gothic"/>
              </a:rPr>
              <a:t>医療人材を統合分析</a:t>
            </a:r>
          </a:p>
        </p:txBody>
      </p:sp>
      <p:sp>
        <p:nvSpPr>
          <p:cNvPr id="14" name="step-box-1">
            <a:extLst>
              <a:ext uri="{FF2B5EF4-FFF2-40B4-BE49-F238E27FC236}">
                <a16:creationId xmlns:a16="http://schemas.microsoft.com/office/drawing/2014/main" id="{0E29117B-9E54-48B5-B30A-DE98A54C9339}"/>
              </a:ext>
            </a:extLst>
          </p:cNvPr>
          <p:cNvSpPr>
            <a:spLocks noGrp="1"/>
          </p:cNvSpPr>
          <p:nvPr/>
        </p:nvSpPr>
        <p:spPr>
          <a:xfrm>
            <a:off x="2705100" y="2133600"/>
            <a:ext cx="1943100" cy="2057400"/>
          </a:xfrm>
          <a:prstGeom prst="roundRect">
            <a:avLst>
              <a:gd name="adj" fmla="val 3922"/>
            </a:avLst>
          </a:prstGeom>
          <a:solidFill>
            <a:srgbClr val="FFFFFF"/>
          </a:solidFill>
          <a:ln w="9525">
            <a:solidFill>
              <a:srgbClr val="18A8E0"/>
            </a:solidFill>
            <a:prstDash val="solid"/>
          </a:ln>
        </p:spPr>
        <p:txBody>
          <a:bodyPr/>
          <a:lstStyle/>
          <a:p>
            <a:endParaRPr lang="ja-JP" altLang="en-US"/>
          </a:p>
        </p:txBody>
      </p:sp>
      <p:sp>
        <p:nvSpPr>
          <p:cNvPr id="15" name="step-num-1">
            <a:extLst>
              <a:ext uri="{FF2B5EF4-FFF2-40B4-BE49-F238E27FC236}">
                <a16:creationId xmlns:a16="http://schemas.microsoft.com/office/drawing/2014/main" id="{7A79E173-F39E-41EE-95FD-B024E8B4E1FF}"/>
              </a:ext>
            </a:extLst>
          </p:cNvPr>
          <p:cNvSpPr>
            <a:spLocks noGrp="1"/>
          </p:cNvSpPr>
          <p:nvPr/>
        </p:nvSpPr>
        <p:spPr>
          <a:xfrm>
            <a:off x="2876550" y="2324100"/>
            <a:ext cx="514350" cy="266700"/>
          </a:xfrm>
          <a:prstGeom prst="rect">
            <a:avLst/>
          </a:prstGeom>
          <a:noFill/>
          <a:ln w="0">
            <a:noFill/>
            <a:prstDash val="solid"/>
          </a:ln>
        </p:spPr>
        <p:txBody>
          <a:bodyPr lIns="0" tIns="0" rIns="0" bIns="0" anchor="t">
            <a:normAutofit/>
          </a:bodyPr>
          <a:lstStyle/>
          <a:p>
            <a:pPr algn="l">
              <a:defRPr sz="1350" b="1">
                <a:solidFill>
                  <a:srgbClr val="087FB4"/>
                </a:solidFill>
                <a:latin typeface="Yu Gothic"/>
                <a:ea typeface="Yu Gothic"/>
                <a:cs typeface="Yu Gothic"/>
              </a:defRPr>
            </a:pPr>
            <a:r>
              <a:rPr sz="1350" b="1">
                <a:solidFill>
                  <a:srgbClr val="087FB4"/>
                </a:solidFill>
                <a:latin typeface="Yu Gothic"/>
                <a:ea typeface="Yu Gothic"/>
                <a:cs typeface="Yu Gothic"/>
              </a:rPr>
              <a:t>02</a:t>
            </a:r>
          </a:p>
        </p:txBody>
      </p:sp>
      <p:sp>
        <p:nvSpPr>
          <p:cNvPr id="16" name="step-title-1">
            <a:extLst>
              <a:ext uri="{FF2B5EF4-FFF2-40B4-BE49-F238E27FC236}">
                <a16:creationId xmlns:a16="http://schemas.microsoft.com/office/drawing/2014/main" id="{4E93D564-59FF-4D89-9A94-E86FEAB24AE5}"/>
              </a:ext>
            </a:extLst>
          </p:cNvPr>
          <p:cNvSpPr>
            <a:spLocks noGrp="1"/>
          </p:cNvSpPr>
          <p:nvPr/>
        </p:nvSpPr>
        <p:spPr>
          <a:xfrm>
            <a:off x="2876550" y="2743200"/>
            <a:ext cx="1600200" cy="533400"/>
          </a:xfrm>
          <a:prstGeom prst="rect">
            <a:avLst/>
          </a:prstGeom>
          <a:noFill/>
          <a:ln w="0">
            <a:noFill/>
            <a:prstDash val="solid"/>
          </a:ln>
        </p:spPr>
        <p:txBody>
          <a:bodyPr lIns="0" tIns="0" rIns="0" bIns="0" anchor="ctr">
            <a:normAutofit/>
          </a:bodyPr>
          <a:lstStyle/>
          <a:p>
            <a:pPr algn="l">
              <a:defRPr sz="1650" b="1">
                <a:solidFill>
                  <a:srgbClr val="111827"/>
                </a:solidFill>
                <a:latin typeface="Yu Gothic"/>
                <a:ea typeface="Yu Gothic"/>
                <a:cs typeface="Yu Gothic"/>
              </a:defRPr>
            </a:pPr>
            <a:r>
              <a:rPr sz="1650" b="1">
                <a:solidFill>
                  <a:srgbClr val="111827"/>
                </a:solidFill>
                <a:latin typeface="Yu Gothic"/>
                <a:ea typeface="Yu Gothic"/>
                <a:cs typeface="Yu Gothic"/>
              </a:rPr>
              <a:t>将来需要予測</a:t>
            </a:r>
          </a:p>
        </p:txBody>
      </p:sp>
      <p:sp>
        <p:nvSpPr>
          <p:cNvPr id="17" name="step-body-1">
            <a:extLst>
              <a:ext uri="{FF2B5EF4-FFF2-40B4-BE49-F238E27FC236}">
                <a16:creationId xmlns:a16="http://schemas.microsoft.com/office/drawing/2014/main" id="{D54BD678-CC34-4B1A-9CB0-9C3D4004A84F}"/>
              </a:ext>
            </a:extLst>
          </p:cNvPr>
          <p:cNvSpPr>
            <a:spLocks noGrp="1"/>
          </p:cNvSpPr>
          <p:nvPr/>
        </p:nvSpPr>
        <p:spPr>
          <a:xfrm>
            <a:off x="2876550" y="3429000"/>
            <a:ext cx="1600200" cy="552450"/>
          </a:xfrm>
          <a:prstGeom prst="rect">
            <a:avLst/>
          </a:prstGeom>
          <a:noFill/>
          <a:ln w="0">
            <a:noFill/>
            <a:prstDash val="solid"/>
          </a:ln>
        </p:spPr>
        <p:txBody>
          <a:bodyPr lIns="0" tIns="0" rIns="0" bIns="0" anchor="ctr">
            <a:normAutofit/>
          </a:bodyPr>
          <a:lstStyle/>
          <a:p>
            <a:pPr algn="l">
              <a:defRPr sz="1200" b="0">
                <a:solidFill>
                  <a:srgbClr val="586574"/>
                </a:solidFill>
                <a:latin typeface="Yu Gothic"/>
                <a:ea typeface="Yu Gothic"/>
                <a:cs typeface="Yu Gothic"/>
              </a:defRPr>
            </a:pPr>
            <a:r>
              <a:rPr sz="1200" b="0">
                <a:solidFill>
                  <a:srgbClr val="586574"/>
                </a:solidFill>
                <a:latin typeface="Yu Gothic"/>
                <a:ea typeface="Yu Gothic"/>
                <a:cs typeface="Yu Gothic"/>
              </a:rPr>
              <a:t>2030年・2040年の</a:t>
            </a:r>
          </a:p>
          <a:p>
            <a:pPr algn="l">
              <a:defRPr sz="1200" b="0">
                <a:solidFill>
                  <a:srgbClr val="586574"/>
                </a:solidFill>
                <a:latin typeface="Yu Gothic"/>
                <a:ea typeface="Yu Gothic"/>
                <a:cs typeface="Yu Gothic"/>
              </a:defRPr>
            </a:pPr>
            <a:r>
              <a:rPr sz="1200" b="0">
                <a:solidFill>
                  <a:srgbClr val="586574"/>
                </a:solidFill>
                <a:latin typeface="Yu Gothic"/>
                <a:ea typeface="Yu Gothic"/>
                <a:cs typeface="Yu Gothic"/>
              </a:rPr>
              <a:t>医療需要を推計</a:t>
            </a:r>
          </a:p>
        </p:txBody>
      </p:sp>
      <p:sp>
        <p:nvSpPr>
          <p:cNvPr id="18" name="step-box-2">
            <a:extLst>
              <a:ext uri="{FF2B5EF4-FFF2-40B4-BE49-F238E27FC236}">
                <a16:creationId xmlns:a16="http://schemas.microsoft.com/office/drawing/2014/main" id="{64DDEA6A-F54F-4E4D-BD10-7542FCF1DB62}"/>
              </a:ext>
            </a:extLst>
          </p:cNvPr>
          <p:cNvSpPr>
            <a:spLocks noGrp="1"/>
          </p:cNvSpPr>
          <p:nvPr/>
        </p:nvSpPr>
        <p:spPr>
          <a:xfrm>
            <a:off x="4953000" y="2133600"/>
            <a:ext cx="1943100" cy="2057400"/>
          </a:xfrm>
          <a:prstGeom prst="roundRect">
            <a:avLst>
              <a:gd name="adj" fmla="val 3922"/>
            </a:avLst>
          </a:prstGeom>
          <a:solidFill>
            <a:srgbClr val="FFFFFF"/>
          </a:solidFill>
          <a:ln w="9525">
            <a:solidFill>
              <a:srgbClr val="18A8E0"/>
            </a:solidFill>
            <a:prstDash val="solid"/>
          </a:ln>
        </p:spPr>
        <p:txBody>
          <a:bodyPr/>
          <a:lstStyle/>
          <a:p>
            <a:endParaRPr lang="ja-JP" altLang="en-US"/>
          </a:p>
        </p:txBody>
      </p:sp>
      <p:sp>
        <p:nvSpPr>
          <p:cNvPr id="19" name="step-num-2">
            <a:extLst>
              <a:ext uri="{FF2B5EF4-FFF2-40B4-BE49-F238E27FC236}">
                <a16:creationId xmlns:a16="http://schemas.microsoft.com/office/drawing/2014/main" id="{CCA71225-EA77-4F92-94EC-B19EEA54469B}"/>
              </a:ext>
            </a:extLst>
          </p:cNvPr>
          <p:cNvSpPr>
            <a:spLocks noGrp="1"/>
          </p:cNvSpPr>
          <p:nvPr/>
        </p:nvSpPr>
        <p:spPr>
          <a:xfrm>
            <a:off x="5124450" y="2324100"/>
            <a:ext cx="514350" cy="266700"/>
          </a:xfrm>
          <a:prstGeom prst="rect">
            <a:avLst/>
          </a:prstGeom>
          <a:noFill/>
          <a:ln w="0">
            <a:noFill/>
            <a:prstDash val="solid"/>
          </a:ln>
        </p:spPr>
        <p:txBody>
          <a:bodyPr lIns="0" tIns="0" rIns="0" bIns="0" anchor="t">
            <a:normAutofit/>
          </a:bodyPr>
          <a:lstStyle/>
          <a:p>
            <a:pPr algn="l">
              <a:defRPr sz="1350" b="1">
                <a:solidFill>
                  <a:srgbClr val="087FB4"/>
                </a:solidFill>
                <a:latin typeface="Yu Gothic"/>
                <a:ea typeface="Yu Gothic"/>
                <a:cs typeface="Yu Gothic"/>
              </a:defRPr>
            </a:pPr>
            <a:r>
              <a:rPr sz="1350" b="1">
                <a:solidFill>
                  <a:srgbClr val="087FB4"/>
                </a:solidFill>
                <a:latin typeface="Yu Gothic"/>
                <a:ea typeface="Yu Gothic"/>
                <a:cs typeface="Yu Gothic"/>
              </a:rPr>
              <a:t>03</a:t>
            </a:r>
          </a:p>
        </p:txBody>
      </p:sp>
      <p:sp>
        <p:nvSpPr>
          <p:cNvPr id="20" name="step-title-2">
            <a:extLst>
              <a:ext uri="{FF2B5EF4-FFF2-40B4-BE49-F238E27FC236}">
                <a16:creationId xmlns:a16="http://schemas.microsoft.com/office/drawing/2014/main" id="{57A26206-33D6-4F31-8D3F-F2159403BA02}"/>
              </a:ext>
            </a:extLst>
          </p:cNvPr>
          <p:cNvSpPr>
            <a:spLocks noGrp="1"/>
          </p:cNvSpPr>
          <p:nvPr/>
        </p:nvSpPr>
        <p:spPr>
          <a:xfrm>
            <a:off x="5124450" y="2743200"/>
            <a:ext cx="1600200" cy="533400"/>
          </a:xfrm>
          <a:prstGeom prst="rect">
            <a:avLst/>
          </a:prstGeom>
          <a:noFill/>
          <a:ln w="0">
            <a:noFill/>
            <a:prstDash val="solid"/>
          </a:ln>
        </p:spPr>
        <p:txBody>
          <a:bodyPr lIns="0" tIns="0" rIns="0" bIns="0" anchor="ctr">
            <a:normAutofit/>
          </a:bodyPr>
          <a:lstStyle/>
          <a:p>
            <a:pPr algn="l">
              <a:defRPr sz="1650" b="1">
                <a:solidFill>
                  <a:srgbClr val="111827"/>
                </a:solidFill>
                <a:latin typeface="Yu Gothic"/>
                <a:ea typeface="Yu Gothic"/>
                <a:cs typeface="Yu Gothic"/>
              </a:defRPr>
            </a:pPr>
            <a:r>
              <a:rPr sz="1650" b="1">
                <a:solidFill>
                  <a:srgbClr val="111827"/>
                </a:solidFill>
                <a:latin typeface="Yu Gothic"/>
                <a:ea typeface="Yu Gothic"/>
                <a:cs typeface="Yu Gothic"/>
              </a:rPr>
              <a:t>政策シナリオ</a:t>
            </a:r>
          </a:p>
        </p:txBody>
      </p:sp>
      <p:sp>
        <p:nvSpPr>
          <p:cNvPr id="21" name="step-body-2">
            <a:extLst>
              <a:ext uri="{FF2B5EF4-FFF2-40B4-BE49-F238E27FC236}">
                <a16:creationId xmlns:a16="http://schemas.microsoft.com/office/drawing/2014/main" id="{1A669020-93FE-4B44-AB91-F753C69BC573}"/>
              </a:ext>
            </a:extLst>
          </p:cNvPr>
          <p:cNvSpPr>
            <a:spLocks noGrp="1"/>
          </p:cNvSpPr>
          <p:nvPr/>
        </p:nvSpPr>
        <p:spPr>
          <a:xfrm>
            <a:off x="5124450" y="3429000"/>
            <a:ext cx="1600200" cy="552450"/>
          </a:xfrm>
          <a:prstGeom prst="rect">
            <a:avLst/>
          </a:prstGeom>
          <a:noFill/>
          <a:ln w="0">
            <a:noFill/>
            <a:prstDash val="solid"/>
          </a:ln>
        </p:spPr>
        <p:txBody>
          <a:bodyPr lIns="0" tIns="0" rIns="0" bIns="0" anchor="ctr">
            <a:normAutofit/>
          </a:bodyPr>
          <a:lstStyle/>
          <a:p>
            <a:pPr algn="l">
              <a:defRPr sz="1200" b="0">
                <a:solidFill>
                  <a:srgbClr val="586574"/>
                </a:solidFill>
                <a:latin typeface="Yu Gothic"/>
                <a:ea typeface="Yu Gothic"/>
                <a:cs typeface="Yu Gothic"/>
              </a:defRPr>
            </a:pPr>
            <a:r>
              <a:rPr sz="1200" b="0">
                <a:solidFill>
                  <a:srgbClr val="586574"/>
                </a:solidFill>
                <a:latin typeface="Yu Gothic"/>
                <a:ea typeface="Yu Gothic"/>
                <a:cs typeface="Yu Gothic"/>
              </a:rPr>
              <a:t>病床再編・機能分化・</a:t>
            </a:r>
          </a:p>
          <a:p>
            <a:pPr algn="l">
              <a:defRPr sz="1200" b="0">
                <a:solidFill>
                  <a:srgbClr val="586574"/>
                </a:solidFill>
                <a:latin typeface="Yu Gothic"/>
                <a:ea typeface="Yu Gothic"/>
                <a:cs typeface="Yu Gothic"/>
              </a:defRPr>
            </a:pPr>
            <a:r>
              <a:rPr sz="1200" b="0">
                <a:solidFill>
                  <a:srgbClr val="586574"/>
                </a:solidFill>
                <a:latin typeface="Yu Gothic"/>
                <a:ea typeface="Yu Gothic"/>
                <a:cs typeface="Yu Gothic"/>
              </a:rPr>
              <a:t>在宅移行を比較</a:t>
            </a:r>
          </a:p>
        </p:txBody>
      </p:sp>
      <p:sp>
        <p:nvSpPr>
          <p:cNvPr id="22" name="step-box-3">
            <a:extLst>
              <a:ext uri="{FF2B5EF4-FFF2-40B4-BE49-F238E27FC236}">
                <a16:creationId xmlns:a16="http://schemas.microsoft.com/office/drawing/2014/main" id="{50AA656E-696B-49D1-8FA8-A9F4AA3F6B5E}"/>
              </a:ext>
            </a:extLst>
          </p:cNvPr>
          <p:cNvSpPr>
            <a:spLocks noGrp="1"/>
          </p:cNvSpPr>
          <p:nvPr/>
        </p:nvSpPr>
        <p:spPr>
          <a:xfrm>
            <a:off x="7200900" y="2133600"/>
            <a:ext cx="1943100" cy="2057400"/>
          </a:xfrm>
          <a:prstGeom prst="roundRect">
            <a:avLst>
              <a:gd name="adj" fmla="val 3922"/>
            </a:avLst>
          </a:prstGeom>
          <a:solidFill>
            <a:srgbClr val="111827"/>
          </a:solidFill>
          <a:ln w="0">
            <a:solidFill>
              <a:srgbClr val="111827"/>
            </a:solidFill>
            <a:prstDash val="solid"/>
          </a:ln>
        </p:spPr>
        <p:txBody>
          <a:bodyPr/>
          <a:lstStyle/>
          <a:p>
            <a:endParaRPr lang="ja-JP" altLang="en-US"/>
          </a:p>
        </p:txBody>
      </p:sp>
      <p:sp>
        <p:nvSpPr>
          <p:cNvPr id="23" name="step-num-3">
            <a:extLst>
              <a:ext uri="{FF2B5EF4-FFF2-40B4-BE49-F238E27FC236}">
                <a16:creationId xmlns:a16="http://schemas.microsoft.com/office/drawing/2014/main" id="{C028A561-7CA5-488F-8D04-9A011AB1263D}"/>
              </a:ext>
            </a:extLst>
          </p:cNvPr>
          <p:cNvSpPr>
            <a:spLocks noGrp="1"/>
          </p:cNvSpPr>
          <p:nvPr/>
        </p:nvSpPr>
        <p:spPr>
          <a:xfrm>
            <a:off x="7372350" y="2324100"/>
            <a:ext cx="514350" cy="266700"/>
          </a:xfrm>
          <a:prstGeom prst="rect">
            <a:avLst/>
          </a:prstGeom>
          <a:noFill/>
          <a:ln w="0">
            <a:noFill/>
            <a:prstDash val="solid"/>
          </a:ln>
        </p:spPr>
        <p:txBody>
          <a:bodyPr lIns="0" tIns="0" rIns="0" bIns="0" anchor="t">
            <a:normAutofit/>
          </a:bodyPr>
          <a:lstStyle/>
          <a:p>
            <a:pPr algn="l">
              <a:defRPr sz="1350" b="1">
                <a:solidFill>
                  <a:srgbClr val="84D9F7"/>
                </a:solidFill>
                <a:latin typeface="Yu Gothic"/>
                <a:ea typeface="Yu Gothic"/>
                <a:cs typeface="Yu Gothic"/>
              </a:defRPr>
            </a:pPr>
            <a:r>
              <a:rPr sz="1350" b="1">
                <a:solidFill>
                  <a:srgbClr val="84D9F7"/>
                </a:solidFill>
                <a:latin typeface="Yu Gothic"/>
                <a:ea typeface="Yu Gothic"/>
                <a:cs typeface="Yu Gothic"/>
              </a:rPr>
              <a:t>04</a:t>
            </a:r>
          </a:p>
        </p:txBody>
      </p:sp>
      <p:sp>
        <p:nvSpPr>
          <p:cNvPr id="24" name="step-title-3">
            <a:extLst>
              <a:ext uri="{FF2B5EF4-FFF2-40B4-BE49-F238E27FC236}">
                <a16:creationId xmlns:a16="http://schemas.microsoft.com/office/drawing/2014/main" id="{B76CAEAB-6989-4443-8AD7-692375768737}"/>
              </a:ext>
            </a:extLst>
          </p:cNvPr>
          <p:cNvSpPr>
            <a:spLocks noGrp="1"/>
          </p:cNvSpPr>
          <p:nvPr/>
        </p:nvSpPr>
        <p:spPr>
          <a:xfrm>
            <a:off x="7372350" y="2743200"/>
            <a:ext cx="1600200" cy="533400"/>
          </a:xfrm>
          <a:prstGeom prst="rect">
            <a:avLst/>
          </a:prstGeom>
          <a:noFill/>
          <a:ln w="0">
            <a:noFill/>
            <a:prstDash val="solid"/>
          </a:ln>
        </p:spPr>
        <p:txBody>
          <a:bodyPr lIns="0" tIns="0" rIns="0" bIns="0" anchor="ctr">
            <a:normAutofit/>
          </a:bodyPr>
          <a:lstStyle/>
          <a:p>
            <a:pPr algn="l">
              <a:defRPr sz="1650" b="1">
                <a:solidFill>
                  <a:srgbClr val="FFFFFF"/>
                </a:solidFill>
                <a:latin typeface="Yu Gothic"/>
                <a:ea typeface="Yu Gothic"/>
                <a:cs typeface="Yu Gothic"/>
              </a:defRPr>
            </a:pPr>
            <a:r>
              <a:rPr sz="1650" b="1">
                <a:solidFill>
                  <a:srgbClr val="FFFFFF"/>
                </a:solidFill>
                <a:latin typeface="Yu Gothic"/>
                <a:ea typeface="Yu Gothic"/>
                <a:cs typeface="Yu Gothic"/>
              </a:rPr>
              <a:t>意思決定支援</a:t>
            </a:r>
          </a:p>
        </p:txBody>
      </p:sp>
      <p:sp>
        <p:nvSpPr>
          <p:cNvPr id="25" name="step-body-3">
            <a:extLst>
              <a:ext uri="{FF2B5EF4-FFF2-40B4-BE49-F238E27FC236}">
                <a16:creationId xmlns:a16="http://schemas.microsoft.com/office/drawing/2014/main" id="{2D1AACC0-3DAC-49C9-B084-C316DEDEEDCD}"/>
              </a:ext>
            </a:extLst>
          </p:cNvPr>
          <p:cNvSpPr>
            <a:spLocks noGrp="1"/>
          </p:cNvSpPr>
          <p:nvPr/>
        </p:nvSpPr>
        <p:spPr>
          <a:xfrm>
            <a:off x="7372350" y="3429000"/>
            <a:ext cx="1600200" cy="552450"/>
          </a:xfrm>
          <a:prstGeom prst="rect">
            <a:avLst/>
          </a:prstGeom>
          <a:noFill/>
          <a:ln w="0">
            <a:noFill/>
            <a:prstDash val="solid"/>
          </a:ln>
        </p:spPr>
        <p:txBody>
          <a:bodyPr lIns="0" tIns="0" rIns="0" bIns="0" anchor="ctr">
            <a:normAutofit/>
          </a:bodyPr>
          <a:lstStyle/>
          <a:p>
            <a:pPr algn="l">
              <a:defRPr sz="1200" b="0">
                <a:solidFill>
                  <a:srgbClr val="FFFFFF"/>
                </a:solidFill>
                <a:latin typeface="Yu Gothic"/>
                <a:ea typeface="Yu Gothic"/>
                <a:cs typeface="Yu Gothic"/>
              </a:defRPr>
            </a:pPr>
            <a:r>
              <a:rPr sz="1200" b="0">
                <a:solidFill>
                  <a:srgbClr val="FFFFFF"/>
                </a:solidFill>
                <a:latin typeface="Yu Gothic"/>
                <a:ea typeface="Yu Gothic"/>
                <a:cs typeface="Yu Gothic"/>
              </a:rPr>
              <a:t>施策のメリット・</a:t>
            </a:r>
          </a:p>
          <a:p>
            <a:pPr algn="l">
              <a:defRPr sz="1200" b="0">
                <a:solidFill>
                  <a:srgbClr val="FFFFFF"/>
                </a:solidFill>
                <a:latin typeface="Yu Gothic"/>
                <a:ea typeface="Yu Gothic"/>
                <a:cs typeface="Yu Gothic"/>
              </a:defRPr>
            </a:pPr>
            <a:r>
              <a:rPr sz="1200" b="0">
                <a:solidFill>
                  <a:srgbClr val="FFFFFF"/>
                </a:solidFill>
                <a:latin typeface="Yu Gothic"/>
                <a:ea typeface="Yu Gothic"/>
                <a:cs typeface="Yu Gothic"/>
              </a:rPr>
              <a:t>リスクを整理</a:t>
            </a:r>
          </a:p>
        </p:txBody>
      </p:sp>
      <p:sp>
        <p:nvSpPr>
          <p:cNvPr id="26" name="step-box-4">
            <a:extLst>
              <a:ext uri="{FF2B5EF4-FFF2-40B4-BE49-F238E27FC236}">
                <a16:creationId xmlns:a16="http://schemas.microsoft.com/office/drawing/2014/main" id="{C8F29E49-F7C4-42CF-8321-54C7D8002669}"/>
              </a:ext>
            </a:extLst>
          </p:cNvPr>
          <p:cNvSpPr>
            <a:spLocks noGrp="1"/>
          </p:cNvSpPr>
          <p:nvPr/>
        </p:nvSpPr>
        <p:spPr>
          <a:xfrm>
            <a:off x="9448800" y="2133600"/>
            <a:ext cx="1943100" cy="2057400"/>
          </a:xfrm>
          <a:prstGeom prst="roundRect">
            <a:avLst>
              <a:gd name="adj" fmla="val 3922"/>
            </a:avLst>
          </a:prstGeom>
          <a:solidFill>
            <a:srgbClr val="EAF7FC"/>
          </a:solidFill>
          <a:ln w="9525">
            <a:solidFill>
              <a:srgbClr val="18A8E0"/>
            </a:solidFill>
            <a:prstDash val="solid"/>
          </a:ln>
        </p:spPr>
        <p:txBody>
          <a:bodyPr/>
          <a:lstStyle/>
          <a:p>
            <a:endParaRPr lang="ja-JP" altLang="en-US"/>
          </a:p>
        </p:txBody>
      </p:sp>
      <p:sp>
        <p:nvSpPr>
          <p:cNvPr id="27" name="step-num-4">
            <a:extLst>
              <a:ext uri="{FF2B5EF4-FFF2-40B4-BE49-F238E27FC236}">
                <a16:creationId xmlns:a16="http://schemas.microsoft.com/office/drawing/2014/main" id="{1A0D4D2C-0220-41F8-8AB9-B4AA650D06F2}"/>
              </a:ext>
            </a:extLst>
          </p:cNvPr>
          <p:cNvSpPr>
            <a:spLocks noGrp="1"/>
          </p:cNvSpPr>
          <p:nvPr/>
        </p:nvSpPr>
        <p:spPr>
          <a:xfrm>
            <a:off x="9620250" y="2324100"/>
            <a:ext cx="514350" cy="266700"/>
          </a:xfrm>
          <a:prstGeom prst="rect">
            <a:avLst/>
          </a:prstGeom>
          <a:noFill/>
          <a:ln w="0">
            <a:noFill/>
            <a:prstDash val="solid"/>
          </a:ln>
        </p:spPr>
        <p:txBody>
          <a:bodyPr lIns="0" tIns="0" rIns="0" bIns="0" anchor="t">
            <a:normAutofit/>
          </a:bodyPr>
          <a:lstStyle/>
          <a:p>
            <a:pPr algn="l">
              <a:defRPr sz="1350" b="1">
                <a:solidFill>
                  <a:srgbClr val="087FB4"/>
                </a:solidFill>
                <a:latin typeface="Yu Gothic"/>
                <a:ea typeface="Yu Gothic"/>
                <a:cs typeface="Yu Gothic"/>
              </a:defRPr>
            </a:pPr>
            <a:r>
              <a:rPr sz="1350" b="1">
                <a:solidFill>
                  <a:srgbClr val="087FB4"/>
                </a:solidFill>
                <a:latin typeface="Yu Gothic"/>
                <a:ea typeface="Yu Gothic"/>
                <a:cs typeface="Yu Gothic"/>
              </a:rPr>
              <a:t>05</a:t>
            </a:r>
          </a:p>
        </p:txBody>
      </p:sp>
      <p:sp>
        <p:nvSpPr>
          <p:cNvPr id="28" name="step-title-4">
            <a:extLst>
              <a:ext uri="{FF2B5EF4-FFF2-40B4-BE49-F238E27FC236}">
                <a16:creationId xmlns:a16="http://schemas.microsoft.com/office/drawing/2014/main" id="{F02E9184-3044-4E7E-948E-F90F844D0C84}"/>
              </a:ext>
            </a:extLst>
          </p:cNvPr>
          <p:cNvSpPr>
            <a:spLocks noGrp="1"/>
          </p:cNvSpPr>
          <p:nvPr/>
        </p:nvSpPr>
        <p:spPr>
          <a:xfrm>
            <a:off x="9620250" y="2743200"/>
            <a:ext cx="1600200" cy="533400"/>
          </a:xfrm>
          <a:prstGeom prst="rect">
            <a:avLst/>
          </a:prstGeom>
          <a:noFill/>
          <a:ln w="0">
            <a:noFill/>
            <a:prstDash val="solid"/>
          </a:ln>
        </p:spPr>
        <p:txBody>
          <a:bodyPr lIns="0" tIns="0" rIns="0" bIns="0" anchor="ctr">
            <a:normAutofit/>
          </a:bodyPr>
          <a:lstStyle/>
          <a:p>
            <a:pPr algn="l">
              <a:defRPr sz="1425" b="1">
                <a:solidFill>
                  <a:srgbClr val="111827"/>
                </a:solidFill>
                <a:latin typeface="Yu Gothic"/>
                <a:ea typeface="Yu Gothic"/>
                <a:cs typeface="Yu Gothic"/>
              </a:defRPr>
            </a:pPr>
            <a:r>
              <a:rPr sz="1425" b="1">
                <a:solidFill>
                  <a:srgbClr val="111827"/>
                </a:solidFill>
                <a:latin typeface="Yu Gothic"/>
                <a:ea typeface="Yu Gothic"/>
                <a:cs typeface="Yu Gothic"/>
              </a:rPr>
              <a:t>継続モニタリング</a:t>
            </a:r>
          </a:p>
        </p:txBody>
      </p:sp>
      <p:sp>
        <p:nvSpPr>
          <p:cNvPr id="29" name="step-body-4">
            <a:extLst>
              <a:ext uri="{FF2B5EF4-FFF2-40B4-BE49-F238E27FC236}">
                <a16:creationId xmlns:a16="http://schemas.microsoft.com/office/drawing/2014/main" id="{DEA047AE-C1FE-48CC-BE52-992FB1D58865}"/>
              </a:ext>
            </a:extLst>
          </p:cNvPr>
          <p:cNvSpPr>
            <a:spLocks noGrp="1"/>
          </p:cNvSpPr>
          <p:nvPr/>
        </p:nvSpPr>
        <p:spPr>
          <a:xfrm>
            <a:off x="9620250" y="3429000"/>
            <a:ext cx="1600200" cy="552450"/>
          </a:xfrm>
          <a:prstGeom prst="rect">
            <a:avLst/>
          </a:prstGeom>
          <a:noFill/>
          <a:ln w="0">
            <a:noFill/>
            <a:prstDash val="solid"/>
          </a:ln>
        </p:spPr>
        <p:txBody>
          <a:bodyPr lIns="0" tIns="0" rIns="0" bIns="0" anchor="ctr">
            <a:normAutofit/>
          </a:bodyPr>
          <a:lstStyle/>
          <a:p>
            <a:pPr algn="l">
              <a:defRPr sz="1200" b="0">
                <a:solidFill>
                  <a:srgbClr val="586574"/>
                </a:solidFill>
                <a:latin typeface="Yu Gothic"/>
                <a:ea typeface="Yu Gothic"/>
                <a:cs typeface="Yu Gothic"/>
              </a:defRPr>
            </a:pPr>
            <a:r>
              <a:rPr sz="1200" b="0">
                <a:solidFill>
                  <a:srgbClr val="586574"/>
                </a:solidFill>
                <a:latin typeface="Yu Gothic"/>
                <a:ea typeface="Yu Gothic"/>
                <a:cs typeface="Yu Gothic"/>
              </a:rPr>
              <a:t>実績と予測の乖離から</a:t>
            </a:r>
          </a:p>
          <a:p>
            <a:pPr algn="l">
              <a:defRPr sz="1200" b="0">
                <a:solidFill>
                  <a:srgbClr val="586574"/>
                </a:solidFill>
                <a:latin typeface="Yu Gothic"/>
                <a:ea typeface="Yu Gothic"/>
                <a:cs typeface="Yu Gothic"/>
              </a:defRPr>
            </a:pPr>
            <a:r>
              <a:rPr sz="1200" b="0">
                <a:solidFill>
                  <a:srgbClr val="586574"/>
                </a:solidFill>
                <a:latin typeface="Yu Gothic"/>
                <a:ea typeface="Yu Gothic"/>
                <a:cs typeface="Yu Gothic"/>
              </a:rPr>
              <a:t>計画を更新</a:t>
            </a:r>
          </a:p>
        </p:txBody>
      </p:sp>
      <p:sp>
        <p:nvSpPr>
          <p:cNvPr id="30" name="fit-divider">
            <a:extLst>
              <a:ext uri="{FF2B5EF4-FFF2-40B4-BE49-F238E27FC236}">
                <a16:creationId xmlns:a16="http://schemas.microsoft.com/office/drawing/2014/main" id="{D0E07992-8278-4ADE-AA21-B1530C1E7615}"/>
              </a:ext>
            </a:extLst>
          </p:cNvPr>
          <p:cNvSpPr>
            <a:spLocks noGrp="1"/>
          </p:cNvSpPr>
          <p:nvPr/>
        </p:nvSpPr>
        <p:spPr>
          <a:xfrm>
            <a:off x="457200" y="4629150"/>
            <a:ext cx="11258550" cy="0"/>
          </a:xfrm>
          <a:prstGeom prst="line">
            <a:avLst/>
          </a:prstGeom>
          <a:noFill/>
          <a:ln w="9525">
            <a:solidFill>
              <a:srgbClr val="C9D0D8"/>
            </a:solidFill>
            <a:prstDash val="solid"/>
          </a:ln>
        </p:spPr>
        <p:txBody>
          <a:bodyPr/>
          <a:lstStyle/>
          <a:p>
            <a:endParaRPr lang="ja-JP" altLang="en-US"/>
          </a:p>
        </p:txBody>
      </p:sp>
      <p:sp>
        <p:nvSpPr>
          <p:cNvPr id="31" name="fit-label">
            <a:extLst>
              <a:ext uri="{FF2B5EF4-FFF2-40B4-BE49-F238E27FC236}">
                <a16:creationId xmlns:a16="http://schemas.microsoft.com/office/drawing/2014/main" id="{B59C050E-CEB4-42AB-8DC8-9E09B9798165}"/>
              </a:ext>
            </a:extLst>
          </p:cNvPr>
          <p:cNvSpPr>
            <a:spLocks noGrp="1"/>
          </p:cNvSpPr>
          <p:nvPr/>
        </p:nvSpPr>
        <p:spPr>
          <a:xfrm>
            <a:off x="457200" y="4838700"/>
            <a:ext cx="4000500" cy="247650"/>
          </a:xfrm>
          <a:prstGeom prst="rect">
            <a:avLst/>
          </a:prstGeom>
          <a:noFill/>
          <a:ln w="0">
            <a:noFill/>
            <a:prstDash val="solid"/>
          </a:ln>
        </p:spPr>
        <p:txBody>
          <a:bodyPr lIns="0" tIns="0" rIns="0" bIns="0" anchor="t">
            <a:normAutofit/>
          </a:bodyPr>
          <a:lstStyle/>
          <a:p>
            <a:pPr algn="l">
              <a:defRPr sz="1350" b="1">
                <a:solidFill>
                  <a:srgbClr val="586574"/>
                </a:solidFill>
                <a:latin typeface="Yu Gothic"/>
                <a:ea typeface="Yu Gothic"/>
                <a:cs typeface="Yu Gothic"/>
              </a:defRPr>
            </a:pPr>
            <a:r>
              <a:rPr sz="1350" b="1">
                <a:solidFill>
                  <a:srgbClr val="586574"/>
                </a:solidFill>
                <a:latin typeface="Yu Gothic"/>
                <a:ea typeface="Yu Gothic"/>
                <a:cs typeface="Yu Gothic"/>
              </a:rPr>
              <a:t>選定後の実現可能性・差別化確認</a:t>
            </a:r>
          </a:p>
        </p:txBody>
      </p:sp>
      <p:sp>
        <p:nvSpPr>
          <p:cNvPr id="32" name="fit-chain">
            <a:extLst>
              <a:ext uri="{FF2B5EF4-FFF2-40B4-BE49-F238E27FC236}">
                <a16:creationId xmlns:a16="http://schemas.microsoft.com/office/drawing/2014/main" id="{4B17AD01-32B4-4154-9BB9-37AE275994AC}"/>
              </a:ext>
            </a:extLst>
          </p:cNvPr>
          <p:cNvSpPr>
            <a:spLocks noGrp="1"/>
          </p:cNvSpPr>
          <p:nvPr/>
        </p:nvSpPr>
        <p:spPr>
          <a:xfrm>
            <a:off x="457200" y="5219700"/>
            <a:ext cx="11258550" cy="400050"/>
          </a:xfrm>
          <a:prstGeom prst="rect">
            <a:avLst/>
          </a:prstGeom>
          <a:noFill/>
          <a:ln w="0">
            <a:noFill/>
            <a:prstDash val="solid"/>
          </a:ln>
        </p:spPr>
        <p:txBody>
          <a:bodyPr lIns="0" tIns="0" rIns="0" bIns="0" anchor="t">
            <a:normAutofit/>
          </a:bodyPr>
          <a:lstStyle/>
          <a:p>
            <a:pPr algn="ctr">
              <a:defRPr sz="1950" b="1">
                <a:solidFill>
                  <a:srgbClr val="111827"/>
                </a:solidFill>
                <a:latin typeface="Yu Gothic"/>
                <a:ea typeface="Yu Gothic"/>
                <a:cs typeface="Yu Gothic"/>
              </a:defRPr>
            </a:pPr>
            <a:r>
              <a:rPr sz="1950" b="1">
                <a:solidFill>
                  <a:srgbClr val="111827"/>
                </a:solidFill>
                <a:latin typeface="Yu Gothic"/>
                <a:ea typeface="Yu Gothic"/>
                <a:cs typeface="Yu Gothic"/>
              </a:rPr>
              <a:t>政策・施策立案支援　×　データ分析　×　AIモデル開発　×　PoC　×　業務実装</a:t>
            </a:r>
          </a:p>
        </p:txBody>
      </p:sp>
      <p:sp>
        <p:nvSpPr>
          <p:cNvPr id="33" name="closing-band">
            <a:extLst>
              <a:ext uri="{FF2B5EF4-FFF2-40B4-BE49-F238E27FC236}">
                <a16:creationId xmlns:a16="http://schemas.microsoft.com/office/drawing/2014/main" id="{58F22B43-27C7-4FFE-A31C-A21C12AF5519}"/>
              </a:ext>
            </a:extLst>
          </p:cNvPr>
          <p:cNvSpPr>
            <a:spLocks noGrp="1"/>
          </p:cNvSpPr>
          <p:nvPr/>
        </p:nvSpPr>
        <p:spPr>
          <a:xfrm>
            <a:off x="457200" y="5886450"/>
            <a:ext cx="11258550" cy="552450"/>
          </a:xfrm>
          <a:prstGeom prst="roundRect">
            <a:avLst>
              <a:gd name="adj" fmla="val 13793"/>
            </a:avLst>
          </a:prstGeom>
          <a:solidFill>
            <a:srgbClr val="18A8E0"/>
          </a:solidFill>
          <a:ln w="0">
            <a:noFill/>
            <a:prstDash val="solid"/>
          </a:ln>
        </p:spPr>
        <p:txBody>
          <a:bodyPr/>
          <a:lstStyle/>
          <a:p>
            <a:endParaRPr lang="ja-JP" altLang="en-US"/>
          </a:p>
        </p:txBody>
      </p:sp>
      <p:sp>
        <p:nvSpPr>
          <p:cNvPr id="34" name="closing-text">
            <a:extLst>
              <a:ext uri="{FF2B5EF4-FFF2-40B4-BE49-F238E27FC236}">
                <a16:creationId xmlns:a16="http://schemas.microsoft.com/office/drawing/2014/main" id="{BB6EAE74-7C29-454D-B286-4340FAE10395}"/>
              </a:ext>
            </a:extLst>
          </p:cNvPr>
          <p:cNvSpPr>
            <a:spLocks noGrp="1"/>
          </p:cNvSpPr>
          <p:nvPr/>
        </p:nvSpPr>
        <p:spPr>
          <a:xfrm>
            <a:off x="685800" y="6010275"/>
            <a:ext cx="10801350" cy="304800"/>
          </a:xfrm>
          <a:prstGeom prst="rect">
            <a:avLst/>
          </a:prstGeom>
          <a:noFill/>
          <a:ln w="0">
            <a:noFill/>
            <a:prstDash val="solid"/>
          </a:ln>
        </p:spPr>
        <p:txBody>
          <a:bodyPr lIns="0" tIns="0" rIns="0" bIns="0" anchor="ctr">
            <a:normAutofit/>
          </a:bodyPr>
          <a:lstStyle/>
          <a:p>
            <a:pPr algn="ctr">
              <a:defRPr sz="1950" b="1">
                <a:solidFill>
                  <a:srgbClr val="FFFFFF"/>
                </a:solidFill>
                <a:latin typeface="Yu Gothic"/>
                <a:ea typeface="Yu Gothic"/>
                <a:cs typeface="Yu Gothic"/>
              </a:defRPr>
            </a:pPr>
            <a:r>
              <a:rPr sz="1950" b="1">
                <a:solidFill>
                  <a:srgbClr val="FFFFFF"/>
                </a:solidFill>
                <a:latin typeface="Yu Gothic"/>
                <a:ea typeface="Yu Gothic"/>
                <a:cs typeface="Yu Gothic"/>
              </a:rPr>
              <a:t>医療で型を確立し、他の政策領域へ横展開する</a:t>
            </a:r>
          </a:p>
        </p:txBody>
      </p:sp>
    </p:spTree>
    <p:extLst>
      <p:ext uri="{BB962C8B-B14F-4D97-AF65-F5344CB8AC3E}">
        <p14:creationId xmlns:p14="http://schemas.microsoft.com/office/powerpoint/2010/main" val="193049318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776</Words>
  <Application>Microsoft Office PowerPoint</Application>
  <DocSecurity>0</DocSecurity>
  <PresentationFormat>ワイド画面</PresentationFormat>
  <Paragraphs>143</Paragraphs>
  <Slides>6</Slides>
  <Notes>6</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6</vt:i4>
      </vt:variant>
    </vt:vector>
  </HeadingPairs>
  <TitlesOfParts>
    <vt:vector size="9" baseType="lpstr">
      <vt:lpstr>Yu Gothic</vt:lpstr>
      <vt:lpstr>Calibri</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文紀 岩﨑</cp:lastModifiedBy>
  <cp:revision>1</cp:revision>
  <dcterms:created xsi:type="dcterms:W3CDTF">2026-08-27T15:41:40Z</dcterms:created>
  <dcterms:modified xsi:type="dcterms:W3CDTF">2026-08-27T15:48:10Z</dcterms:modified>
</cp:coreProperties>
</file>